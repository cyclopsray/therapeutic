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3.svg" ContentType="image/svg+xml"/>
  <Override PartName="/ppt/media/image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67" r:id="rId5"/>
    <p:sldId id="257" r:id="rId6"/>
    <p:sldId id="268" r:id="rId7"/>
    <p:sldId id="258" r:id="rId8"/>
    <p:sldId id="259" r:id="rId9"/>
    <p:sldId id="260" r:id="rId10"/>
    <p:sldId id="261" r:id="rId11"/>
    <p:sldId id="262" r:id="rId12"/>
    <p:sldId id="263" r:id="rId13"/>
    <p:sldId id="264" r:id="rId14"/>
    <p:sldId id="265" r:id="rId15"/>
    <p:sldId id="266" r:id="rId16"/>
  </p:sldIdLst>
  <p:sldSz cx="12192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TARGET 0:15. End by 00:15. Main talk 5:20, leaving 0:40 within a 6-minute slot.</a:t>
            </a:r>
          </a:p>
          <a:p/>
          <a:p>
            <a:r>
              <a:t>讲稿 / SAY</a:t>
            </a:r>
          </a:p>
          <a:p>
            <a:r>
              <a:t>今天介绍 Rhaister。这篇论文问：如果我们关心的是药物引起的差异表达和敏感性，能否直接预测这些统计量？作者用简单的回归模型，在新细胞背景中预测药物响应。接下来重点看它需要什么信息、效果如何，以及结论的边界。</a:t>
            </a:r>
          </a:p>
          <a:p/>
          <a:p>
            <a:r>
              <a:t>可能的问题 / LIKELY QUESTION</a:t>
            </a:r>
          </a:p>
          <a:p>
            <a:r>
              <a:t>论文题目中的 sufficient 是普适定理吗？不是，这是对本文所评估任务和指标的经验性主张。</a:t>
            </a:r>
          </a:p>
          <a:p/>
          <a:p>
            <a:r>
              <a:t>SOURCE</a:t>
            </a:r>
          </a:p>
          <a:p>
            <a:r>
              <a:t>Svensson et al. (2026). Back to basics: Observed statistics are sufficient to predict drug responses. bioRxiv, version posted 12 June 2026. DOI: 10.64898/2026.06.09.731197. Local source: rhaister_2026.pdf.</a:t>
            </a:r>
          </a:p>
          <a:p>
            <a:r>
              <a:t>p. 1, title and abstract. This deck summarizes the supplied June 12 preprint, not a later revision.</a:t>
            </a:r>
          </a:p>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TARGET 0:25. End by 00:40. Main talk 5:20, leaving 0:40 within a 6-minute slot.</a:t>
            </a:r>
          </a:p>
          <a:p>
            <a:r>
              <a:t>讲稿 / SAY</a:t>
            </a:r>
          </a:p>
          <a:p>
            <a:r>
              <a:t>先说为什么要做这件事。扰动筛选很慢：一轮要数周到数月。更关键的是，最需要预测的背景——罕见细胞类型、体外养不活的组织、病人体内的细胞——根本无法大规模筛选。现有的虚拟细胞模型先模拟单细胞、再汇总统计量，训练推理昂贵、至今没有零样本能力，有时甚至不如简单基线。所以作者反其道而行：不模拟细胞，直接预测下游分析真正要用的统计量。</a:t>
            </a:r>
          </a:p>
          <a:p>
            <a:r>
              <a:t>可能的问题 / LIKELY QUESTION</a:t>
            </a:r>
          </a:p>
          <a:p>
            <a:r>
              <a:t>这是否否定了虚拟细胞模型？没有。虚拟细胞模型面向单细胞层面的生成任务（如新细胞类型、谱系偏好）；本文针对的是已知药物库在群体统计量上的预测任务。</a:t>
            </a:r>
          </a:p>
          <a:p>
            <a:r>
              <a:t>SOURCE</a:t>
            </a:r>
          </a:p>
          <a:p>
            <a:r>
              <a:t>Svensson et al. (2026). Back to basics: Observed statistics are sufficient to predict drug responses. bioRxiv, version posted 12 June 2026. DOI: 10.64898/2026.06.09.731197. Local source: rhaister_2026.pdf.</a:t>
            </a:r>
          </a:p>
          <a:p>
            <a:r>
              <a:t>Introduction, pp. 2–3: screens take weeks to months; the hardest contexts cannot be screened at scale; three gaps in virtual-cell models (zero-shot, phenotypes, pace). Discussion, p. 9: virtual-cell models are slow to train and run, do not extend readily to direct phenotypes, have not delivered zero-shot prediction, and at points struggled to improve on simple baselines.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TARGET 0:25. End by 01:05. Main talk 5:20, leaving 0:40 within a 6-minute slot.</a:t>
            </a:r>
          </a:p>
          <a:p/>
          <a:p>
            <a:r>
              <a:t>讲稿 / SAY</a:t>
            </a:r>
          </a:p>
          <a:p>
            <a:r>
              <a:t>先看任务定义。图中每一行代表一个细胞背景，每一列代表一种扰动。上半部分是参考细胞系，已有完整药物筛选结果。下半部分是新的细胞系，深蓝色区域表示已经测过的药物 panel，浅色区域是待预测的其余药物。Tahoe 主实验每次用 45 个参考细胞系和 5 个查询细胞系。在查询细胞系里测 120 种药物，预测另 240 种，每种有三个剂量。因此，主模型需要新细胞系的实测响应，而且目标药物已在参考细胞系中出现。这是跨细胞背景的预测。</a:t>
            </a:r>
          </a:p>
          <a:p/>
          <a:p>
            <a:r>
              <a:t>可能的问题 / LIKELY QUESTION</a:t>
            </a:r>
          </a:p>
          <a:p>
            <a:r>
              <a:t>这是不是预测新药？不是。本文主要测试已知药物库在新细胞背景中的响应，不能据此声称泛化到新化学结构。</a:t>
            </a:r>
          </a:p>
          <a:p/>
          <a:p>
            <a:r>
              <a:t>SOURCE</a:t>
            </a:r>
          </a:p>
          <a:p>
            <a:r>
              <a:t>Svensson et al. (2026). Back to basics: Observed statistics are sufficient to predict drug responses. bioRxiv, version posted 12 June 2026. DOI: 10.64898/2026.06.09.731197. Local source: rhaister_2026.pdf.</a:t>
            </a:r>
          </a:p>
          <a:p>
            <a:r>
              <a:t>Fig. 1 top-left schematic; p. 13, Tahoe train/test splits. Five independent context-level splits. Each drug has three doses: 360 panel and 720 target perturbations.</a:t>
            </a:r>
          </a:p>
          <a:p>
            <a:r>
              <a:t>LOOK: top row = reference contexts, bottom row = query contexts, left column = panel, right column = target perturbations. Dark blue = observed, pale area = prediction. Diagram is schematic and not to scale. Counts describe the analyzed split, not all drugs in the raw atlas.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TARGET 0:25. End by 01:05. Main talk 5:20, leaving 0:40 within a 6-minute slot.</a:t>
            </a:r>
          </a:p>
          <a:p/>
          <a:p>
            <a:r>
              <a:t>讲稿 / SAY</a:t>
            </a:r>
          </a:p>
          <a:p>
            <a:r>
              <a:t>先看任务定义。图中每一行代表一个细胞背景，每一列代表一种扰动。上半部分是参考细胞系，已有完整药物筛选结果。下半部分是新的细胞系，深蓝色区域表示已经测过的药物 panel，浅色区域是待预测的其余药物。Tahoe 主实验每次用 45 个参考细胞系和 5 个查询细胞系。在查询细胞系里测 120 种药物，预测另 240 种，每种有三个剂量。因此，主模型需要新细胞系的实测响应，而且目标药物已在参考细胞系中出现。这是跨细胞背景的预测。</a:t>
            </a:r>
          </a:p>
          <a:p/>
          <a:p>
            <a:r>
              <a:t>可能的问题 / LIKELY QUESTION</a:t>
            </a:r>
          </a:p>
          <a:p>
            <a:r>
              <a:t>这是不是预测新药？不是。本文主要测试已知药物库在新细胞背景中的响应，不能据此声称泛化到新化学结构。</a:t>
            </a:r>
          </a:p>
          <a:p/>
          <a:p>
            <a:r>
              <a:t>SOURCE</a:t>
            </a:r>
          </a:p>
          <a:p>
            <a:r>
              <a:t>Svensson et al. (2026). Back to basics: Observed statistics are sufficient to predict drug responses. bioRxiv, version posted 12 June 2026. DOI: 10.64898/2026.06.09.731197. Local source: rhaister_2026.pdf.</a:t>
            </a:r>
          </a:p>
          <a:p>
            <a:r>
              <a:t>Fig. 1 top-left schematic; p. 13, Tahoe train/test splits. Five independent context-level splits. Each drug has three doses: 360 panel and 720 target perturbations.</a:t>
            </a:r>
          </a:p>
          <a:p>
            <a:r>
              <a:t>LOOK: top row = reference contexts, bottom row = query contexts, left column = panel, right column = target perturbations. Dark blue = observed, pale area = prediction. Diagram is schematic and not to scale. Counts describe the analyzed split, not all drugs in the raw atlas.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TARGET 0:55. End by 02:00. Main talk 5:20, leaving 0:40 within a 6-minute slot.</a:t>
            </a:r>
          </a:p>
          <a:p/>
          <a:p>
            <a:r>
              <a:t>讲稿 / SAY</a:t>
            </a:r>
          </a:p>
          <a:p>
            <a:r>
              <a:t>方法的核心很简单：把目标药物的响应写成已测 panel 响应的加权和。这里 y 是某个基因的响应统计量，c 星号是查询细胞背景，p 星号是目标药物，q 遍历 panel，g 是基因。权重 W 从参考细胞背景中通过岭回归学习，目标药物不同、基因不同，权重也可以不同。作者分别处理表达差值、log2 fold change 和 Mann–Whitney U 检验统计量。完整模型还有两步：参考数据覆盖不足时，回退到加性模型；显著性统计量经过一个小型 MLP 校准，再与回归预测等权混合。因此这是以线性回归为核心的框架。</a:t>
            </a:r>
          </a:p>
          <a:p/>
          <a:p>
            <a:r>
              <a:t>可能的问题 / LIKELY QUESTION</a:t>
            </a:r>
          </a:p>
          <a:p>
            <a:r>
              <a:t>W 是否所有药物共用？不是。公式针对固定目标扰动 p*，其权重由该目标的参考响应拟合，图中省略了权重上的目标索引。</a:t>
            </a:r>
          </a:p>
          <a:p/>
          <a:p>
            <a:r>
              <a:t>SOURCE</a:t>
            </a:r>
          </a:p>
          <a:p>
            <a:r>
              <a:t>Svensson et al. (2026). Back to basics: Observed statistics are sufficient to predict drug responses. bioRxiv, version posted 12 June 2026. DOI: 10.64898/2026.06.09.731197. Local source: rhaister_2026.pdf.</a:t>
            </a:r>
          </a:p>
          <a:p>
            <a:r>
              <a:t>p. 11, Eq. 4 reproduced as published. Eqs. 1–2: additive ALS. Eq. 5: fallback when coverage is missing. Eqs. 6–7: MWU calibration and equal blending.</a:t>
            </a:r>
          </a:p>
          <a:p>
            <a:r>
              <a:t>SYMBOLS: c* query context; p* target perturbation; g gene; D_x observed panel; q panel perturbation; y observed summary-statistic scalar; W_hat[q,g] learned scalar coefficient for a fixed target and view. For a fixed gene and target, coefficients form a vector of length |D_x|. Displayed equation is publication Eq. 4, not a new derivation. The matrix expression in Eq. 3 uses compressed notation; it is not reproduced here. MWU = Mann–Whitney U. Predictions of significance statistics do not constitute calibrated uncertainty for model predictions.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TARGET 1:00. End by 03:00. Main talk 5:20, leaving 0:40 within a 6-minute slot.</a:t>
            </a:r>
          </a:p>
          <a:p/>
          <a:p>
            <a:r>
              <a:t>讲稿 / SAY</a:t>
            </a:r>
          </a:p>
          <a:p>
            <a:r>
              <a:t>表里的 STATE 是目前最先进的虚拟细胞模型：对单细胞做条件集传输、生成反事实细胞再汇总统计量，成本高得多；Rhaister 训练只需几秒、预测毫秒级。这张表保留了 Tahoe 的六个评价指标，数值来自原文图一，各列都是越高越好。橙色一行是 Rhaister。请先看 Pearson，它比较表达变化的大小，Rhaister 是 0.87，STATE 是 0.81。再看 PR-AUC，也就是差异表达基因的识别，分别是 0.73 和 0.51。其余列衡量扰动区分、fold change 排序、差异基因重叠，以及扰动影响范围的排序。Rhaister 在这六列都高于 STATE。但这里的 half-sample 是把同一批细胞随机分成两半，互相预测得到的参考值。它反映采样与分析流程的稳定性，并非数学上的上限。所以结果支持这个任务上的强预测表现，不能等同于模型已经准确模拟完整细胞。</a:t>
            </a:r>
          </a:p>
          <a:p/>
          <a:p>
            <a:r>
              <a:t>可能的问题 / LIKELY QUESTION</a:t>
            </a:r>
          </a:p>
          <a:p>
            <a:r>
              <a:t>为什么模型能超过 half-sample？半样本统计量使用的细胞少于完整数据，而且随机拆分有波动。作者明确说它不是严格上限。</a:t>
            </a:r>
          </a:p>
          <a:p/>
          <a:p>
            <a:r>
              <a:t>SOURCE</a:t>
            </a:r>
          </a:p>
          <a:p>
            <a:r>
              <a:t>Svensson et al. (2026). Back to basics: Observed statistics are sufficient to predict drug responses. bioRxiv, version posted 12 June 2026. DOI: 10.64898/2026.06.09.731197. Local source: rhaister_2026.pdf.</a:t>
            </a:r>
          </a:p>
          <a:p>
            <a:r>
              <a:t>Fig. 1 Tahoe-100M panel, p. 3. All table entries transcribed from the figure. Paper error bars are ±1 SD across splits; SD numbers are not printed and are not reconstructed. Definitions pp. 14–15. Half-sample caveat explicitly stated on p. 12.</a:t>
            </a:r>
          </a:p>
          <a:p>
            <a:r>
              <a:t>TABLE GUIDE: rows = models or reference, columns = six distinct metrics, all unitless. Discrim. = rank-based perturbation discrimination using expression deltas. Pearson Δ = correlation across genes. PR-AUC = precision–recall area for DE classification using FDR q &lt; 0.05. LFC rank = Spearman correlation of log fold changes among observed significant genes. DE overlap = overlap of selected differential-expression gene sets. ES rank = Spearman ranking of the number of significant genes across perturbations, not a physical or clinical effect size. Simplified abbreviations only; numbers are not changed.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TARGET 0:50. End by 03:50. Main talk 5:20, leaving 0:40 within a 6-minute slot.</a:t>
            </a:r>
          </a:p>
          <a:p/>
          <a:p>
            <a:r>
              <a:t>讲稿 / SAY</a:t>
            </a:r>
          </a:p>
          <a:p>
            <a:r>
              <a:t>第二个结果更接近药物发现：能否预测敏感性？Emerald Bay 将 52 个癌细胞系混合培养，处理药物五天，同时读出细胞丰度和转录组。图的横轴是 R 平方，橙色是 Rhaister，蓝色是加性模型，灰色是均值基线。只用 panel 的敏感性，R 平方是 0.26；加入同一 panel 的转录响应后，升到 0.31。基线接近或低于零，但 half-sample 参考达到 0.99，说明这个表型任务还有很大的改进空间。也要注意，这里的敏感性来自混合培养中细胞系相对丰度的变化，不能直接当成患者的临床疗效。</a:t>
            </a:r>
          </a:p>
          <a:p/>
          <a:p>
            <a:r>
              <a:t>可能的问题 / LIKELY QUESTION</a:t>
            </a:r>
          </a:p>
          <a:p>
            <a:r>
              <a:t>0.31 是不是预测了 31% 的细胞会死亡？不是。R² 衡量模型相对于均值预测解释了多少变异，并非死亡比例。</a:t>
            </a:r>
          </a:p>
          <a:p/>
          <a:p>
            <a:r>
              <a:t>SOURCE</a:t>
            </a:r>
          </a:p>
          <a:p>
            <a:r>
              <a:t>Svensson et al. (2026). Back to basics: Observed statistics are sufficient to predict drug responses. bioRxiv, version posted 12 June 2026. DOI: 10.64898/2026.06.09.731197. Local source: rhaister_2026.pdf.</a:t>
            </a:r>
          </a:p>
          <a:p>
            <a:r>
              <a:t>Fig. 2, Emerald Bay sensitivity prediction; p. 5 results; Eq. 18 p. 13. The full dataset has 91 treatments including combinations, but modeling uses 45 single-drug dose conditions spanning 19 drugs according to p. 13.</a:t>
            </a:r>
          </a:p>
          <a:p>
            <a:r>
              <a:t>LOOK: all seven plotted rows remain visible and are explained. Half-sample = 0.99. Rhaister sensitivity + tx = 0.31; sensitivity only = 0.26. Additive = −0.04, perturbation mean = −0.06, context mean = −0.02, global mean = −0.04. Error bars are ±1 SD across five train/test splits, not confidence intervals for clinical efficacy. tx = transcriptomic responses from measured panel perturbations. Sensitivity = log2 of treatment/control cell-line proportions. It is a compositional relative-abundance endpoint.</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TARGET 1:00. End by 04:50. Main talk 5:20, leaving 0:40 within a 6-minute slot.</a:t>
            </a:r>
          </a:p>
          <a:p/>
          <a:p>
            <a:r>
              <a:t>讲稿 / SAY</a:t>
            </a:r>
          </a:p>
          <a:p>
            <a:r>
              <a:t>如果新细胞背景没有任何处理后的数据，作者提出 Rhaister-O。它只需要未处理细胞的 pseudobulk 表达。作者称这是第一个在该任务上做到零样本、且明显超过简单基线的模型。这个公式对每个药物和基因，用基线表达乘一个斜率，再加截距来预测响应，参数在参考细胞系中学习。右侧图仍是六个指标，橙红色是 Rhaister-O，橙黄色是 STATE，深蓝色是 half-sample。最明显的是 Pearson，从 STATE 的 0.32 提高到 0.63；PR-AUC 从 0.25 到 0.52。DE overlap 和 effect-size 排序也更好。不过 discrimination 是 0.85，对 STATE 是 0.86，略低。因此图支持五个指标的平均值更高，而不是所有指标全面领先。这里 zero-shot 只表示没有查询背景的扰动响应，并不表示预测从未见过的新药。</a:t>
            </a:r>
          </a:p>
          <a:p/>
          <a:p>
            <a:r>
              <a:t>可能的问题 / LIKELY QUESTION</a:t>
            </a:r>
          </a:p>
          <a:p>
            <a:r>
              <a:t>它是不是跨整个转录组的复杂编码器？展示的是论文 Eq. 9：同一基因的 baseline 表达配合该药物、该基因的截距和斜率。完整代码可能含额外处理，不能把简写公式外推为所有实现细节。</a:t>
            </a:r>
          </a:p>
          <a:p/>
          <a:p>
            <a:r>
              <a:t>SOURCE</a:t>
            </a:r>
          </a:p>
          <a:p>
            <a:r>
              <a:t>Svensson et al. (2026). Back to basics: Observed statistics are sufficient to predict drug responses. bioRxiv, version posted 12 June 2026. DOI: 10.64898/2026.06.09.731197. Local source: rhaister_2026.pdf.</a:t>
            </a:r>
          </a:p>
          <a:p>
            <a:r>
              <a:t>p. 11 Eq. 9 as printed. Fig. 4 top: discrimination, Pearson Δ, PR-AUC, Spearman LFC, DE overlap, Spearman ES. Paper text says all metrics, but the plotted discrimination means are 0.85 vs 0.86.</a:t>
            </a:r>
          </a:p>
          <a:p>
            <a:r>
              <a:t>SYMBOLS: y = predicted response (the publication prints y without a hat); c* = query context; p* = target perturbation; g = gene; x[c*,g] = observed baseline pseudobulk expression; beta[p*,g] = learned intercept; gamma[p*,g] = learned slope. All are scalar per target and gene. LOOK: panels read left-to-right, top-to-bottom. Means for Rhaister-O versus STATE: discrimination .85/.86; Pearson .63/.32; PR-AUC .52/.25; LFC .49/.35; DE overlap .34/.09; ES .70/.50. Error bars = ±1 SD across five splits. No statistical significance claim about small mean differences. Figure values from supplied PDF take precedence over model-card rounding.</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TARGET 0:40. End by 05:20. Main talk 5:20, leaving 0:40 within a 6-minute slot.</a:t>
            </a:r>
          </a:p>
          <a:p/>
          <a:p>
            <a:r>
              <a:t>讲稿 / SAY</a:t>
            </a:r>
          </a:p>
          <a:p>
            <a:r>
              <a:t>最后，我认为这篇论文最重要的贡献，是证明先把任务定义到真正需要的分析读出，简单模型就能成为很强的基线。实测 panel 对跨细胞背景的预测很有帮助，baseline-only 分支也值得比较。但这些结果主要针对已有药物库和有限的细胞背景，统计量不能还原完整单细胞分布，敏感性预测也还有很大空间。对我们的药物发现项目，直接启示是把 Rhaister-O 和简单基线纳入比较，再检验额外模态是否真的改善 held-out cell-line 预测。</a:t>
            </a:r>
          </a:p>
          <a:p/>
          <a:p>
            <a:r>
              <a:t>可能的问题 / LIKELY QUESTION</a:t>
            </a:r>
          </a:p>
          <a:p>
            <a:r>
              <a:t>论文否定了 virtual-cell 模型吗？没有。它支持在特定群体统计预测任务上比较简单基线；生成细胞分布、罕见状态或新细胞类型是不同的任务。</a:t>
            </a:r>
          </a:p>
          <a:p/>
          <a:p>
            <a:r>
              <a:t>SOURCE</a:t>
            </a:r>
          </a:p>
          <a:p>
            <a:r>
              <a:t>Svensson et al. (2026). Back to basics: Observed statistics are sufficient to predict drug responses. bioRxiv, version posted 12 June 2026. DOI: 10.64898/2026.06.09.731197. Local source: rhaister_2026.pdf.</a:t>
            </a:r>
          </a:p>
          <a:p>
            <a:r>
              <a:t>p. 9 Discussion; Figs. 1–4. Last sentence about the local course project is presenter interpretation, not a claim made by the paper.</a:t>
            </a:r>
          </a:p>
          <a:p>
            <a:r>
              <a:t>The six-minute slot assumes speaking plus transitions. Main content ends at 5:20 with 40 seconds of buffer. Backup slides are optional and should not be included in the timed talk.</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OPTIONAL BACKUP. Excluded from the 6-minute talk.</a:t>
            </a:r>
          </a:p>
          <a:p/>
          <a:p>
            <a:r>
              <a:t>讲稿 / SAY</a:t>
            </a:r>
          </a:p>
          <a:p>
            <a:r>
              <a:t>这页用于回答普适性的问题。表格只选取 Pearson 和 LFC 排序，并非完整六项排名。Parse PBMC 的 Pearson 上 Rhaister 有优势，但 LFC 上加性基线更高。Replogle–Nadig 只有四个细胞背景，Rhaister 的 Pearson 略高于 STATE，LFC 排序却明显低于 STATE。作者认为参考背景的多样性重要，但跨数据集比较本身不能隔离这一原因。PRISM 的 R² 很高，可药物均值基线已经达到 0.81，因此要同时看绝对分数和相对基线的增益。</a:t>
            </a:r>
          </a:p>
          <a:p/>
          <a:p>
            <a:r>
              <a:t>可能的问题 / LIKELY QUESTION</a:t>
            </a:r>
          </a:p>
          <a:p>
            <a:r>
              <a:t>为什么不只报告最好的分数？不同指标评价不同生物问题。选择性展示优势会夸大模型的适用范围。</a:t>
            </a:r>
          </a:p>
          <a:p/>
          <a:p>
            <a:r>
              <a:t>SOURCE</a:t>
            </a:r>
          </a:p>
          <a:p>
            <a:r>
              <a:t>Svensson et al. (2026). Back to basics: Observed statistics are sufficient to predict drug responses. bioRxiv, version posted 12 June 2026. DOI: 10.64898/2026.06.09.731197. Local source: rhaister_2026.pdf.</a:t>
            </a:r>
          </a:p>
          <a:p>
            <a:r>
              <a:t>Fig. 1 Parse-PBMC and Replogle-Nadig panels; Fig. 2 PRISM sensitivity. Values are means printed in the supplied paper.</a:t>
            </a:r>
          </a:p>
          <a:p>
            <a:r>
              <a:t>TABLE: columns = model, rows = explicitly selected screen/metric pairs. No uncertainty values are reconstructed. Parse uses a held-out-donor split; Replogle–Nadig uses four cell-line holdouts. PRISM is a different phenotype assay and its R² should not be directly ranked against Emerald Bay.</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OPTIONAL BACKUP. Excluded from the 6-minute talk.</a:t>
            </a:r>
          </a:p>
          <a:p/>
          <a:p>
            <a:r>
              <a:t>讲稿 / SAY</a:t>
            </a:r>
          </a:p>
          <a:p>
            <a:r>
              <a:t>这一页是原文 scaling 实验的文字概括。图三左边依次测试 1、3、6、10、20、60、120 种 panel 药物，每种三个剂量。更多 panel 药物总体带来更好的表现，但各指标损失不一致。右边测试 5、10、20、45 个参考细胞背景，作者总结大约 20 个以后提升比较有限。这里说的是 Rhaister 的 panel-based 设置。图四 baseline-only 的 Rhaister-O 仍随参考细胞系增加而改善，因此不能把二十个背景理解成所有模型的充分数据规模。</a:t>
            </a:r>
          </a:p>
          <a:p/>
          <a:p>
            <a:r>
              <a:t>可能的问题 / LIKELY QUESTION</a:t>
            </a:r>
          </a:p>
          <a:p>
            <a:r>
              <a:t>是不是一个药物就足够？这取决于数据、指标和容许损失。文中小 panel 的结果不能保证任意一种药物都具有同样的覆盖能力。</a:t>
            </a:r>
          </a:p>
          <a:p/>
          <a:p>
            <a:r>
              <a:t>SOURCE</a:t>
            </a:r>
          </a:p>
          <a:p>
            <a:r>
              <a:t>Svensson et al. (2026). Back to basics: Observed statistics are sufficient to predict drug responses. bioRxiv, version posted 12 June 2026. DOI: 10.64898/2026.06.09.731197. Local source: rhaister_2026.pdf.</a:t>
            </a:r>
          </a:p>
          <a:p>
            <a:r>
              <a:t>p. 7 Fig. 3 and accompanying text; p. 8 Fig. 4 bottom. This slide summarizes the reported range and qualitative trend without reconstructing individual curve values.</a:t>
            </a:r>
          </a:p>
          <a:p>
            <a:r>
              <a:t>Paper scaling plots use percentages relative to the full panel/all-context model, not absolute accuracy. “~20” is the authors’ qualitative assessment, not an experimentally established universal cutoff.</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OPTIONAL BACKUP. Excluded from the 6-minute talk.</a:t>
            </a:r>
          </a:p>
          <a:p/>
          <a:p>
            <a:r>
              <a:t>讲稿 / SAY</a:t>
            </a:r>
          </a:p>
          <a:p>
            <a:r>
              <a:t>从左到右读原图。上方灰色流程先利用单细胞模型生成反事实细胞，再做统计分析。下方橙色流程先从真实细胞计算统计量，再预测统计量。右侧两条补充说明完整 Rhaister 框架：加性模型包含总体、背景和扰动主效应，参考数据覆盖不足时回退到它。MWU 校准网络使用 fold change 大小、回归结果、基线表达和基因层面的统计信息，再与回归预测等权混合。由于预测的是原始分析流程中的显著性读出，这不能自动替代预测区间或模型不确定性估计。</a:t>
            </a:r>
          </a:p>
          <a:p/>
          <a:p>
            <a:r>
              <a:t>可能的问题 / LIKELY QUESTION</a:t>
            </a:r>
          </a:p>
          <a:p>
            <a:r>
              <a:t>是否完全不用神经网络？不是。核心是岭回归，但显著性校准含小型 MLP。</a:t>
            </a:r>
          </a:p>
          <a:p/>
          <a:p>
            <a:r>
              <a:t>SOURCE</a:t>
            </a:r>
          </a:p>
          <a:p>
            <a:r>
              <a:t>Svensson et al. (2026). Back to basics: Observed statistics are sufficient to predict drug responses. bioRxiv, version posted 12 June 2026. DOI: 10.64898/2026.06.09.731197. Local source: rhaister_2026.pdf.</a:t>
            </a:r>
          </a:p>
          <a:p>
            <a:r>
              <a:t>Fig. 1 top-right workflow, p. 3; Eqs. 1–7, p. 11.</a:t>
            </a:r>
          </a:p>
          <a:p>
            <a:r>
              <a:t>The figure is reproduced unaltered except for cropping to the self-contained workflow panel. Both workflows and every stage are explained. The uncertainty interpretation is the presenter’s methodological qualification. No hardware-normalized runtime comparison is claimed in this deck.</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OPTIONAL BACKUP. Excluded from the 6-minute talk.</a:t>
            </a:r>
          </a:p>
          <a:p/>
          <a:p>
            <a:r>
              <a:t>讲稿 / SAY</a:t>
            </a:r>
          </a:p>
          <a:p>
            <a:r>
              <a:t>如果有人追问指标，可用这一页解释。Discrimination 关注正确扰动在候选响应中的相对排名。Pearson 比较表达差值的大小；PR-AUC 与 DE overlap 分别关注显著基因的识别和集合一致性。LFC 是显著基因之间的变化幅度排序；ES 是不同扰动所影响的显著基因数量的排序。六个分数不是同一个意义上的准确率。</a:t>
            </a:r>
          </a:p>
          <a:p/>
          <a:p>
            <a:r>
              <a:t>可能的问题 / LIKELY QUESTION</a:t>
            </a:r>
          </a:p>
          <a:p>
            <a:r>
              <a:t>数据数量为什么可能不同？原始数据规模、经过筛选的分析子集和代码版本可以不同，复现时必须明确采用哪个版本。</a:t>
            </a:r>
          </a:p>
          <a:p/>
          <a:p>
            <a:r>
              <a:t>SOURCE</a:t>
            </a:r>
          </a:p>
          <a:p>
            <a:r>
              <a:t>Svensson et al. (2026). Back to basics: Observed statistics are sufficient to predict drug responses. bioRxiv, version posted 12 June 2026. DOI: 10.64898/2026.06.09.731197. Local source: rhaister_2026.pdf.</a:t>
            </a:r>
          </a:p>
          <a:p>
            <a:r>
              <a:t>Metric definitions pp. 14–15. Model repository: https://huggingface.co/tahoebio/Rhaister (checked 20 September 2026). Primary numerical source is the supplied June 12 PDF.</a:t>
            </a:r>
          </a:p>
          <a:p>
            <a:r>
              <a:t>SOURCE DISCREPANCIES: (1) Fig. 4 discrimination .85/.86 conflicts with the prose claim of improvement across all metrics. (2) Paper p. 13 states 19 unique drugs in the filtered Emerald Bay modeling subset, whereas p. 14 describes six panel plus fourteen target drugs, totaling twenty. This deck does not silently reconcile those statements. (3) The raw Tahoe description lists 384 drugs; the benchmark split uses 120 + 240 = 360. We report the split as an analyzed subset rather than equate it with the raw atlas. (4) The live model card reports Rhaister-O PR-AUC .53; the supplied paper Fig. 4 prints .52, which is the value used here. Data/version claims in the deck refer to the paper, not a merged later revision.</a:t>
            </a:r>
          </a:p>
          <a:p>
            <a:r>
              <a:t>Full citation: Valentine Svensson, Umair Khan, Hamed Heydari, Airol A. Ubas, Nicole Thomas, Daniele Merico, Hani Goodarzi, John Yu, Nima Alidoust, Shreshth Gandhi. Back to basics: Observed statistics are sufficient to predict drug responses. bioRxiv (2026), doi:10.64898/2026.06.09.731197.</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xml"/><Relationship Id="rId2" Type="http://schemas.openxmlformats.org/officeDocument/2006/relationships/image" Target="../media/image3.svg"/><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1.xml"/><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7" name="Svensson et al., bioRxiv, 12 June 2026. doi:10.64898/2026.06"/>
          <p:cNvSpPr>
            <a:spLocks noGrp="1"/>
          </p:cNvSpPr>
          <p:nvPr/>
        </p:nvSpPr>
        <p:spPr>
          <a:xfrm>
            <a:off x="609600" y="6305550"/>
            <a:ext cx="10382250" cy="333375"/>
          </a:xfrm>
          <a:prstGeom prst="rect">
            <a:avLst/>
          </a:prstGeom>
          <a:noFill/>
          <a:ln w="0">
            <a:noFill/>
          </a:ln>
        </p:spPr>
        <p:txBody>
          <a:bodyPr anchor="ctr">
            <a:noAutofit/>
          </a:bodyPr>
          <a:lstStyle/>
          <a:p>
            <a:pPr>
              <a:defRPr sz="1125" b="0">
                <a:solidFill>
                  <a:srgbClr val="56636C"/>
                </a:solidFill>
                <a:latin typeface="Arial" panose="020B0704020202020204"/>
                <a:ea typeface="Arial" panose="020B0704020202020204"/>
                <a:cs typeface="Arial" panose="020B0704020202020204"/>
              </a:defRPr>
            </a:pPr>
            <a:r>
              <a:rPr sz="1125" b="0">
                <a:solidFill>
                  <a:srgbClr val="56636C"/>
                </a:solidFill>
                <a:latin typeface="Arial" panose="020B0704020202020204"/>
                <a:ea typeface="Arial" panose="020B0704020202020204"/>
                <a:cs typeface="Arial" panose="020B0704020202020204"/>
              </a:rPr>
              <a:t>Svensson et al., bioRxiv, 12 June 2026. doi:10.64898/2026.06.09.731197</a:t>
            </a:r>
            <a:endParaRPr sz="1125" b="0">
              <a:solidFill>
                <a:srgbClr val="56636C"/>
              </a:solidFill>
              <a:latin typeface="Arial" panose="020B0704020202020204"/>
              <a:ea typeface="Arial" panose="020B0704020202020204"/>
              <a:cs typeface="Arial" panose="020B0704020202020204"/>
            </a:endParaRPr>
          </a:p>
        </p:txBody>
      </p:sp>
      <p:sp>
        <p:nvSpPr>
          <p:cNvPr id="2" name="1 / 7"/>
          <p:cNvSpPr>
            <a:spLocks noGrp="1"/>
          </p:cNvSpPr>
          <p:nvPr/>
        </p:nvSpPr>
        <p:spPr>
          <a:xfrm>
            <a:off x="11049000" y="6305550"/>
            <a:ext cx="619125" cy="333375"/>
          </a:xfrm>
          <a:prstGeom prst="rect">
            <a:avLst/>
          </a:prstGeom>
          <a:noFill/>
          <a:ln w="0">
            <a:noFill/>
          </a:ln>
        </p:spPr>
        <p:txBody>
          <a:bodyPr anchor="ctr">
            <a:noAutofit/>
          </a:bodyPr>
          <a:lstStyle/>
          <a:p>
            <a:pPr>
              <a:defRPr sz="1200" b="0">
                <a:solidFill>
                  <a:srgbClr val="56636C"/>
                </a:solidFill>
                <a:latin typeface="Arial" panose="020B0704020202020204"/>
                <a:ea typeface="Arial" panose="020B0704020202020204"/>
                <a:cs typeface="Arial" panose="020B0704020202020204"/>
              </a:defRPr>
            </a:pPr>
            <a:r>
              <a:rPr sz="1200" b="0">
                <a:solidFill>
                  <a:srgbClr val="56636C"/>
                </a:solidFill>
                <a:latin typeface="Arial" panose="020B0704020202020204"/>
                <a:ea typeface="Arial" panose="020B0704020202020204"/>
                <a:cs typeface="Arial" panose="020B0704020202020204"/>
              </a:rPr>
              <a:t>1 / 8</a:t>
            </a:r>
            <a:endParaRPr sz="1200" b="0">
              <a:solidFill>
                <a:srgbClr val="56636C"/>
              </a:solidFill>
              <a:latin typeface="Arial" panose="020B0704020202020204"/>
              <a:ea typeface="Arial" panose="020B0704020202020204"/>
              <a:cs typeface="Arial" panose="020B0704020202020204"/>
            </a:endParaRPr>
          </a:p>
        </p:txBody>
      </p:sp>
      <p:sp>
        <p:nvSpPr>
          <p:cNvPr id="3" name="Rhaister"/>
          <p:cNvSpPr>
            <a:spLocks noGrp="1"/>
          </p:cNvSpPr>
          <p:nvPr/>
        </p:nvSpPr>
        <p:spPr>
          <a:xfrm>
            <a:off x="609600" y="809625"/>
            <a:ext cx="10858500" cy="952500"/>
          </a:xfrm>
          <a:prstGeom prst="rect">
            <a:avLst/>
          </a:prstGeom>
          <a:noFill/>
          <a:ln w="0">
            <a:noFill/>
          </a:ln>
        </p:spPr>
        <p:txBody>
          <a:bodyPr anchor="ctr">
            <a:noAutofit/>
          </a:bodyPr>
          <a:lstStyle/>
          <a:p>
            <a:pPr>
              <a:defRPr sz="5850" b="1">
                <a:solidFill>
                  <a:srgbClr val="102D43"/>
                </a:solidFill>
                <a:latin typeface="Arial" panose="020B0704020202020204"/>
                <a:ea typeface="Arial" panose="020B0704020202020204"/>
                <a:cs typeface="Arial" panose="020B0704020202020204"/>
              </a:defRPr>
            </a:pPr>
            <a:r>
              <a:rPr sz="5850" b="1">
                <a:solidFill>
                  <a:srgbClr val="102D43"/>
                </a:solidFill>
                <a:latin typeface="Arial" panose="020B0704020202020204"/>
                <a:ea typeface="Arial" panose="020B0704020202020204"/>
                <a:cs typeface="Arial" panose="020B0704020202020204"/>
              </a:rPr>
              <a:t>Rhaister</a:t>
            </a:r>
            <a:endParaRPr sz="5850" b="1">
              <a:solidFill>
                <a:srgbClr val="102D43"/>
              </a:solidFill>
              <a:latin typeface="Arial" panose="020B0704020202020204"/>
              <a:ea typeface="Arial" panose="020B0704020202020204"/>
              <a:cs typeface="Arial" panose="020B0704020202020204"/>
            </a:endParaRPr>
          </a:p>
        </p:txBody>
      </p:sp>
      <p:sp>
        <p:nvSpPr>
          <p:cNvPr id="4" name="Back to basics: Observed statistics are&#10;sufficient to predic"/>
          <p:cNvSpPr>
            <a:spLocks noGrp="1"/>
          </p:cNvSpPr>
          <p:nvPr/>
        </p:nvSpPr>
        <p:spPr>
          <a:xfrm>
            <a:off x="647700" y="2009775"/>
            <a:ext cx="10572750" cy="1428750"/>
          </a:xfrm>
          <a:prstGeom prst="rect">
            <a:avLst/>
          </a:prstGeom>
          <a:noFill/>
          <a:ln w="0">
            <a:noFill/>
          </a:ln>
        </p:spPr>
        <p:txBody>
          <a:bodyPr anchor="ctr">
            <a:noAutofit/>
          </a:bodyPr>
          <a:lstStyle/>
          <a:p>
            <a:pPr>
              <a:defRPr sz="3300" b="0">
                <a:solidFill>
                  <a:srgbClr val="102D43"/>
                </a:solidFill>
                <a:latin typeface="Arial" panose="020B0704020202020204"/>
                <a:ea typeface="Arial" panose="020B0704020202020204"/>
                <a:cs typeface="Arial" panose="020B0704020202020204"/>
              </a:defRPr>
            </a:pPr>
            <a:r>
              <a:rPr sz="3300" b="0">
                <a:solidFill>
                  <a:srgbClr val="102D43"/>
                </a:solidFill>
                <a:latin typeface="Arial" panose="020B0704020202020204"/>
                <a:ea typeface="Arial" panose="020B0704020202020204"/>
                <a:cs typeface="Arial" panose="020B0704020202020204"/>
              </a:rPr>
              <a:t>Back to basics: Observed statistics are</a:t>
            </a:r>
            <a:endParaRPr sz="3300" b="0">
              <a:solidFill>
                <a:srgbClr val="102D43"/>
              </a:solidFill>
              <a:latin typeface="Arial" panose="020B0704020202020204"/>
              <a:ea typeface="Arial" panose="020B0704020202020204"/>
              <a:cs typeface="Arial" panose="020B0704020202020204"/>
            </a:endParaRPr>
          </a:p>
          <a:p>
            <a:pPr>
              <a:defRPr sz="3300" b="0">
                <a:solidFill>
                  <a:srgbClr val="102D43"/>
                </a:solidFill>
                <a:latin typeface="Arial" panose="020B0704020202020204"/>
                <a:ea typeface="Arial" panose="020B0704020202020204"/>
                <a:cs typeface="Arial" panose="020B0704020202020204"/>
              </a:defRPr>
            </a:pPr>
            <a:r>
              <a:rPr sz="3300" b="0">
                <a:solidFill>
                  <a:srgbClr val="102D43"/>
                </a:solidFill>
                <a:latin typeface="Arial" panose="020B0704020202020204"/>
                <a:ea typeface="Arial" panose="020B0704020202020204"/>
                <a:cs typeface="Arial" panose="020B0704020202020204"/>
              </a:rPr>
              <a:t>sufficient to predict drug responses</a:t>
            </a:r>
            <a:endParaRPr sz="3300" b="0">
              <a:solidFill>
                <a:srgbClr val="102D43"/>
              </a:solidFill>
              <a:latin typeface="Arial" panose="020B0704020202020204"/>
              <a:ea typeface="Arial" panose="020B0704020202020204"/>
              <a:cs typeface="Arial" panose="020B0704020202020204"/>
            </a:endParaRPr>
          </a:p>
        </p:txBody>
      </p:sp>
      <p:sp>
        <p:nvSpPr>
          <p:cNvPr id="5" name="Can summary statistics predict drug responses&#10;in a new cellu"/>
          <p:cNvSpPr>
            <a:spLocks noGrp="1"/>
          </p:cNvSpPr>
          <p:nvPr/>
        </p:nvSpPr>
        <p:spPr>
          <a:xfrm>
            <a:off x="657225" y="4000500"/>
            <a:ext cx="10382250" cy="952500"/>
          </a:xfrm>
          <a:prstGeom prst="rect">
            <a:avLst/>
          </a:prstGeom>
          <a:noFill/>
          <a:ln w="0">
            <a:noFill/>
          </a:ln>
        </p:spPr>
        <p:txBody>
          <a:bodyPr anchor="ctr">
            <a:noAutofit/>
          </a:bodyPr>
          <a:lstStyle/>
          <a:p>
            <a:pPr>
              <a:defRPr sz="2325" b="0">
                <a:solidFill>
                  <a:srgbClr val="EC633D"/>
                </a:solidFill>
                <a:latin typeface="Arial" panose="020B0704020202020204"/>
                <a:ea typeface="Arial" panose="020B0704020202020204"/>
                <a:cs typeface="Arial" panose="020B0704020202020204"/>
              </a:defRPr>
            </a:pPr>
            <a:r>
              <a:rPr sz="2325" b="0">
                <a:solidFill>
                  <a:srgbClr val="EC633D"/>
                </a:solidFill>
                <a:latin typeface="Arial" panose="020B0704020202020204"/>
                <a:ea typeface="Arial" panose="020B0704020202020204"/>
                <a:cs typeface="Arial" panose="020B0704020202020204"/>
              </a:rPr>
              <a:t>Can summary statistics predict drug responses</a:t>
            </a:r>
            <a:endParaRPr sz="2325" b="0">
              <a:solidFill>
                <a:srgbClr val="EC633D"/>
              </a:solidFill>
              <a:latin typeface="Arial" panose="020B0704020202020204"/>
              <a:ea typeface="Arial" panose="020B0704020202020204"/>
              <a:cs typeface="Arial" panose="020B0704020202020204"/>
            </a:endParaRPr>
          </a:p>
          <a:p>
            <a:pPr>
              <a:defRPr sz="2325" b="0">
                <a:solidFill>
                  <a:srgbClr val="EC633D"/>
                </a:solidFill>
                <a:latin typeface="Arial" panose="020B0704020202020204"/>
                <a:ea typeface="Arial" panose="020B0704020202020204"/>
                <a:cs typeface="Arial" panose="020B0704020202020204"/>
              </a:defRPr>
            </a:pPr>
            <a:r>
              <a:rPr sz="2325" b="0">
                <a:solidFill>
                  <a:srgbClr val="EC633D"/>
                </a:solidFill>
                <a:latin typeface="Arial" panose="020B0704020202020204"/>
                <a:ea typeface="Arial" panose="020B0704020202020204"/>
                <a:cs typeface="Arial" panose="020B0704020202020204"/>
              </a:rPr>
              <a:t>in a new cellular context?</a:t>
            </a:r>
            <a:endParaRPr sz="2325" b="0">
              <a:solidFill>
                <a:srgbClr val="EC633D"/>
              </a:solidFill>
              <a:latin typeface="Arial" panose="020B0704020202020204"/>
              <a:ea typeface="Arial" panose="020B0704020202020204"/>
              <a:cs typeface="Arial" panose="020B0704020202020204"/>
            </a:endParaRPr>
          </a:p>
        </p:txBody>
      </p:sp>
      <p:sp>
        <p:nvSpPr>
          <p:cNvPr id="6" name="Valentine Svensson et al. · Tahoe Therapeutics&#10;June 2026 pre"/>
          <p:cNvSpPr>
            <a:spLocks noGrp="1"/>
          </p:cNvSpPr>
          <p:nvPr/>
        </p:nvSpPr>
        <p:spPr>
          <a:xfrm>
            <a:off x="657225" y="5410200"/>
            <a:ext cx="10096500" cy="600075"/>
          </a:xfrm>
          <a:prstGeom prst="rect">
            <a:avLst/>
          </a:prstGeom>
          <a:noFill/>
          <a:ln w="0">
            <a:noFill/>
          </a:ln>
        </p:spPr>
        <p:txBody>
          <a:bodyPr anchor="ctr">
            <a:noAutofit/>
          </a:bodyPr>
          <a:lstStyle/>
          <a:p>
            <a:pPr>
              <a:defRPr sz="1650" b="0">
                <a:solidFill>
                  <a:srgbClr val="56636C"/>
                </a:solidFill>
                <a:latin typeface="Arial" panose="020B0704020202020204"/>
                <a:ea typeface="Arial" panose="020B0704020202020204"/>
                <a:cs typeface="Arial" panose="020B0704020202020204"/>
              </a:defRPr>
            </a:pPr>
            <a:r>
              <a:rPr sz="1650" b="0">
                <a:solidFill>
                  <a:srgbClr val="56636C"/>
                </a:solidFill>
                <a:latin typeface="Arial" panose="020B0704020202020204"/>
                <a:ea typeface="Arial" panose="020B0704020202020204"/>
                <a:cs typeface="Arial" panose="020B0704020202020204"/>
              </a:rPr>
              <a:t>Valentine Svensson et al. · Tahoe Therapeutics</a:t>
            </a:r>
            <a:endParaRPr sz="1650" b="0">
              <a:solidFill>
                <a:srgbClr val="56636C"/>
              </a:solidFill>
              <a:latin typeface="Arial" panose="020B0704020202020204"/>
              <a:ea typeface="Arial" panose="020B0704020202020204"/>
              <a:cs typeface="Arial" panose="020B0704020202020204"/>
            </a:endParaRPr>
          </a:p>
          <a:p>
            <a:pPr>
              <a:defRPr sz="1650" b="0">
                <a:solidFill>
                  <a:srgbClr val="56636C"/>
                </a:solidFill>
                <a:latin typeface="Arial" panose="020B0704020202020204"/>
                <a:ea typeface="Arial" panose="020B0704020202020204"/>
                <a:cs typeface="Arial" panose="020B0704020202020204"/>
              </a:defRPr>
            </a:pPr>
            <a:r>
              <a:rPr sz="1650" b="0">
                <a:solidFill>
                  <a:srgbClr val="56636C"/>
                </a:solidFill>
                <a:latin typeface="Arial" panose="020B0704020202020204"/>
                <a:ea typeface="Arial" panose="020B0704020202020204"/>
                <a:cs typeface="Arial" panose="020B0704020202020204"/>
              </a:rPr>
              <a:t>June 2026 preprint</a:t>
            </a:r>
            <a:endParaRPr sz="1650" b="0">
              <a:solidFill>
                <a:srgbClr val="56636C"/>
              </a:solidFill>
              <a:latin typeface="Arial" panose="020B0704020202020204"/>
              <a:ea typeface="Arial" panose="020B0704020202020204"/>
              <a:cs typeface="Arial" panose="020B0704020202020204"/>
            </a:endParaRPr>
          </a:p>
        </p:txBody>
      </p:sp>
      <p:sp>
        <p:nvSpPr>
          <p:cNvPr id="8" name="Text Box 7"/>
          <p:cNvSpPr txBox="1"/>
          <p:nvPr/>
        </p:nvSpPr>
        <p:spPr>
          <a:xfrm>
            <a:off x="10056495" y="0"/>
            <a:ext cx="4064000" cy="368300"/>
          </a:xfrm>
          <a:prstGeom prst="rect">
            <a:avLst/>
          </a:prstGeom>
          <a:noFill/>
        </p:spPr>
        <p:txBody>
          <a:bodyPr wrap="square" rtlCol="0">
            <a:spAutoFit/>
          </a:bodyPr>
          <a:p>
            <a:r>
              <a:rPr lang="en-US"/>
              <a:t>ID: 200010263</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 name="Motivation: the hardest contexts can’t be screened"/>
          <p:cNvSpPr>
            <a:spLocks noGrp="1"/>
          </p:cNvSpPr>
          <p:nvPr/>
        </p:nvSpPr>
        <p:spPr>
          <a:xfrm>
            <a:off x="609600" y="409575"/>
            <a:ext cx="10972800" cy="962025"/>
          </a:xfrm>
          <a:prstGeom prst="rect">
            <a:avLst/>
          </a:prstGeom>
          <a:noFill/>
          <a:ln w="0">
            <a:noFill/>
          </a:ln>
        </p:spPr>
        <p:txBody>
          <a:bodyPr anchor="ctr">
            <a:noAutofit/>
          </a:bodyPr>
          <a:lstStyle/>
          <a:p>
            <a:pPr>
              <a:defRPr sz="3150" b="1">
                <a:solidFill>
                  <a:srgbClr val="102D43"/>
                </a:solidFill>
                <a:latin typeface="Arial" panose="020B0704020202020204"/>
                <a:ea typeface="Arial" panose="020B0704020202020204"/>
                <a:cs typeface="Arial" panose="020B0704020202020204"/>
              </a:defRPr>
            </a:pPr>
            <a:r>
              <a:rPr sz="3150" b="1">
                <a:solidFill>
                  <a:srgbClr val="102D43"/>
                </a:solidFill>
                <a:latin typeface="Arial" panose="020B0704020202020204"/>
                <a:ea typeface="Arial" panose="020B0704020202020204"/>
                <a:cs typeface="Arial" panose="020B0704020202020204"/>
              </a:rPr>
              <a:t>Motivation: the hardest contexts can’t be screened</a:t>
            </a:r>
            <a:endParaRPr sz="3150" b="1">
              <a:solidFill>
                <a:srgbClr val="102D43"/>
              </a:solidFill>
              <a:latin typeface="Arial" panose="020B0704020202020204"/>
              <a:ea typeface="Arial" panose="020B0704020202020204"/>
              <a:cs typeface="Arial" panose="020B0704020202020204"/>
            </a:endParaRPr>
          </a:p>
        </p:txBody>
      </p:sp>
      <p:sp>
        <p:nvSpPr>
          <p:cNvPr id="2" name="Svensson et al., 2026, Introduction, pp. 2–3 and Discussion, p. 9"/>
          <p:cNvSpPr>
            <a:spLocks noGrp="1"/>
          </p:cNvSpPr>
          <p:nvPr/>
        </p:nvSpPr>
        <p:spPr>
          <a:xfrm>
            <a:off x="609600" y="6305550"/>
            <a:ext cx="10382250" cy="333375"/>
          </a:xfrm>
          <a:prstGeom prst="rect">
            <a:avLst/>
          </a:prstGeom>
          <a:noFill/>
          <a:ln w="0">
            <a:noFill/>
          </a:ln>
        </p:spPr>
        <p:txBody>
          <a:bodyPr anchor="ctr">
            <a:noAutofit/>
          </a:bodyPr>
          <a:lstStyle/>
          <a:p>
            <a:pPr>
              <a:defRPr sz="1125" b="0">
                <a:solidFill>
                  <a:srgbClr val="56636C"/>
                </a:solidFill>
                <a:latin typeface="Arial" panose="020B0704020202020204"/>
                <a:ea typeface="Arial" panose="020B0704020202020204"/>
                <a:cs typeface="Arial" panose="020B0704020202020204"/>
              </a:defRPr>
            </a:pPr>
            <a:r>
              <a:rPr sz="1125" b="0">
                <a:solidFill>
                  <a:srgbClr val="56636C"/>
                </a:solidFill>
                <a:latin typeface="Arial" panose="020B0704020202020204"/>
                <a:ea typeface="Arial" panose="020B0704020202020204"/>
                <a:cs typeface="Arial" panose="020B0704020202020204"/>
              </a:rPr>
              <a:t>Svensson et al., 2026, Introduction, pp. 2–3 and Discussion, p. 9</a:t>
            </a:r>
            <a:endParaRPr sz="1125" b="0">
              <a:solidFill>
                <a:srgbClr val="56636C"/>
              </a:solidFill>
              <a:latin typeface="Arial" panose="020B0704020202020204"/>
              <a:ea typeface="Arial" panose="020B0704020202020204"/>
              <a:cs typeface="Arial" panose="020B0704020202020204"/>
            </a:endParaRPr>
          </a:p>
        </p:txBody>
      </p:sp>
      <p:sp>
        <p:nvSpPr>
          <p:cNvPr id="3" name="2 / 8"/>
          <p:cNvSpPr>
            <a:spLocks noGrp="1"/>
          </p:cNvSpPr>
          <p:nvPr/>
        </p:nvSpPr>
        <p:spPr>
          <a:xfrm>
            <a:off x="11049000" y="6305550"/>
            <a:ext cx="619125" cy="333375"/>
          </a:xfrm>
          <a:prstGeom prst="rect">
            <a:avLst/>
          </a:prstGeom>
          <a:noFill/>
          <a:ln w="0">
            <a:noFill/>
          </a:ln>
        </p:spPr>
        <p:txBody>
          <a:bodyPr anchor="ctr">
            <a:noAutofit/>
          </a:bodyPr>
          <a:lstStyle/>
          <a:p>
            <a:pPr>
              <a:defRPr sz="1200" b="0">
                <a:solidFill>
                  <a:srgbClr val="56636C"/>
                </a:solidFill>
                <a:latin typeface="Arial" panose="020B0704020202020204"/>
                <a:ea typeface="Arial" panose="020B0704020202020204"/>
                <a:cs typeface="Arial" panose="020B0704020202020204"/>
              </a:defRPr>
            </a:pPr>
            <a:r>
              <a:rPr sz="1200" b="0">
                <a:solidFill>
                  <a:srgbClr val="56636C"/>
                </a:solidFill>
                <a:latin typeface="Arial" panose="020B0704020202020204"/>
                <a:ea typeface="Arial" panose="020B0704020202020204"/>
                <a:cs typeface="Arial" panose="020B0704020202020204"/>
              </a:rPr>
              <a:t>2 / 8</a:t>
            </a:r>
            <a:endParaRPr sz="1200" b="0">
              <a:solidFill>
                <a:srgbClr val="56636C"/>
              </a:solidFill>
              <a:latin typeface="Arial" panose="020B0704020202020204"/>
              <a:ea typeface="Arial" panose="020B0704020202020204"/>
              <a:cs typeface="Arial" panose="020B0704020202020204"/>
            </a:endParaRPr>
          </a:p>
        </p:txBody>
      </p:sp>
      <p:sp>
        <p:nvSpPr>
          <p:cNvPr id="4" name="Text Box 3"/>
          <p:cNvSpPr txBox="1"/>
          <p:nvPr/>
        </p:nvSpPr>
        <p:spPr>
          <a:xfrm>
            <a:off x="10056495" y="0"/>
            <a:ext cx="4064000" cy="368300"/>
          </a:xfrm>
          <a:prstGeom prst="rect">
            <a:avLst/>
          </a:prstGeom>
          <a:noFill/>
        </p:spPr>
        <p:txBody>
          <a:bodyPr wrap="square" rtlCol="0">
            <a:spAutoFit/>
          </a:bodyPr>
          <a:p>
            <a:r>
              <a:rPr lang="en-US"/>
              <a:t>ID: 200010263</a:t>
            </a:r>
            <a:endParaRPr lang="en-US"/>
          </a:p>
        </p:txBody>
      </p:sp>
      <p:sp>
        <p:nvSpPr>
          <p:cNvPr id="13" name="TextBox 12"/>
          <p:cNvSpPr txBox="1"/>
          <p:nvPr/>
        </p:nvSpPr>
        <p:spPr>
          <a:xfrm>
            <a:off x="609600" y="1874520"/>
            <a:ext cx="10972800" cy="3871595"/>
          </a:xfrm>
          <a:prstGeom prst="rect">
            <a:avLst/>
          </a:prstGeom>
          <a:noFill/>
        </p:spPr>
        <p:txBody>
          <a:bodyPr wrap="square">
            <a:spAutoFit/>
          </a:bodyPr>
          <a:lstStyle/>
          <a:p>
            <a:pPr>
              <a:spcAft>
                <a:spcPts val="1400"/>
              </a:spcAft>
            </a:pPr>
            <a:r>
              <a:rPr sz="1700">
                <a:solidFill>
                  <a:srgbClr val="333F47"/>
                </a:solidFill>
                <a:latin typeface="Arial" panose="020B0704020202020204"/>
              </a:rPr>
              <a:t>•  </a:t>
            </a:r>
            <a:r>
              <a:rPr lang="en-US" sz="1700">
                <a:solidFill>
                  <a:srgbClr val="333F47"/>
                </a:solidFill>
                <a:latin typeface="Arial" panose="020B0704020202020204"/>
              </a:rPr>
              <a:t>We want to predict the </a:t>
            </a:r>
            <a:r>
              <a:rPr lang="en-US" sz="1700" b="1">
                <a:solidFill>
                  <a:srgbClr val="333F47"/>
                </a:solidFill>
                <a:latin typeface="Arial Bold" panose="020B0704020202020204" charset="0"/>
                <a:cs typeface="Arial Bold" panose="020B0704020202020204" charset="0"/>
              </a:rPr>
              <a:t>drug </a:t>
            </a:r>
            <a:r>
              <a:rPr lang="en-US" sz="1700">
                <a:solidFill>
                  <a:srgbClr val="333F47"/>
                </a:solidFill>
                <a:latin typeface="Arial" panose="020B0704020202020204"/>
              </a:rPr>
              <a:t>perturbated </a:t>
            </a:r>
            <a:r>
              <a:rPr lang="en-US" sz="1700" b="1">
                <a:solidFill>
                  <a:srgbClr val="333F47"/>
                </a:solidFill>
                <a:latin typeface="Arial Bold" panose="020B0704020202020204" charset="0"/>
                <a:cs typeface="Arial Bold" panose="020B0704020202020204" charset="0"/>
              </a:rPr>
              <a:t>gene expression</a:t>
            </a:r>
            <a:r>
              <a:rPr lang="en-US" sz="1700">
                <a:solidFill>
                  <a:srgbClr val="333F47"/>
                </a:solidFill>
                <a:latin typeface="Arial" panose="020B0704020202020204"/>
              </a:rPr>
              <a:t> on </a:t>
            </a:r>
            <a:r>
              <a:rPr lang="en-US" sz="1700" u="sng">
                <a:solidFill>
                  <a:srgbClr val="333F47"/>
                </a:solidFill>
                <a:latin typeface="Arial" panose="020B0704020202020204"/>
              </a:rPr>
              <a:t>rare or unseen</a:t>
            </a:r>
            <a:r>
              <a:rPr lang="en-US" sz="1700">
                <a:solidFill>
                  <a:srgbClr val="333F47"/>
                </a:solidFill>
                <a:latin typeface="Arial" panose="020B0704020202020204"/>
              </a:rPr>
              <a:t> </a:t>
            </a:r>
            <a:r>
              <a:rPr lang="en-US" sz="2800" b="1">
                <a:solidFill>
                  <a:srgbClr val="333F47"/>
                </a:solidFill>
                <a:latin typeface="Arial Bold" panose="020B0704020202020204" charset="0"/>
                <a:cs typeface="Arial Bold" panose="020B0704020202020204" charset="0"/>
              </a:rPr>
              <a:t>cell lines</a:t>
            </a:r>
            <a:endParaRPr lang="en-US" sz="2800" b="1">
              <a:solidFill>
                <a:srgbClr val="333F47"/>
              </a:solidFill>
              <a:latin typeface="Arial Bold" panose="020B0704020202020204" charset="0"/>
              <a:cs typeface="Arial Bold" panose="020B0704020202020204" charset="0"/>
            </a:endParaRPr>
          </a:p>
          <a:p>
            <a:pPr>
              <a:spcAft>
                <a:spcPts val="1400"/>
              </a:spcAft>
            </a:pPr>
            <a:r>
              <a:rPr sz="1700">
                <a:solidFill>
                  <a:srgbClr val="333F47"/>
                </a:solidFill>
                <a:latin typeface="Arial" panose="020B0704020202020204"/>
              </a:rPr>
              <a:t>•  </a:t>
            </a:r>
            <a:r>
              <a:rPr lang="en-US" sz="1700">
                <a:solidFill>
                  <a:srgbClr val="333F47"/>
                </a:solidFill>
                <a:latin typeface="Arial" panose="020B0704020202020204"/>
              </a:rPr>
              <a:t>But we cannot test the drug response on that cell line </a:t>
            </a:r>
            <a:r>
              <a:rPr lang="en-US" sz="1700" b="1">
                <a:solidFill>
                  <a:srgbClr val="333F47"/>
                </a:solidFill>
                <a:latin typeface="Arial Bold" panose="020B0704020202020204" charset="0"/>
                <a:cs typeface="Arial Bold" panose="020B0704020202020204" charset="0"/>
              </a:rPr>
              <a:t>directly</a:t>
            </a:r>
            <a:r>
              <a:rPr lang="en-US" sz="1700">
                <a:solidFill>
                  <a:srgbClr val="333F47"/>
                </a:solidFill>
                <a:latin typeface="Arial" panose="020B0704020202020204"/>
              </a:rPr>
              <a:t>:</a:t>
            </a:r>
            <a:endParaRPr lang="en-US" sz="1700">
              <a:solidFill>
                <a:srgbClr val="333F47"/>
              </a:solidFill>
              <a:latin typeface="Arial" panose="020B0704020202020204"/>
            </a:endParaRPr>
          </a:p>
          <a:p>
            <a:pPr indent="457200">
              <a:spcAft>
                <a:spcPts val="1400"/>
              </a:spcAft>
            </a:pPr>
            <a:r>
              <a:rPr lang="en-US" sz="1700">
                <a:solidFill>
                  <a:srgbClr val="333F47"/>
                </a:solidFill>
                <a:latin typeface="Arial" panose="020B0704020202020204"/>
              </a:rPr>
              <a:t>a) </a:t>
            </a:r>
            <a:r>
              <a:rPr sz="1700">
                <a:solidFill>
                  <a:srgbClr val="333F47"/>
                </a:solidFill>
                <a:latin typeface="Arial" panose="020B0704020202020204"/>
              </a:rPr>
              <a:t>rare cell types</a:t>
            </a:r>
            <a:endParaRPr sz="1700">
              <a:solidFill>
                <a:srgbClr val="333F47"/>
              </a:solidFill>
              <a:latin typeface="Arial" panose="020B0704020202020204"/>
            </a:endParaRPr>
          </a:p>
          <a:p>
            <a:pPr indent="457200">
              <a:spcAft>
                <a:spcPts val="1400"/>
              </a:spcAft>
            </a:pPr>
            <a:r>
              <a:rPr lang="en-US" sz="1700">
                <a:solidFill>
                  <a:srgbClr val="333F47"/>
                </a:solidFill>
                <a:latin typeface="Arial" panose="020B0704020202020204"/>
              </a:rPr>
              <a:t>b) T</a:t>
            </a:r>
            <a:r>
              <a:rPr sz="1700">
                <a:solidFill>
                  <a:srgbClr val="333F47"/>
                </a:solidFill>
                <a:latin typeface="Arial" panose="020B0704020202020204"/>
              </a:rPr>
              <a:t>issues that won’t grow ex vivo</a:t>
            </a:r>
            <a:endParaRPr sz="1700">
              <a:solidFill>
                <a:srgbClr val="333F47"/>
              </a:solidFill>
              <a:latin typeface="Arial" panose="020B0704020202020204"/>
            </a:endParaRPr>
          </a:p>
          <a:p>
            <a:pPr indent="457200">
              <a:spcAft>
                <a:spcPts val="1400"/>
              </a:spcAft>
            </a:pPr>
            <a:r>
              <a:rPr lang="en-US" sz="1700">
                <a:solidFill>
                  <a:srgbClr val="333F47"/>
                </a:solidFill>
                <a:latin typeface="Arial" panose="020B0704020202020204"/>
              </a:rPr>
              <a:t>c) A lab is required</a:t>
            </a:r>
            <a:endParaRPr sz="1700">
              <a:solidFill>
                <a:srgbClr val="333F47"/>
              </a:solidFill>
              <a:latin typeface="Arial" panose="020B0704020202020204"/>
            </a:endParaRPr>
          </a:p>
          <a:p>
            <a:pPr indent="457200">
              <a:spcAft>
                <a:spcPts val="1400"/>
              </a:spcAft>
            </a:pPr>
            <a:r>
              <a:rPr lang="en-US" sz="1700" b="1">
                <a:solidFill>
                  <a:srgbClr val="333F47"/>
                </a:solidFill>
                <a:latin typeface="Arial Bold" panose="020B0704020202020204" charset="0"/>
                <a:cs typeface="Arial Bold" panose="020B0704020202020204" charset="0"/>
              </a:rPr>
              <a:t>d) MONEY and time</a:t>
            </a:r>
            <a:endParaRPr sz="1700">
              <a:solidFill>
                <a:srgbClr val="333F47"/>
              </a:solidFill>
              <a:latin typeface="Arial" panose="020B0704020202020204"/>
            </a:endParaRPr>
          </a:p>
          <a:p>
            <a:pPr>
              <a:spcAft>
                <a:spcPts val="1400"/>
              </a:spcAft>
            </a:pPr>
            <a:r>
              <a:rPr sz="1700">
                <a:solidFill>
                  <a:srgbClr val="333F47"/>
                </a:solidFill>
                <a:latin typeface="Arial" panose="020B0704020202020204"/>
              </a:rPr>
              <a:t>Virtual-cell models simulate single cells, then aggregate — slow, costly, no zero-shot, sometimes no better than simple baselines</a:t>
            </a:r>
            <a:endParaRPr sz="1700">
              <a:solidFill>
                <a:srgbClr val="333F47"/>
              </a:solidFill>
              <a:latin typeface="Arial" panose="020B0704020202020204"/>
            </a:endParaRPr>
          </a:p>
          <a:p>
            <a:pPr>
              <a:spcAft>
                <a:spcPts val="1400"/>
              </a:spcAft>
            </a:pPr>
            <a:r>
              <a:rPr sz="1700" b="1">
                <a:solidFill>
                  <a:srgbClr val="102D43"/>
                </a:solidFill>
                <a:latin typeface="Arial" panose="020B0704020202020204"/>
              </a:rPr>
              <a:t>→  Rhaister inverts this: predict the analysis-ready statistics directly</a:t>
            </a:r>
            <a:r>
              <a:rPr lang="en-US" sz="1700" b="1">
                <a:solidFill>
                  <a:srgbClr val="102D43"/>
                </a:solidFill>
                <a:latin typeface="Arial" panose="020B0704020202020204"/>
              </a:rPr>
              <a:t>, from the baseline gene expression</a:t>
            </a:r>
            <a:endParaRPr lang="en-US" sz="1700" b="1">
              <a:solidFill>
                <a:srgbClr val="102D43"/>
              </a:solidFill>
              <a:latin typeface="Arial" panose="020B070402020202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2" name="The task: complete a drug screen in a new context"/>
          <p:cNvSpPr>
            <a:spLocks noGrp="1"/>
          </p:cNvSpPr>
          <p:nvPr/>
        </p:nvSpPr>
        <p:spPr>
          <a:xfrm>
            <a:off x="609600" y="409575"/>
            <a:ext cx="10972800" cy="962025"/>
          </a:xfrm>
          <a:prstGeom prst="rect">
            <a:avLst/>
          </a:prstGeom>
          <a:noFill/>
          <a:ln w="0">
            <a:noFill/>
          </a:ln>
        </p:spPr>
        <p:txBody>
          <a:bodyPr anchor="ctr">
            <a:noAutofit/>
          </a:bodyPr>
          <a:lstStyle/>
          <a:p>
            <a:pPr>
              <a:defRPr sz="3150" b="1">
                <a:solidFill>
                  <a:srgbClr val="102D43"/>
                </a:solidFill>
                <a:latin typeface="Arial" panose="020B0704020202020204"/>
                <a:ea typeface="Arial" panose="020B0704020202020204"/>
                <a:cs typeface="Arial" panose="020B0704020202020204"/>
              </a:defRPr>
            </a:pPr>
            <a:r>
              <a:rPr sz="3150" b="1">
                <a:solidFill>
                  <a:srgbClr val="102D43"/>
                </a:solidFill>
                <a:latin typeface="Arial" panose="020B0704020202020204"/>
                <a:ea typeface="Arial" panose="020B0704020202020204"/>
                <a:cs typeface="Arial" panose="020B0704020202020204"/>
              </a:rPr>
              <a:t>The task: complete a drug screen in a new context</a:t>
            </a:r>
            <a:endParaRPr sz="3150" b="1">
              <a:solidFill>
                <a:srgbClr val="102D43"/>
              </a:solidFill>
              <a:latin typeface="Arial" panose="020B0704020202020204"/>
              <a:ea typeface="Arial" panose="020B0704020202020204"/>
              <a:cs typeface="Arial" panose="020B0704020202020204"/>
            </a:endParaRPr>
          </a:p>
        </p:txBody>
      </p:sp>
      <p:sp>
        <p:nvSpPr>
          <p:cNvPr id="2" name="Svensson et al., 2026, Fig. 1 (top left), pp. 3–4 and 13"/>
          <p:cNvSpPr>
            <a:spLocks noGrp="1"/>
          </p:cNvSpPr>
          <p:nvPr/>
        </p:nvSpPr>
        <p:spPr>
          <a:xfrm>
            <a:off x="609600" y="6305550"/>
            <a:ext cx="10382250" cy="333375"/>
          </a:xfrm>
          <a:prstGeom prst="rect">
            <a:avLst/>
          </a:prstGeom>
          <a:noFill/>
          <a:ln w="0">
            <a:noFill/>
          </a:ln>
        </p:spPr>
        <p:txBody>
          <a:bodyPr anchor="ctr">
            <a:noAutofit/>
          </a:bodyPr>
          <a:lstStyle/>
          <a:p>
            <a:pPr>
              <a:defRPr sz="1125" b="0">
                <a:solidFill>
                  <a:srgbClr val="56636C"/>
                </a:solidFill>
                <a:latin typeface="Arial" panose="020B0704020202020204"/>
                <a:ea typeface="Arial" panose="020B0704020202020204"/>
                <a:cs typeface="Arial" panose="020B0704020202020204"/>
              </a:defRPr>
            </a:pPr>
            <a:r>
              <a:rPr sz="1125" b="0">
                <a:solidFill>
                  <a:srgbClr val="56636C"/>
                </a:solidFill>
                <a:latin typeface="Arial" panose="020B0704020202020204"/>
                <a:ea typeface="Arial" panose="020B0704020202020204"/>
                <a:cs typeface="Arial" panose="020B0704020202020204"/>
              </a:rPr>
              <a:t>Svensson et al., 2026, Fig. 1 (top left), pp. 3–4 and 13</a:t>
            </a:r>
            <a:endParaRPr sz="1125" b="0">
              <a:solidFill>
                <a:srgbClr val="56636C"/>
              </a:solidFill>
              <a:latin typeface="Arial" panose="020B0704020202020204"/>
              <a:ea typeface="Arial" panose="020B0704020202020204"/>
              <a:cs typeface="Arial" panose="020B0704020202020204"/>
            </a:endParaRPr>
          </a:p>
        </p:txBody>
      </p:sp>
      <p:sp>
        <p:nvSpPr>
          <p:cNvPr id="3" name="2 / 7"/>
          <p:cNvSpPr>
            <a:spLocks noGrp="1"/>
          </p:cNvSpPr>
          <p:nvPr/>
        </p:nvSpPr>
        <p:spPr>
          <a:xfrm>
            <a:off x="11049000" y="6305550"/>
            <a:ext cx="619125" cy="333375"/>
          </a:xfrm>
          <a:prstGeom prst="rect">
            <a:avLst/>
          </a:prstGeom>
          <a:noFill/>
          <a:ln w="0">
            <a:noFill/>
          </a:ln>
        </p:spPr>
        <p:txBody>
          <a:bodyPr anchor="ctr">
            <a:noAutofit/>
          </a:bodyPr>
          <a:lstStyle/>
          <a:p>
            <a:pPr>
              <a:defRPr sz="1200" b="0">
                <a:solidFill>
                  <a:srgbClr val="56636C"/>
                </a:solidFill>
                <a:latin typeface="Arial" panose="020B0704020202020204"/>
                <a:ea typeface="Arial" panose="020B0704020202020204"/>
                <a:cs typeface="Arial" panose="020B0704020202020204"/>
              </a:defRPr>
            </a:pPr>
            <a:r>
              <a:rPr sz="1200" b="0">
                <a:solidFill>
                  <a:srgbClr val="56636C"/>
                </a:solidFill>
                <a:latin typeface="Arial" panose="020B0704020202020204"/>
                <a:ea typeface="Arial" panose="020B0704020202020204"/>
                <a:cs typeface="Arial" panose="020B0704020202020204"/>
              </a:rPr>
              <a:t>3 / 8</a:t>
            </a:r>
            <a:endParaRPr sz="1200" b="0">
              <a:solidFill>
                <a:srgbClr val="56636C"/>
              </a:solidFill>
              <a:latin typeface="Arial" panose="020B0704020202020204"/>
              <a:ea typeface="Arial" panose="020B0704020202020204"/>
              <a:cs typeface="Arial" panose="020B0704020202020204"/>
            </a:endParaRPr>
          </a:p>
        </p:txBody>
      </p:sp>
      <p:pic>
        <p:nvPicPr>
          <p:cNvPr id="15" name="Picture 14" descr="Figure 1 task schematic. Reference contexts have observed full screens. Query contexts have measured panel perturbations and predicted non-panel responses."/>
          <p:cNvPicPr>
            <a:picLocks noChangeAspect="1"/>
          </p:cNvPicPr>
          <p:nvPr/>
        </p:nvPicPr>
        <p:blipFill>
          <a:blip r:embed="rId1"/>
          <a:stretch>
            <a:fillRect/>
          </a:stretch>
        </p:blipFill>
        <p:spPr>
          <a:xfrm>
            <a:off x="590550" y="2046764"/>
            <a:ext cx="4857750" cy="3116896"/>
          </a:xfrm>
          <a:prstGeom prst="rect">
            <a:avLst/>
          </a:prstGeom>
        </p:spPr>
      </p:pic>
      <p:sp>
        <p:nvSpPr>
          <p:cNvPr id="5" name="Known in reference cell lines"/>
          <p:cNvSpPr>
            <a:spLocks noGrp="1"/>
          </p:cNvSpPr>
          <p:nvPr/>
        </p:nvSpPr>
        <p:spPr>
          <a:xfrm>
            <a:off x="6019800" y="1666875"/>
            <a:ext cx="5476875" cy="419100"/>
          </a:xfrm>
          <a:prstGeom prst="rect">
            <a:avLst/>
          </a:prstGeom>
          <a:noFill/>
          <a:ln w="0">
            <a:noFill/>
          </a:ln>
        </p:spPr>
        <p:txBody>
          <a:bodyPr anchor="ctr">
            <a:noAutofit/>
          </a:bodyPr>
          <a:lstStyle/>
          <a:p>
            <a:pPr>
              <a:defRPr sz="2100" b="1">
                <a:solidFill>
                  <a:srgbClr val="102D43"/>
                </a:solidFill>
                <a:latin typeface="Arial" panose="020B0704020202020204"/>
                <a:ea typeface="Arial" panose="020B0704020202020204"/>
                <a:cs typeface="Arial" panose="020B0704020202020204"/>
              </a:defRPr>
            </a:pPr>
            <a:r>
              <a:rPr sz="2100" b="1">
                <a:solidFill>
                  <a:srgbClr val="102D43"/>
                </a:solidFill>
                <a:latin typeface="Arial" panose="020B0704020202020204"/>
                <a:ea typeface="Arial" panose="020B0704020202020204"/>
                <a:cs typeface="Arial" panose="020B0704020202020204"/>
              </a:rPr>
              <a:t>Known in reference cell lines</a:t>
            </a:r>
            <a:endParaRPr sz="2100" b="1">
              <a:solidFill>
                <a:srgbClr val="102D43"/>
              </a:solidFill>
              <a:latin typeface="Arial" panose="020B0704020202020204"/>
              <a:ea typeface="Arial" panose="020B0704020202020204"/>
              <a:cs typeface="Arial" panose="020B0704020202020204"/>
            </a:endParaRPr>
          </a:p>
        </p:txBody>
      </p:sp>
      <p:sp>
        <p:nvSpPr>
          <p:cNvPr id="6" name="Responses to the full drug library"/>
          <p:cNvSpPr>
            <a:spLocks noGrp="1"/>
          </p:cNvSpPr>
          <p:nvPr/>
        </p:nvSpPr>
        <p:spPr>
          <a:xfrm>
            <a:off x="6019800" y="2133600"/>
            <a:ext cx="5476875" cy="533400"/>
          </a:xfrm>
          <a:prstGeom prst="rect">
            <a:avLst/>
          </a:prstGeom>
          <a:noFill/>
          <a:ln w="0">
            <a:noFill/>
          </a:ln>
        </p:spPr>
        <p:txBody>
          <a:bodyPr anchor="ctr">
            <a:noAutofit/>
          </a:bodyPr>
          <a:lstStyle/>
          <a:p>
            <a:pPr>
              <a:defRPr sz="2100" b="0">
                <a:solidFill>
                  <a:srgbClr val="102D43"/>
                </a:solidFill>
                <a:latin typeface="Arial" panose="020B0704020202020204"/>
                <a:ea typeface="Arial" panose="020B0704020202020204"/>
                <a:cs typeface="Arial" panose="020B0704020202020204"/>
              </a:defRPr>
            </a:pPr>
            <a:r>
              <a:rPr sz="2100" b="0">
                <a:solidFill>
                  <a:srgbClr val="102D43"/>
                </a:solidFill>
                <a:latin typeface="Arial" panose="020B0704020202020204"/>
                <a:ea typeface="Arial" panose="020B0704020202020204"/>
                <a:cs typeface="Arial" panose="020B0704020202020204"/>
              </a:rPr>
              <a:t>Responses to the full drug library</a:t>
            </a:r>
            <a:endParaRPr sz="2100" b="0">
              <a:solidFill>
                <a:srgbClr val="102D43"/>
              </a:solidFill>
              <a:latin typeface="Arial" panose="020B0704020202020204"/>
              <a:ea typeface="Arial" panose="020B0704020202020204"/>
              <a:cs typeface="Arial" panose="020B0704020202020204"/>
            </a:endParaRPr>
          </a:p>
        </p:txBody>
      </p:sp>
      <p:sp>
        <p:nvSpPr>
          <p:cNvPr id="7" name="Measured in a new cell line"/>
          <p:cNvSpPr>
            <a:spLocks noGrp="1"/>
          </p:cNvSpPr>
          <p:nvPr/>
        </p:nvSpPr>
        <p:spPr>
          <a:xfrm>
            <a:off x="6019800" y="3000375"/>
            <a:ext cx="5476875" cy="419100"/>
          </a:xfrm>
          <a:prstGeom prst="rect">
            <a:avLst/>
          </a:prstGeom>
          <a:noFill/>
          <a:ln w="0">
            <a:noFill/>
          </a:ln>
        </p:spPr>
        <p:txBody>
          <a:bodyPr anchor="ctr">
            <a:noAutofit/>
          </a:bodyPr>
          <a:lstStyle/>
          <a:p>
            <a:pPr>
              <a:defRPr sz="2100" b="1">
                <a:solidFill>
                  <a:srgbClr val="102D43"/>
                </a:solidFill>
                <a:latin typeface="Arial" panose="020B0704020202020204"/>
                <a:ea typeface="Arial" panose="020B0704020202020204"/>
                <a:cs typeface="Arial" panose="020B0704020202020204"/>
              </a:defRPr>
            </a:pPr>
            <a:r>
              <a:rPr sz="2100" b="1">
                <a:solidFill>
                  <a:srgbClr val="102D43"/>
                </a:solidFill>
                <a:latin typeface="Arial" panose="020B0704020202020204"/>
                <a:ea typeface="Arial" panose="020B0704020202020204"/>
                <a:cs typeface="Arial" panose="020B0704020202020204"/>
              </a:rPr>
              <a:t>Measured in a new cell line</a:t>
            </a:r>
            <a:endParaRPr sz="2100" b="1">
              <a:solidFill>
                <a:srgbClr val="102D43"/>
              </a:solidFill>
              <a:latin typeface="Arial" panose="020B0704020202020204"/>
              <a:ea typeface="Arial" panose="020B0704020202020204"/>
              <a:cs typeface="Arial" panose="020B0704020202020204"/>
            </a:endParaRPr>
          </a:p>
        </p:txBody>
      </p:sp>
      <p:sp>
        <p:nvSpPr>
          <p:cNvPr id="8" name="A panel of drug responses"/>
          <p:cNvSpPr>
            <a:spLocks noGrp="1"/>
          </p:cNvSpPr>
          <p:nvPr/>
        </p:nvSpPr>
        <p:spPr>
          <a:xfrm>
            <a:off x="6019800" y="3467100"/>
            <a:ext cx="5476875" cy="533400"/>
          </a:xfrm>
          <a:prstGeom prst="rect">
            <a:avLst/>
          </a:prstGeom>
          <a:noFill/>
          <a:ln w="0">
            <a:noFill/>
          </a:ln>
        </p:spPr>
        <p:txBody>
          <a:bodyPr anchor="ctr">
            <a:noAutofit/>
          </a:bodyPr>
          <a:lstStyle/>
          <a:p>
            <a:pPr>
              <a:defRPr sz="2100" b="0">
                <a:solidFill>
                  <a:srgbClr val="102D43"/>
                </a:solidFill>
                <a:latin typeface="Arial" panose="020B0704020202020204"/>
                <a:ea typeface="Arial" panose="020B0704020202020204"/>
                <a:cs typeface="Arial" panose="020B0704020202020204"/>
              </a:defRPr>
            </a:pPr>
            <a:r>
              <a:rPr sz="2100" b="0">
                <a:solidFill>
                  <a:srgbClr val="102D43"/>
                </a:solidFill>
                <a:latin typeface="Arial" panose="020B0704020202020204"/>
                <a:ea typeface="Arial" panose="020B0704020202020204"/>
                <a:cs typeface="Arial" panose="020B0704020202020204"/>
              </a:rPr>
              <a:t>A panel of drug responses</a:t>
            </a:r>
            <a:endParaRPr sz="2100" b="0">
              <a:solidFill>
                <a:srgbClr val="102D43"/>
              </a:solidFill>
              <a:latin typeface="Arial" panose="020B0704020202020204"/>
              <a:ea typeface="Arial" panose="020B0704020202020204"/>
              <a:cs typeface="Arial" panose="020B0704020202020204"/>
            </a:endParaRPr>
          </a:p>
        </p:txBody>
      </p:sp>
      <p:sp>
        <p:nvSpPr>
          <p:cNvPr id="9" name="Predicted"/>
          <p:cNvSpPr>
            <a:spLocks noGrp="1"/>
          </p:cNvSpPr>
          <p:nvPr/>
        </p:nvSpPr>
        <p:spPr>
          <a:xfrm>
            <a:off x="6019800" y="4333875"/>
            <a:ext cx="5476875" cy="419100"/>
          </a:xfrm>
          <a:prstGeom prst="rect">
            <a:avLst/>
          </a:prstGeom>
          <a:noFill/>
          <a:ln w="0">
            <a:noFill/>
          </a:ln>
        </p:spPr>
        <p:txBody>
          <a:bodyPr anchor="ctr">
            <a:noAutofit/>
          </a:bodyPr>
          <a:lstStyle/>
          <a:p>
            <a:pPr>
              <a:defRPr sz="2100" b="1">
                <a:solidFill>
                  <a:srgbClr val="EC633D"/>
                </a:solidFill>
                <a:latin typeface="Arial" panose="020B0704020202020204"/>
                <a:ea typeface="Arial" panose="020B0704020202020204"/>
                <a:cs typeface="Arial" panose="020B0704020202020204"/>
              </a:defRPr>
            </a:pPr>
            <a:r>
              <a:rPr sz="2100" b="1">
                <a:solidFill>
                  <a:srgbClr val="EC633D"/>
                </a:solidFill>
                <a:latin typeface="Arial" panose="020B0704020202020204"/>
                <a:ea typeface="Arial" panose="020B0704020202020204"/>
                <a:cs typeface="Arial" panose="020B0704020202020204"/>
              </a:rPr>
              <a:t>Predicted</a:t>
            </a:r>
            <a:endParaRPr sz="2100" b="1">
              <a:solidFill>
                <a:srgbClr val="EC633D"/>
              </a:solidFill>
              <a:latin typeface="Arial" panose="020B0704020202020204"/>
              <a:ea typeface="Arial" panose="020B0704020202020204"/>
              <a:cs typeface="Arial" panose="020B0704020202020204"/>
            </a:endParaRPr>
          </a:p>
        </p:txBody>
      </p:sp>
      <p:sp>
        <p:nvSpPr>
          <p:cNvPr id="10" name="Responses to the remaining drugs"/>
          <p:cNvSpPr>
            <a:spLocks noGrp="1"/>
          </p:cNvSpPr>
          <p:nvPr/>
        </p:nvSpPr>
        <p:spPr>
          <a:xfrm>
            <a:off x="6019800" y="4800600"/>
            <a:ext cx="5476875" cy="666750"/>
          </a:xfrm>
          <a:prstGeom prst="rect">
            <a:avLst/>
          </a:prstGeom>
          <a:noFill/>
          <a:ln w="0">
            <a:noFill/>
          </a:ln>
        </p:spPr>
        <p:txBody>
          <a:bodyPr anchor="ctr">
            <a:noAutofit/>
          </a:bodyPr>
          <a:lstStyle/>
          <a:p>
            <a:pPr>
              <a:defRPr sz="2100" b="0">
                <a:solidFill>
                  <a:srgbClr val="102D43"/>
                </a:solidFill>
                <a:latin typeface="Arial" panose="020B0704020202020204"/>
                <a:ea typeface="Arial" panose="020B0704020202020204"/>
                <a:cs typeface="Arial" panose="020B0704020202020204"/>
              </a:defRPr>
            </a:pPr>
            <a:r>
              <a:rPr lang="en-US" sz="2100" b="0">
                <a:solidFill>
                  <a:srgbClr val="102D43"/>
                </a:solidFill>
                <a:latin typeface="Arial" panose="020B0704020202020204"/>
                <a:ea typeface="Arial" panose="020B0704020202020204"/>
                <a:cs typeface="Arial" panose="020B0704020202020204"/>
              </a:rPr>
              <a:t>How new cell line r</a:t>
            </a:r>
            <a:r>
              <a:rPr sz="2100" b="0">
                <a:solidFill>
                  <a:srgbClr val="102D43"/>
                </a:solidFill>
                <a:latin typeface="Arial" panose="020B0704020202020204"/>
                <a:ea typeface="Arial" panose="020B0704020202020204"/>
                <a:cs typeface="Arial" panose="020B0704020202020204"/>
              </a:rPr>
              <a:t>esponses to the drugs</a:t>
            </a:r>
            <a:endParaRPr sz="2100" b="0">
              <a:solidFill>
                <a:srgbClr val="102D43"/>
              </a:solidFill>
              <a:latin typeface="Arial" panose="020B0704020202020204"/>
              <a:ea typeface="Arial" panose="020B0704020202020204"/>
              <a:cs typeface="Arial" panose="020B0704020202020204"/>
            </a:endParaRPr>
          </a:p>
        </p:txBody>
      </p:sp>
      <p:sp>
        <p:nvSpPr>
          <p:cNvPr id="11" name="Tahoe benchmark: 45 reference + 5 query cell lines; 120 pane"/>
          <p:cNvSpPr>
            <a:spLocks noGrp="1"/>
          </p:cNvSpPr>
          <p:nvPr/>
        </p:nvSpPr>
        <p:spPr>
          <a:xfrm>
            <a:off x="619125" y="5743575"/>
            <a:ext cx="10953750" cy="390525"/>
          </a:xfrm>
          <a:prstGeom prst="rect">
            <a:avLst/>
          </a:prstGeom>
          <a:noFill/>
          <a:ln w="0">
            <a:noFill/>
          </a:ln>
        </p:spPr>
        <p:txBody>
          <a:bodyPr anchor="ctr">
            <a:noAutofit/>
          </a:bodyPr>
          <a:lstStyle/>
          <a:p>
            <a:pPr>
              <a:defRPr sz="1725" b="0">
                <a:solidFill>
                  <a:srgbClr val="56636C"/>
                </a:solidFill>
                <a:latin typeface="Arial" panose="020B0704020202020204"/>
                <a:ea typeface="Arial" panose="020B0704020202020204"/>
                <a:cs typeface="Arial" panose="020B0704020202020204"/>
              </a:defRPr>
            </a:pPr>
            <a:r>
              <a:rPr sz="1725" b="0">
                <a:solidFill>
                  <a:srgbClr val="56636C"/>
                </a:solidFill>
                <a:latin typeface="Arial" panose="020B0704020202020204"/>
                <a:ea typeface="Arial" panose="020B0704020202020204"/>
                <a:cs typeface="Arial" panose="020B0704020202020204"/>
              </a:rPr>
              <a:t>Tahoe benchmark: 45 reference + 5 query cell lines; 120 panel + 240 target drugs</a:t>
            </a:r>
            <a:endParaRPr sz="1725" b="0">
              <a:solidFill>
                <a:srgbClr val="56636C"/>
              </a:solidFill>
              <a:latin typeface="Arial" panose="020B0704020202020204"/>
              <a:ea typeface="Arial" panose="020B0704020202020204"/>
              <a:cs typeface="Arial" panose="020B0704020202020204"/>
            </a:endParaRPr>
          </a:p>
        </p:txBody>
      </p:sp>
      <p:sp>
        <p:nvSpPr>
          <p:cNvPr id="4" name="Text Box 3"/>
          <p:cNvSpPr txBox="1"/>
          <p:nvPr/>
        </p:nvSpPr>
        <p:spPr>
          <a:xfrm>
            <a:off x="10056495" y="0"/>
            <a:ext cx="4064000" cy="368300"/>
          </a:xfrm>
          <a:prstGeom prst="rect">
            <a:avLst/>
          </a:prstGeom>
          <a:noFill/>
        </p:spPr>
        <p:txBody>
          <a:bodyPr wrap="square" rtlCol="0">
            <a:spAutoFit/>
          </a:bodyPr>
          <a:p>
            <a:r>
              <a:rPr lang="en-US"/>
              <a:t>ID: 200010263</a:t>
            </a: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2" name="The task: complete a drug screen in a new context"/>
          <p:cNvSpPr>
            <a:spLocks noGrp="1"/>
          </p:cNvSpPr>
          <p:nvPr/>
        </p:nvSpPr>
        <p:spPr>
          <a:xfrm>
            <a:off x="609600" y="409575"/>
            <a:ext cx="10972800" cy="962025"/>
          </a:xfrm>
          <a:prstGeom prst="rect">
            <a:avLst/>
          </a:prstGeom>
          <a:noFill/>
          <a:ln w="0">
            <a:noFill/>
          </a:ln>
        </p:spPr>
        <p:txBody>
          <a:bodyPr anchor="ctr">
            <a:noAutofit/>
          </a:bodyPr>
          <a:lstStyle/>
          <a:p>
            <a:pPr>
              <a:defRPr sz="3150" b="1">
                <a:solidFill>
                  <a:srgbClr val="102D43"/>
                </a:solidFill>
                <a:latin typeface="Arial" panose="020B0704020202020204"/>
                <a:ea typeface="Arial" panose="020B0704020202020204"/>
                <a:cs typeface="Arial" panose="020B0704020202020204"/>
              </a:defRPr>
            </a:pPr>
            <a:r>
              <a:rPr lang="en-US" sz="3150" b="1">
                <a:solidFill>
                  <a:srgbClr val="102D43"/>
                </a:solidFill>
                <a:latin typeface="Arial" panose="020B0704020202020204"/>
                <a:ea typeface="Arial" panose="020B0704020202020204"/>
                <a:cs typeface="Arial" panose="020B0704020202020204"/>
              </a:rPr>
              <a:t>What do we have?</a:t>
            </a:r>
            <a:endParaRPr lang="en-US" sz="3150" b="1">
              <a:solidFill>
                <a:srgbClr val="102D43"/>
              </a:solidFill>
              <a:latin typeface="Arial" panose="020B0704020202020204"/>
              <a:ea typeface="Arial" panose="020B0704020202020204"/>
              <a:cs typeface="Arial" panose="020B0704020202020204"/>
            </a:endParaRPr>
          </a:p>
        </p:txBody>
      </p:sp>
      <p:sp>
        <p:nvSpPr>
          <p:cNvPr id="2" name="Svensson et al., 2026, Fig. 1 (top left), pp. 3–4 and 13"/>
          <p:cNvSpPr>
            <a:spLocks noGrp="1"/>
          </p:cNvSpPr>
          <p:nvPr/>
        </p:nvSpPr>
        <p:spPr>
          <a:xfrm>
            <a:off x="609600" y="6305550"/>
            <a:ext cx="10382250" cy="333375"/>
          </a:xfrm>
          <a:prstGeom prst="rect">
            <a:avLst/>
          </a:prstGeom>
          <a:noFill/>
          <a:ln w="0">
            <a:noFill/>
          </a:ln>
        </p:spPr>
        <p:txBody>
          <a:bodyPr anchor="ctr">
            <a:noAutofit/>
          </a:bodyPr>
          <a:lstStyle/>
          <a:p>
            <a:pPr>
              <a:defRPr sz="1125" b="0">
                <a:solidFill>
                  <a:srgbClr val="56636C"/>
                </a:solidFill>
                <a:latin typeface="Arial" panose="020B0704020202020204"/>
                <a:ea typeface="Arial" panose="020B0704020202020204"/>
                <a:cs typeface="Arial" panose="020B0704020202020204"/>
              </a:defRPr>
            </a:pPr>
            <a:r>
              <a:rPr sz="1125" b="0">
                <a:solidFill>
                  <a:srgbClr val="56636C"/>
                </a:solidFill>
                <a:latin typeface="Arial" panose="020B0704020202020204"/>
                <a:ea typeface="Arial" panose="020B0704020202020204"/>
                <a:cs typeface="Arial" panose="020B0704020202020204"/>
              </a:rPr>
              <a:t>Svensson et al., 2026, Fig. 1 (top left), pp. 3–4 and 13</a:t>
            </a:r>
            <a:endParaRPr sz="1125" b="0">
              <a:solidFill>
                <a:srgbClr val="56636C"/>
              </a:solidFill>
              <a:latin typeface="Arial" panose="020B0704020202020204"/>
              <a:ea typeface="Arial" panose="020B0704020202020204"/>
              <a:cs typeface="Arial" panose="020B0704020202020204"/>
            </a:endParaRPr>
          </a:p>
        </p:txBody>
      </p:sp>
      <p:sp>
        <p:nvSpPr>
          <p:cNvPr id="3" name="2 / 7"/>
          <p:cNvSpPr>
            <a:spLocks noGrp="1"/>
          </p:cNvSpPr>
          <p:nvPr/>
        </p:nvSpPr>
        <p:spPr>
          <a:xfrm>
            <a:off x="11049000" y="6305550"/>
            <a:ext cx="619125" cy="333375"/>
          </a:xfrm>
          <a:prstGeom prst="rect">
            <a:avLst/>
          </a:prstGeom>
          <a:noFill/>
          <a:ln w="0">
            <a:noFill/>
          </a:ln>
        </p:spPr>
        <p:txBody>
          <a:bodyPr anchor="ctr">
            <a:noAutofit/>
          </a:bodyPr>
          <a:lstStyle/>
          <a:p>
            <a:pPr>
              <a:defRPr sz="1200" b="0">
                <a:solidFill>
                  <a:srgbClr val="56636C"/>
                </a:solidFill>
                <a:latin typeface="Arial" panose="020B0704020202020204"/>
                <a:ea typeface="Arial" panose="020B0704020202020204"/>
                <a:cs typeface="Arial" panose="020B0704020202020204"/>
              </a:defRPr>
            </a:pPr>
            <a:r>
              <a:rPr sz="1200" b="0">
                <a:solidFill>
                  <a:srgbClr val="56636C"/>
                </a:solidFill>
                <a:latin typeface="Arial" panose="020B0704020202020204"/>
                <a:ea typeface="Arial" panose="020B0704020202020204"/>
                <a:cs typeface="Arial" panose="020B0704020202020204"/>
              </a:rPr>
              <a:t>3 / 8</a:t>
            </a:r>
            <a:endParaRPr sz="1200" b="0">
              <a:solidFill>
                <a:srgbClr val="56636C"/>
              </a:solidFill>
              <a:latin typeface="Arial" panose="020B0704020202020204"/>
              <a:ea typeface="Arial" panose="020B0704020202020204"/>
              <a:cs typeface="Arial" panose="020B0704020202020204"/>
            </a:endParaRPr>
          </a:p>
        </p:txBody>
      </p:sp>
      <p:sp>
        <p:nvSpPr>
          <p:cNvPr id="5" name="Known in reference cell lines"/>
          <p:cNvSpPr>
            <a:spLocks noGrp="1"/>
          </p:cNvSpPr>
          <p:nvPr/>
        </p:nvSpPr>
        <p:spPr>
          <a:xfrm>
            <a:off x="767715" y="2708910"/>
            <a:ext cx="5476875" cy="419100"/>
          </a:xfrm>
          <a:prstGeom prst="rect">
            <a:avLst/>
          </a:prstGeom>
          <a:noFill/>
          <a:ln w="0">
            <a:noFill/>
          </a:ln>
        </p:spPr>
        <p:txBody>
          <a:bodyPr anchor="ctr">
            <a:noAutofit/>
          </a:bodyPr>
          <a:lstStyle/>
          <a:p>
            <a:pPr>
              <a:defRPr sz="2100" b="1">
                <a:solidFill>
                  <a:srgbClr val="102D43"/>
                </a:solidFill>
                <a:latin typeface="Arial" panose="020B0704020202020204"/>
                <a:ea typeface="Arial" panose="020B0704020202020204"/>
                <a:cs typeface="Arial" panose="020B0704020202020204"/>
              </a:defRPr>
            </a:pPr>
            <a:r>
              <a:rPr lang="en-US" sz="2100" b="1">
                <a:solidFill>
                  <a:srgbClr val="102D43"/>
                </a:solidFill>
                <a:latin typeface="Arial" panose="020B0704020202020204"/>
                <a:ea typeface="Arial" panose="020B0704020202020204"/>
                <a:cs typeface="Arial" panose="020B0704020202020204"/>
              </a:rPr>
              <a:t>Tahoe benchmark</a:t>
            </a:r>
            <a:endParaRPr lang="en-US" sz="2100" b="1">
              <a:solidFill>
                <a:srgbClr val="102D43"/>
              </a:solidFill>
              <a:latin typeface="Arial" panose="020B0704020202020204"/>
              <a:ea typeface="Arial" panose="020B0704020202020204"/>
              <a:cs typeface="Arial" panose="020B0704020202020204"/>
            </a:endParaRPr>
          </a:p>
        </p:txBody>
      </p:sp>
      <p:sp>
        <p:nvSpPr>
          <p:cNvPr id="6" name="Responses to the full drug library"/>
          <p:cNvSpPr>
            <a:spLocks noGrp="1"/>
          </p:cNvSpPr>
          <p:nvPr/>
        </p:nvSpPr>
        <p:spPr>
          <a:xfrm>
            <a:off x="767715" y="3220720"/>
            <a:ext cx="10591800" cy="533400"/>
          </a:xfrm>
          <a:prstGeom prst="rect">
            <a:avLst/>
          </a:prstGeom>
          <a:noFill/>
          <a:ln w="0">
            <a:noFill/>
          </a:ln>
        </p:spPr>
        <p:txBody>
          <a:bodyPr anchor="ctr">
            <a:noAutofit/>
          </a:bodyPr>
          <a:lstStyle/>
          <a:p>
            <a:pPr>
              <a:defRPr sz="2100" b="0">
                <a:solidFill>
                  <a:srgbClr val="102D43"/>
                </a:solidFill>
                <a:latin typeface="Arial" panose="020B0704020202020204"/>
                <a:ea typeface="Arial" panose="020B0704020202020204"/>
                <a:cs typeface="Arial" panose="020B0704020202020204"/>
              </a:defRPr>
            </a:pPr>
            <a:r>
              <a:rPr lang="en-US" sz="2100" b="0">
                <a:solidFill>
                  <a:srgbClr val="102D43"/>
                </a:solidFill>
                <a:latin typeface="Arial" panose="020B0704020202020204"/>
                <a:ea typeface="Arial" panose="020B0704020202020204"/>
                <a:cs typeface="Arial" panose="020B0704020202020204"/>
              </a:rPr>
              <a:t>50 cell lines, 360 </a:t>
            </a:r>
            <a:r>
              <a:rPr lang="en-US" sz="2100" b="0">
                <a:solidFill>
                  <a:srgbClr val="102D43"/>
                </a:solidFill>
                <a:latin typeface="Arial" panose="020B0704020202020204"/>
                <a:ea typeface="Arial" panose="020B0704020202020204"/>
                <a:cs typeface="Arial" panose="020B0704020202020204"/>
              </a:rPr>
              <a:t>types of drugs, and 3 types of dose (0.5mg, 5mg, 50mg)</a:t>
            </a:r>
            <a:endParaRPr lang="en-US" sz="2100" b="0">
              <a:solidFill>
                <a:srgbClr val="102D43"/>
              </a:solidFill>
              <a:latin typeface="Arial" panose="020B0704020202020204"/>
              <a:ea typeface="Arial" panose="020B0704020202020204"/>
              <a:cs typeface="Arial" panose="020B0704020202020204"/>
            </a:endParaRPr>
          </a:p>
          <a:p>
            <a:pPr marL="914400" lvl="2" indent="457200">
              <a:defRPr sz="2100" b="0">
                <a:solidFill>
                  <a:srgbClr val="102D43"/>
                </a:solidFill>
                <a:latin typeface="Arial" panose="020B0704020202020204"/>
                <a:ea typeface="Arial" panose="020B0704020202020204"/>
                <a:cs typeface="Arial" panose="020B0704020202020204"/>
              </a:defRPr>
            </a:pPr>
            <a:endParaRPr lang="en-US" sz="2100" b="0">
              <a:solidFill>
                <a:srgbClr val="102D43"/>
              </a:solidFill>
              <a:latin typeface="Arial" panose="020B0704020202020204"/>
              <a:ea typeface="Arial" panose="020B0704020202020204"/>
              <a:cs typeface="Arial" panose="020B0704020202020204"/>
            </a:endParaRPr>
          </a:p>
        </p:txBody>
      </p:sp>
      <p:sp>
        <p:nvSpPr>
          <p:cNvPr id="7" name="Measured in a new cell line"/>
          <p:cNvSpPr>
            <a:spLocks noGrp="1"/>
          </p:cNvSpPr>
          <p:nvPr/>
        </p:nvSpPr>
        <p:spPr>
          <a:xfrm>
            <a:off x="695325" y="1268730"/>
            <a:ext cx="8569960" cy="419100"/>
          </a:xfrm>
          <a:prstGeom prst="rect">
            <a:avLst/>
          </a:prstGeom>
          <a:noFill/>
          <a:ln w="0">
            <a:noFill/>
          </a:ln>
        </p:spPr>
        <p:txBody>
          <a:bodyPr anchor="ctr">
            <a:noAutofit/>
          </a:bodyPr>
          <a:lstStyle/>
          <a:p>
            <a:pPr>
              <a:defRPr sz="2100" b="1">
                <a:solidFill>
                  <a:srgbClr val="102D43"/>
                </a:solidFill>
                <a:latin typeface="Arial" panose="020B0704020202020204"/>
                <a:ea typeface="Arial" panose="020B0704020202020204"/>
                <a:cs typeface="Arial" panose="020B0704020202020204"/>
              </a:defRPr>
            </a:pPr>
            <a:r>
              <a:rPr lang="en-US" sz="2100" b="1">
                <a:solidFill>
                  <a:srgbClr val="102D43"/>
                </a:solidFill>
                <a:latin typeface="Arial" panose="020B0704020202020204"/>
                <a:ea typeface="Arial" panose="020B0704020202020204"/>
                <a:cs typeface="Arial" panose="020B0704020202020204"/>
              </a:rPr>
              <a:t>Baseline (DMSO) single cell expression matrix over 50 cell lines</a:t>
            </a:r>
            <a:endParaRPr lang="en-US" sz="2100" b="1">
              <a:solidFill>
                <a:srgbClr val="102D43"/>
              </a:solidFill>
              <a:latin typeface="Arial" panose="020B0704020202020204"/>
              <a:ea typeface="Arial" panose="020B0704020202020204"/>
              <a:cs typeface="Arial" panose="020B0704020202020204"/>
            </a:endParaRPr>
          </a:p>
        </p:txBody>
      </p:sp>
      <p:sp>
        <p:nvSpPr>
          <p:cNvPr id="10" name="Responses to the remaining drugs"/>
          <p:cNvSpPr>
            <a:spLocks noGrp="1"/>
          </p:cNvSpPr>
          <p:nvPr/>
        </p:nvSpPr>
        <p:spPr>
          <a:xfrm>
            <a:off x="767715" y="4415155"/>
            <a:ext cx="5476875" cy="666750"/>
          </a:xfrm>
          <a:prstGeom prst="rect">
            <a:avLst/>
          </a:prstGeom>
          <a:noFill/>
          <a:ln w="0">
            <a:noFill/>
          </a:ln>
        </p:spPr>
        <p:txBody>
          <a:bodyPr anchor="ctr">
            <a:noAutofit/>
          </a:bodyPr>
          <a:lstStyle/>
          <a:p>
            <a:pPr>
              <a:defRPr sz="2100" b="0">
                <a:solidFill>
                  <a:srgbClr val="102D43"/>
                </a:solidFill>
                <a:latin typeface="Arial" panose="020B0704020202020204"/>
                <a:ea typeface="Arial" panose="020B0704020202020204"/>
                <a:cs typeface="Arial" panose="020B0704020202020204"/>
              </a:defRPr>
            </a:pPr>
            <a:r>
              <a:rPr lang="en-US" sz="2100" b="0">
                <a:solidFill>
                  <a:srgbClr val="102D43"/>
                </a:solidFill>
                <a:latin typeface="Arial" panose="020B0704020202020204"/>
                <a:ea typeface="Arial" panose="020B0704020202020204"/>
                <a:cs typeface="Arial" panose="020B0704020202020204"/>
              </a:rPr>
              <a:t>Measure: </a:t>
            </a:r>
            <a:endParaRPr lang="en-US" sz="2100" b="0">
              <a:solidFill>
                <a:srgbClr val="102D43"/>
              </a:solidFill>
              <a:latin typeface="Arial" panose="020B0704020202020204"/>
              <a:ea typeface="Arial" panose="020B0704020202020204"/>
              <a:cs typeface="Arial" panose="020B0704020202020204"/>
            </a:endParaRPr>
          </a:p>
        </p:txBody>
      </p:sp>
      <p:sp>
        <p:nvSpPr>
          <p:cNvPr id="11" name="Tahoe benchmark: 45 reference + 5 query cell lines; 120 pane"/>
          <p:cNvSpPr>
            <a:spLocks noGrp="1"/>
          </p:cNvSpPr>
          <p:nvPr/>
        </p:nvSpPr>
        <p:spPr>
          <a:xfrm>
            <a:off x="619125" y="5743575"/>
            <a:ext cx="10953750" cy="390525"/>
          </a:xfrm>
          <a:prstGeom prst="rect">
            <a:avLst/>
          </a:prstGeom>
          <a:noFill/>
          <a:ln w="0">
            <a:noFill/>
          </a:ln>
        </p:spPr>
        <p:txBody>
          <a:bodyPr anchor="ctr">
            <a:noAutofit/>
          </a:bodyPr>
          <a:lstStyle/>
          <a:p>
            <a:pPr>
              <a:defRPr sz="1725" b="0">
                <a:solidFill>
                  <a:srgbClr val="56636C"/>
                </a:solidFill>
                <a:latin typeface="Arial" panose="020B0704020202020204"/>
                <a:ea typeface="Arial" panose="020B0704020202020204"/>
                <a:cs typeface="Arial" panose="020B0704020202020204"/>
              </a:defRPr>
            </a:pPr>
            <a:r>
              <a:rPr sz="1725" b="0">
                <a:solidFill>
                  <a:srgbClr val="56636C"/>
                </a:solidFill>
                <a:latin typeface="Arial" panose="020B0704020202020204"/>
                <a:ea typeface="Arial" panose="020B0704020202020204"/>
                <a:cs typeface="Arial" panose="020B0704020202020204"/>
              </a:rPr>
              <a:t>Tahoe benchmark: 45 reference + 5 query cell lines; 120 panel + 240 target drugs</a:t>
            </a:r>
            <a:endParaRPr sz="1725" b="0">
              <a:solidFill>
                <a:srgbClr val="56636C"/>
              </a:solidFill>
              <a:latin typeface="Arial" panose="020B0704020202020204"/>
              <a:ea typeface="Arial" panose="020B0704020202020204"/>
              <a:cs typeface="Arial" panose="020B0704020202020204"/>
            </a:endParaRPr>
          </a:p>
        </p:txBody>
      </p:sp>
      <p:sp>
        <p:nvSpPr>
          <p:cNvPr id="4" name="Text Box 3"/>
          <p:cNvSpPr txBox="1"/>
          <p:nvPr/>
        </p:nvSpPr>
        <p:spPr>
          <a:xfrm>
            <a:off x="10056495" y="0"/>
            <a:ext cx="4064000" cy="368300"/>
          </a:xfrm>
          <a:prstGeom prst="rect">
            <a:avLst/>
          </a:prstGeom>
          <a:noFill/>
        </p:spPr>
        <p:txBody>
          <a:bodyPr wrap="square" rtlCol="0">
            <a:spAutoFit/>
          </a:bodyPr>
          <a:p>
            <a:r>
              <a:rPr lang="en-US"/>
              <a:t>ID: 200010263</a:t>
            </a:r>
            <a:endParaRPr lang="en-US"/>
          </a:p>
        </p:txBody>
      </p:sp>
      <p:sp>
        <p:nvSpPr>
          <p:cNvPr id="13" name="Text Box 12"/>
          <p:cNvSpPr txBox="1"/>
          <p:nvPr/>
        </p:nvSpPr>
        <p:spPr>
          <a:xfrm>
            <a:off x="2783840" y="3789045"/>
            <a:ext cx="6096000" cy="414020"/>
          </a:xfrm>
          <a:prstGeom prst="rect">
            <a:avLst/>
          </a:prstGeom>
          <a:noFill/>
        </p:spPr>
        <p:txBody>
          <a:bodyPr wrap="square" rtlCol="0" anchor="t">
            <a:spAutoFit/>
          </a:bodyPr>
          <a:p>
            <a:r>
              <a:rPr lang="en-US" sz="2100">
                <a:solidFill>
                  <a:srgbClr val="102D43"/>
                </a:solidFill>
                <a:latin typeface="Baskerville Regular" panose="02020502070401020303" charset="0"/>
                <a:ea typeface="Arial" panose="020B0704020202020204"/>
                <a:cs typeface="Baskerville Regular" panose="02020502070401020303" charset="0"/>
                <a:sym typeface="+mn-ea"/>
              </a:rPr>
              <a:t>Y(cell_line, drug, dose) = R (cell by genes)</a:t>
            </a:r>
            <a:endParaRPr lang="en-US" sz="2100">
              <a:solidFill>
                <a:srgbClr val="102D43"/>
              </a:solidFill>
              <a:latin typeface="Baskerville Regular" panose="02020502070401020303" charset="0"/>
              <a:ea typeface="Arial" panose="020B0704020202020204"/>
              <a:cs typeface="Baskerville Regular" panose="02020502070401020303" charset="0"/>
              <a:sym typeface="+mn-ea"/>
            </a:endParaRPr>
          </a:p>
        </p:txBody>
      </p:sp>
      <p:sp>
        <p:nvSpPr>
          <p:cNvPr id="14" name="A panel of drug responses"/>
          <p:cNvSpPr>
            <a:spLocks noGrp="1"/>
          </p:cNvSpPr>
          <p:nvPr/>
        </p:nvSpPr>
        <p:spPr>
          <a:xfrm>
            <a:off x="767715" y="1887220"/>
            <a:ext cx="7800340" cy="533400"/>
          </a:xfrm>
          <a:prstGeom prst="rect">
            <a:avLst/>
          </a:prstGeom>
          <a:noFill/>
          <a:ln w="0">
            <a:noFill/>
          </a:ln>
        </p:spPr>
        <p:txBody>
          <a:bodyPr anchor="ctr">
            <a:noAutofit/>
          </a:bodyPr>
          <a:lstStyle/>
          <a:p>
            <a:pPr>
              <a:defRPr sz="2100" b="0">
                <a:solidFill>
                  <a:srgbClr val="102D43"/>
                </a:solidFill>
                <a:latin typeface="Arial" panose="020B0704020202020204"/>
                <a:ea typeface="Arial" panose="020B0704020202020204"/>
                <a:cs typeface="Arial" panose="020B0704020202020204"/>
              </a:defRPr>
            </a:pPr>
            <a:endParaRPr lang="en-US" sz="2100" b="0">
              <a:solidFill>
                <a:srgbClr val="102D43"/>
              </a:solidFill>
              <a:latin typeface="Arial" panose="020B0704020202020204"/>
              <a:ea typeface="Arial" panose="020B0704020202020204"/>
              <a:cs typeface="Arial" panose="020B0704020202020204"/>
            </a:endParaRPr>
          </a:p>
        </p:txBody>
      </p:sp>
      <p:sp>
        <p:nvSpPr>
          <p:cNvPr id="17" name="Text Box 16"/>
          <p:cNvSpPr txBox="1"/>
          <p:nvPr/>
        </p:nvSpPr>
        <p:spPr>
          <a:xfrm>
            <a:off x="2855595" y="2061210"/>
            <a:ext cx="6096000" cy="414020"/>
          </a:xfrm>
          <a:prstGeom prst="rect">
            <a:avLst/>
          </a:prstGeom>
          <a:noFill/>
        </p:spPr>
        <p:txBody>
          <a:bodyPr wrap="square" rtlCol="0" anchor="t">
            <a:spAutoFit/>
          </a:bodyPr>
          <a:p>
            <a:r>
              <a:rPr lang="en-US" sz="2100">
                <a:solidFill>
                  <a:srgbClr val="102D43"/>
                </a:solidFill>
                <a:latin typeface="Baskerville Regular" panose="02020502070401020303" charset="0"/>
                <a:ea typeface="Arial" panose="020B0704020202020204"/>
                <a:cs typeface="Baskerville Regular" panose="02020502070401020303" charset="0"/>
                <a:sym typeface="+mn-ea"/>
              </a:rPr>
              <a:t>X(cell_line) = R (cell by genes)</a:t>
            </a:r>
            <a:endParaRPr lang="en-US" sz="2100">
              <a:solidFill>
                <a:srgbClr val="102D43"/>
              </a:solidFill>
              <a:latin typeface="Baskerville Regular" panose="02020502070401020303" charset="0"/>
              <a:ea typeface="Arial" panose="020B0704020202020204"/>
              <a:cs typeface="Baskerville Regular" panose="02020502070401020303" charset="0"/>
              <a:sym typeface="+mn-ea"/>
            </a:endParaRPr>
          </a:p>
        </p:txBody>
      </p:sp>
      <p:sp>
        <p:nvSpPr>
          <p:cNvPr id="18" name="Text Box 17"/>
          <p:cNvSpPr txBox="1"/>
          <p:nvPr/>
        </p:nvSpPr>
        <p:spPr>
          <a:xfrm>
            <a:off x="2855595" y="5064760"/>
            <a:ext cx="6096000" cy="414020"/>
          </a:xfrm>
          <a:prstGeom prst="rect">
            <a:avLst/>
          </a:prstGeom>
          <a:noFill/>
        </p:spPr>
        <p:txBody>
          <a:bodyPr wrap="square" rtlCol="0" anchor="t">
            <a:spAutoFit/>
          </a:bodyPr>
          <a:p>
            <a:r>
              <a:rPr lang="en-US" sz="2100">
                <a:solidFill>
                  <a:srgbClr val="102D43"/>
                </a:solidFill>
                <a:latin typeface="Baskerville Regular" panose="02020502070401020303" charset="0"/>
                <a:ea typeface="Arial" panose="020B0704020202020204"/>
                <a:cs typeface="Baskerville Regular" panose="02020502070401020303" charset="0"/>
                <a:sym typeface="+mn-ea"/>
              </a:rPr>
              <a:t>Y(cell_line, drug, dose) = R (cell by genes)</a:t>
            </a:r>
            <a:endParaRPr lang="en-US" sz="2100">
              <a:solidFill>
                <a:srgbClr val="102D43"/>
              </a:solidFill>
              <a:latin typeface="Baskerville Regular" panose="02020502070401020303" charset="0"/>
              <a:ea typeface="Arial" panose="020B0704020202020204"/>
              <a:cs typeface="Baskerville Regular" panose="02020502070401020303" charset="0"/>
              <a:sym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1" name="Rhaister learns a weighted sum of panel responses"/>
          <p:cNvSpPr>
            <a:spLocks noGrp="1"/>
          </p:cNvSpPr>
          <p:nvPr/>
        </p:nvSpPr>
        <p:spPr>
          <a:xfrm>
            <a:off x="609600" y="409575"/>
            <a:ext cx="10972800" cy="962025"/>
          </a:xfrm>
          <a:prstGeom prst="rect">
            <a:avLst/>
          </a:prstGeom>
          <a:noFill/>
          <a:ln w="0">
            <a:noFill/>
          </a:ln>
        </p:spPr>
        <p:txBody>
          <a:bodyPr anchor="ctr">
            <a:noAutofit/>
          </a:bodyPr>
          <a:lstStyle/>
          <a:p>
            <a:pPr>
              <a:defRPr sz="3150" b="1">
                <a:solidFill>
                  <a:srgbClr val="102D43"/>
                </a:solidFill>
                <a:latin typeface="Arial" panose="020B0704020202020204"/>
                <a:ea typeface="Arial" panose="020B0704020202020204"/>
                <a:cs typeface="Arial" panose="020B0704020202020204"/>
              </a:defRPr>
            </a:pPr>
            <a:r>
              <a:rPr sz="3150" b="1">
                <a:solidFill>
                  <a:srgbClr val="102D43"/>
                </a:solidFill>
                <a:latin typeface="Arial" panose="020B0704020202020204"/>
                <a:ea typeface="Arial" panose="020B0704020202020204"/>
                <a:cs typeface="Arial" panose="020B0704020202020204"/>
              </a:rPr>
              <a:t>Rhaister learns a weighted sum of panel responses</a:t>
            </a:r>
            <a:endParaRPr sz="3150" b="1">
              <a:solidFill>
                <a:srgbClr val="102D43"/>
              </a:solidFill>
              <a:latin typeface="Arial" panose="020B0704020202020204"/>
              <a:ea typeface="Arial" panose="020B0704020202020204"/>
              <a:cs typeface="Arial" panose="020B0704020202020204"/>
            </a:endParaRPr>
          </a:p>
        </p:txBody>
      </p:sp>
      <p:sp>
        <p:nvSpPr>
          <p:cNvPr id="2" name="Svensson et al., 2026, p. 11, Eq. 4 and Eqs. 1–7"/>
          <p:cNvSpPr>
            <a:spLocks noGrp="1"/>
          </p:cNvSpPr>
          <p:nvPr/>
        </p:nvSpPr>
        <p:spPr>
          <a:xfrm>
            <a:off x="609600" y="6305550"/>
            <a:ext cx="10382250" cy="333375"/>
          </a:xfrm>
          <a:prstGeom prst="rect">
            <a:avLst/>
          </a:prstGeom>
          <a:noFill/>
          <a:ln w="0">
            <a:noFill/>
          </a:ln>
        </p:spPr>
        <p:txBody>
          <a:bodyPr anchor="ctr">
            <a:noAutofit/>
          </a:bodyPr>
          <a:lstStyle/>
          <a:p>
            <a:pPr>
              <a:defRPr sz="1125" b="0">
                <a:solidFill>
                  <a:srgbClr val="56636C"/>
                </a:solidFill>
                <a:latin typeface="Arial" panose="020B0704020202020204"/>
                <a:ea typeface="Arial" panose="020B0704020202020204"/>
                <a:cs typeface="Arial" panose="020B0704020202020204"/>
              </a:defRPr>
            </a:pPr>
            <a:r>
              <a:rPr sz="1125" b="0">
                <a:solidFill>
                  <a:srgbClr val="56636C"/>
                </a:solidFill>
                <a:latin typeface="Arial" panose="020B0704020202020204"/>
                <a:ea typeface="Arial" panose="020B0704020202020204"/>
                <a:cs typeface="Arial" panose="020B0704020202020204"/>
              </a:rPr>
              <a:t>Svensson et al., 2026, p. 11, Eq. 4 and Eqs. 1–7</a:t>
            </a:r>
            <a:endParaRPr sz="1125" b="0">
              <a:solidFill>
                <a:srgbClr val="56636C"/>
              </a:solidFill>
              <a:latin typeface="Arial" panose="020B0704020202020204"/>
              <a:ea typeface="Arial" panose="020B0704020202020204"/>
              <a:cs typeface="Arial" panose="020B0704020202020204"/>
            </a:endParaRPr>
          </a:p>
        </p:txBody>
      </p:sp>
      <p:sp>
        <p:nvSpPr>
          <p:cNvPr id="3" name="3 / 7"/>
          <p:cNvSpPr>
            <a:spLocks noGrp="1"/>
          </p:cNvSpPr>
          <p:nvPr/>
        </p:nvSpPr>
        <p:spPr>
          <a:xfrm>
            <a:off x="11049000" y="6305550"/>
            <a:ext cx="619125" cy="333375"/>
          </a:xfrm>
          <a:prstGeom prst="rect">
            <a:avLst/>
          </a:prstGeom>
          <a:noFill/>
          <a:ln w="0">
            <a:noFill/>
          </a:ln>
        </p:spPr>
        <p:txBody>
          <a:bodyPr anchor="ctr">
            <a:noAutofit/>
          </a:bodyPr>
          <a:lstStyle/>
          <a:p>
            <a:pPr>
              <a:defRPr sz="1200" b="0">
                <a:solidFill>
                  <a:srgbClr val="56636C"/>
                </a:solidFill>
                <a:latin typeface="Arial" panose="020B0704020202020204"/>
                <a:ea typeface="Arial" panose="020B0704020202020204"/>
                <a:cs typeface="Arial" panose="020B0704020202020204"/>
              </a:defRPr>
            </a:pPr>
            <a:r>
              <a:rPr sz="1200" b="0">
                <a:solidFill>
                  <a:srgbClr val="56636C"/>
                </a:solidFill>
                <a:latin typeface="Arial" panose="020B0704020202020204"/>
                <a:ea typeface="Arial" panose="020B0704020202020204"/>
                <a:cs typeface="Arial" panose="020B0704020202020204"/>
              </a:rPr>
              <a:t>4 / 8</a:t>
            </a:r>
            <a:endParaRPr sz="1200" b="0">
              <a:solidFill>
                <a:srgbClr val="56636C"/>
              </a:solidFill>
              <a:latin typeface="Arial" panose="020B0704020202020204"/>
              <a:ea typeface="Arial" panose="020B0704020202020204"/>
              <a:cs typeface="Arial" panose="020B0704020202020204"/>
            </a:endParaRPr>
          </a:p>
        </p:txBody>
      </p:sp>
      <p:sp>
        <p:nvSpPr>
          <p:cNvPr id="4" name="Learn the weights across reference contexts"/>
          <p:cNvSpPr>
            <a:spLocks noGrp="1"/>
          </p:cNvSpPr>
          <p:nvPr/>
        </p:nvSpPr>
        <p:spPr>
          <a:xfrm>
            <a:off x="619125" y="1600200"/>
            <a:ext cx="10953750" cy="571500"/>
          </a:xfrm>
          <a:prstGeom prst="rect">
            <a:avLst/>
          </a:prstGeom>
          <a:noFill/>
          <a:ln w="0">
            <a:noFill/>
          </a:ln>
        </p:spPr>
        <p:txBody>
          <a:bodyPr anchor="ctr">
            <a:noAutofit/>
          </a:bodyPr>
          <a:lstStyle/>
          <a:p>
            <a:pPr>
              <a:defRPr sz="2400" b="0">
                <a:solidFill>
                  <a:srgbClr val="102D43"/>
                </a:solidFill>
                <a:latin typeface="Arial" panose="020B0704020202020204"/>
                <a:ea typeface="Arial" panose="020B0704020202020204"/>
                <a:cs typeface="Arial" panose="020B0704020202020204"/>
              </a:defRPr>
            </a:pPr>
            <a:r>
              <a:rPr sz="2400" b="0">
                <a:solidFill>
                  <a:srgbClr val="102D43"/>
                </a:solidFill>
                <a:latin typeface="Arial" panose="020B0704020202020204"/>
                <a:ea typeface="Arial" panose="020B0704020202020204"/>
                <a:cs typeface="Arial" panose="020B0704020202020204"/>
              </a:rPr>
              <a:t>Learn the weights across reference contexts</a:t>
            </a:r>
            <a:endParaRPr sz="2400" b="0">
              <a:solidFill>
                <a:srgbClr val="102D43"/>
              </a:solidFill>
              <a:latin typeface="Arial" panose="020B0704020202020204"/>
              <a:ea typeface="Arial" panose="020B0704020202020204"/>
              <a:cs typeface="Arial" panose="020B0704020202020204"/>
            </a:endParaRPr>
          </a:p>
        </p:txBody>
      </p:sp>
      <p:pic>
        <p:nvPicPr>
          <p:cNvPr id="15" name="Picture 14" descr="Predicted response for a query context, target perturbation and gene equals the weighted sum of observed panel perturbation responses for that gene."/>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2360336" y="2514600"/>
            <a:ext cx="7461804" cy="1514475"/>
          </a:xfrm>
          <a:prstGeom prst="rect">
            <a:avLst/>
          </a:prstGeom>
        </p:spPr>
      </p:pic>
      <p:sp>
        <p:nvSpPr>
          <p:cNvPr id="6" name="Predicted target response"/>
          <p:cNvSpPr>
            <a:spLocks noGrp="1"/>
          </p:cNvSpPr>
          <p:nvPr/>
        </p:nvSpPr>
        <p:spPr>
          <a:xfrm>
            <a:off x="885825" y="4343400"/>
            <a:ext cx="5048250" cy="390525"/>
          </a:xfrm>
          <a:prstGeom prst="rect">
            <a:avLst/>
          </a:prstGeom>
          <a:noFill/>
          <a:ln w="0">
            <a:noFill/>
          </a:ln>
        </p:spPr>
        <p:txBody>
          <a:bodyPr anchor="ctr">
            <a:noAutofit/>
          </a:bodyPr>
          <a:lstStyle/>
          <a:p>
            <a:pPr>
              <a:defRPr sz="2025" b="1">
                <a:solidFill>
                  <a:srgbClr val="EC633D"/>
                </a:solidFill>
                <a:latin typeface="Arial" panose="020B0704020202020204"/>
                <a:ea typeface="Arial" panose="020B0704020202020204"/>
                <a:cs typeface="Arial" panose="020B0704020202020204"/>
              </a:defRPr>
            </a:pPr>
            <a:r>
              <a:rPr sz="2025" b="1">
                <a:solidFill>
                  <a:srgbClr val="EC633D"/>
                </a:solidFill>
                <a:latin typeface="Arial" panose="020B0704020202020204"/>
                <a:ea typeface="Arial" panose="020B0704020202020204"/>
                <a:cs typeface="Arial" panose="020B0704020202020204"/>
              </a:rPr>
              <a:t>Predicted target response</a:t>
            </a:r>
            <a:endParaRPr sz="2025" b="1">
              <a:solidFill>
                <a:srgbClr val="EC633D"/>
              </a:solidFill>
              <a:latin typeface="Arial" panose="020B0704020202020204"/>
              <a:ea typeface="Arial" panose="020B0704020202020204"/>
              <a:cs typeface="Arial" panose="020B0704020202020204"/>
            </a:endParaRPr>
          </a:p>
        </p:txBody>
      </p:sp>
      <p:sp>
        <p:nvSpPr>
          <p:cNvPr id="7" name="One gene, one target drug,&#10;one query context"/>
          <p:cNvSpPr>
            <a:spLocks noGrp="1"/>
          </p:cNvSpPr>
          <p:nvPr/>
        </p:nvSpPr>
        <p:spPr>
          <a:xfrm>
            <a:off x="885825" y="4829175"/>
            <a:ext cx="4762500" cy="809625"/>
          </a:xfrm>
          <a:prstGeom prst="rect">
            <a:avLst/>
          </a:prstGeom>
          <a:noFill/>
          <a:ln w="0">
            <a:noFill/>
          </a:ln>
        </p:spPr>
        <p:txBody>
          <a:bodyPr anchor="ctr">
            <a:noAutofit/>
          </a:bodyPr>
          <a:lstStyle/>
          <a:p>
            <a:pPr>
              <a:defRPr sz="2025" b="0">
                <a:solidFill>
                  <a:srgbClr val="102D43"/>
                </a:solidFill>
                <a:latin typeface="Arial" panose="020B0704020202020204"/>
                <a:ea typeface="Arial" panose="020B0704020202020204"/>
                <a:cs typeface="Arial" panose="020B0704020202020204"/>
              </a:defRPr>
            </a:pPr>
            <a:r>
              <a:rPr sz="2025" b="0">
                <a:solidFill>
                  <a:srgbClr val="102D43"/>
                </a:solidFill>
                <a:latin typeface="Arial" panose="020B0704020202020204"/>
                <a:ea typeface="Arial" panose="020B0704020202020204"/>
                <a:cs typeface="Arial" panose="020B0704020202020204"/>
              </a:rPr>
              <a:t>One gene, one target drug,</a:t>
            </a:r>
            <a:endParaRPr sz="2025" b="0">
              <a:solidFill>
                <a:srgbClr val="102D43"/>
              </a:solidFill>
              <a:latin typeface="Arial" panose="020B0704020202020204"/>
              <a:ea typeface="Arial" panose="020B0704020202020204"/>
              <a:cs typeface="Arial" panose="020B0704020202020204"/>
            </a:endParaRPr>
          </a:p>
          <a:p>
            <a:pPr>
              <a:defRPr sz="2025" b="0">
                <a:solidFill>
                  <a:srgbClr val="102D43"/>
                </a:solidFill>
                <a:latin typeface="Arial" panose="020B0704020202020204"/>
                <a:ea typeface="Arial" panose="020B0704020202020204"/>
                <a:cs typeface="Arial" panose="020B0704020202020204"/>
              </a:defRPr>
            </a:pPr>
            <a:r>
              <a:rPr sz="2025" b="0">
                <a:solidFill>
                  <a:srgbClr val="102D43"/>
                </a:solidFill>
                <a:latin typeface="Arial" panose="020B0704020202020204"/>
                <a:ea typeface="Arial" panose="020B0704020202020204"/>
                <a:cs typeface="Arial" panose="020B0704020202020204"/>
              </a:rPr>
              <a:t>one query context</a:t>
            </a:r>
            <a:endParaRPr sz="2025" b="0">
              <a:solidFill>
                <a:srgbClr val="102D43"/>
              </a:solidFill>
              <a:latin typeface="Arial" panose="020B0704020202020204"/>
              <a:ea typeface="Arial" panose="020B0704020202020204"/>
              <a:cs typeface="Arial" panose="020B0704020202020204"/>
            </a:endParaRPr>
          </a:p>
        </p:txBody>
      </p:sp>
      <p:sp>
        <p:nvSpPr>
          <p:cNvPr id="8" name="Observed panel responses"/>
          <p:cNvSpPr>
            <a:spLocks noGrp="1"/>
          </p:cNvSpPr>
          <p:nvPr/>
        </p:nvSpPr>
        <p:spPr>
          <a:xfrm>
            <a:off x="6696075" y="4343400"/>
            <a:ext cx="4857750" cy="390525"/>
          </a:xfrm>
          <a:prstGeom prst="rect">
            <a:avLst/>
          </a:prstGeom>
          <a:noFill/>
          <a:ln w="0">
            <a:noFill/>
          </a:ln>
        </p:spPr>
        <p:txBody>
          <a:bodyPr anchor="ctr">
            <a:noAutofit/>
          </a:bodyPr>
          <a:lstStyle/>
          <a:p>
            <a:pPr>
              <a:defRPr sz="2025" b="1">
                <a:solidFill>
                  <a:srgbClr val="102D43"/>
                </a:solidFill>
                <a:latin typeface="Arial" panose="020B0704020202020204"/>
                <a:ea typeface="Arial" panose="020B0704020202020204"/>
                <a:cs typeface="Arial" panose="020B0704020202020204"/>
              </a:defRPr>
            </a:pPr>
            <a:r>
              <a:rPr sz="2025" b="1">
                <a:solidFill>
                  <a:srgbClr val="102D43"/>
                </a:solidFill>
                <a:latin typeface="Arial" panose="020B0704020202020204"/>
                <a:ea typeface="Arial" panose="020B0704020202020204"/>
                <a:cs typeface="Arial" panose="020B0704020202020204"/>
              </a:rPr>
              <a:t>Observed panel responses</a:t>
            </a:r>
            <a:endParaRPr sz="2025" b="1">
              <a:solidFill>
                <a:srgbClr val="102D43"/>
              </a:solidFill>
              <a:latin typeface="Arial" panose="020B0704020202020204"/>
              <a:ea typeface="Arial" panose="020B0704020202020204"/>
              <a:cs typeface="Arial" panose="020B0704020202020204"/>
            </a:endParaRPr>
          </a:p>
        </p:txBody>
      </p:sp>
      <p:sp>
        <p:nvSpPr>
          <p:cNvPr id="9" name="Weights fitted by ridge regression&#10;for each target drug and "/>
          <p:cNvSpPr>
            <a:spLocks noGrp="1"/>
          </p:cNvSpPr>
          <p:nvPr/>
        </p:nvSpPr>
        <p:spPr>
          <a:xfrm>
            <a:off x="6696075" y="4829175"/>
            <a:ext cx="4857750" cy="809625"/>
          </a:xfrm>
          <a:prstGeom prst="rect">
            <a:avLst/>
          </a:prstGeom>
          <a:noFill/>
          <a:ln w="0">
            <a:noFill/>
          </a:ln>
        </p:spPr>
        <p:txBody>
          <a:bodyPr anchor="ctr">
            <a:noAutofit/>
          </a:bodyPr>
          <a:lstStyle/>
          <a:p>
            <a:pPr>
              <a:defRPr sz="2025" b="0">
                <a:solidFill>
                  <a:srgbClr val="102D43"/>
                </a:solidFill>
                <a:latin typeface="Arial" panose="020B0704020202020204"/>
                <a:ea typeface="Arial" panose="020B0704020202020204"/>
                <a:cs typeface="Arial" panose="020B0704020202020204"/>
              </a:defRPr>
            </a:pPr>
            <a:r>
              <a:rPr sz="2025" b="0">
                <a:solidFill>
                  <a:srgbClr val="102D43"/>
                </a:solidFill>
                <a:latin typeface="Arial" panose="020B0704020202020204"/>
                <a:ea typeface="Arial" panose="020B0704020202020204"/>
                <a:cs typeface="Arial" panose="020B0704020202020204"/>
              </a:rPr>
              <a:t>Weights fitted by ridge regression</a:t>
            </a:r>
            <a:endParaRPr sz="2025" b="0">
              <a:solidFill>
                <a:srgbClr val="102D43"/>
              </a:solidFill>
              <a:latin typeface="Arial" panose="020B0704020202020204"/>
              <a:ea typeface="Arial" panose="020B0704020202020204"/>
              <a:cs typeface="Arial" panose="020B0704020202020204"/>
            </a:endParaRPr>
          </a:p>
          <a:p>
            <a:pPr>
              <a:defRPr sz="2025" b="0">
                <a:solidFill>
                  <a:srgbClr val="102D43"/>
                </a:solidFill>
                <a:latin typeface="Arial" panose="020B0704020202020204"/>
                <a:ea typeface="Arial" panose="020B0704020202020204"/>
                <a:cs typeface="Arial" panose="020B0704020202020204"/>
              </a:defRPr>
            </a:pPr>
            <a:r>
              <a:rPr sz="2025" b="0">
                <a:solidFill>
                  <a:srgbClr val="102D43"/>
                </a:solidFill>
                <a:latin typeface="Arial" panose="020B0704020202020204"/>
                <a:ea typeface="Arial" panose="020B0704020202020204"/>
                <a:cs typeface="Arial" panose="020B0704020202020204"/>
              </a:rPr>
              <a:t>for each target drug and gene</a:t>
            </a:r>
            <a:endParaRPr sz="2025" b="0">
              <a:solidFill>
                <a:srgbClr val="102D43"/>
              </a:solidFill>
              <a:latin typeface="Arial" panose="020B0704020202020204"/>
              <a:ea typeface="Arial" panose="020B0704020202020204"/>
              <a:cs typeface="Arial" panose="020B0704020202020204"/>
            </a:endParaRPr>
          </a:p>
        </p:txBody>
      </p:sp>
      <p:sp>
        <p:nvSpPr>
          <p:cNvPr id="10" name="Outputs: expression delta, log₂ fold change, and MWU signifi"/>
          <p:cNvSpPr>
            <a:spLocks noGrp="1"/>
          </p:cNvSpPr>
          <p:nvPr/>
        </p:nvSpPr>
        <p:spPr>
          <a:xfrm>
            <a:off x="619125" y="5762625"/>
            <a:ext cx="10953750" cy="352425"/>
          </a:xfrm>
          <a:prstGeom prst="rect">
            <a:avLst/>
          </a:prstGeom>
          <a:noFill/>
          <a:ln w="0">
            <a:noFill/>
          </a:ln>
        </p:spPr>
        <p:txBody>
          <a:bodyPr anchor="ctr">
            <a:noAutofit/>
          </a:bodyPr>
          <a:lstStyle/>
          <a:p>
            <a:pPr>
              <a:defRPr sz="1725" b="0">
                <a:solidFill>
                  <a:srgbClr val="56636C"/>
                </a:solidFill>
                <a:latin typeface="Arial" panose="020B0704020202020204"/>
                <a:ea typeface="Arial" panose="020B0704020202020204"/>
                <a:cs typeface="Arial" panose="020B0704020202020204"/>
              </a:defRPr>
            </a:pPr>
            <a:r>
              <a:rPr sz="1725" b="0">
                <a:solidFill>
                  <a:srgbClr val="56636C"/>
                </a:solidFill>
                <a:latin typeface="Arial" panose="020B0704020202020204"/>
                <a:ea typeface="Arial" panose="020B0704020202020204"/>
                <a:cs typeface="Arial" panose="020B0704020202020204"/>
              </a:rPr>
              <a:t>Outputs: expression delta, log₂ fold change, and MWU significance statistics</a:t>
            </a:r>
            <a:endParaRPr sz="1725" b="0">
              <a:solidFill>
                <a:srgbClr val="56636C"/>
              </a:solidFill>
              <a:latin typeface="Arial" panose="020B0704020202020204"/>
              <a:ea typeface="Arial" panose="020B0704020202020204"/>
              <a:cs typeface="Arial" panose="020B0704020202020204"/>
            </a:endParaRPr>
          </a:p>
        </p:txBody>
      </p:sp>
      <p:sp>
        <p:nvSpPr>
          <p:cNvPr id="5" name="Text Box 4"/>
          <p:cNvSpPr txBox="1"/>
          <p:nvPr/>
        </p:nvSpPr>
        <p:spPr>
          <a:xfrm>
            <a:off x="10056495" y="0"/>
            <a:ext cx="4064000" cy="368300"/>
          </a:xfrm>
          <a:prstGeom prst="rect">
            <a:avLst/>
          </a:prstGeom>
          <a:noFill/>
        </p:spPr>
        <p:txBody>
          <a:bodyPr wrap="square" rtlCol="0">
            <a:spAutoFit/>
          </a:bodyPr>
          <a:p>
            <a:r>
              <a:rPr lang="en-US"/>
              <a:t>ID: 200010263</a:t>
            </a: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8" name="Rhaister leads the Tahoe-100M comparison"/>
          <p:cNvSpPr>
            <a:spLocks noGrp="1"/>
          </p:cNvSpPr>
          <p:nvPr/>
        </p:nvSpPr>
        <p:spPr>
          <a:xfrm>
            <a:off x="609600" y="409575"/>
            <a:ext cx="10972800" cy="962025"/>
          </a:xfrm>
          <a:prstGeom prst="rect">
            <a:avLst/>
          </a:prstGeom>
          <a:noFill/>
          <a:ln w="0">
            <a:noFill/>
          </a:ln>
        </p:spPr>
        <p:txBody>
          <a:bodyPr anchor="ctr">
            <a:noAutofit/>
          </a:bodyPr>
          <a:lstStyle/>
          <a:p>
            <a:pPr>
              <a:defRPr sz="3150" b="1">
                <a:solidFill>
                  <a:srgbClr val="102D43"/>
                </a:solidFill>
                <a:latin typeface="Arial" panose="020B0704020202020204"/>
                <a:ea typeface="Arial" panose="020B0704020202020204"/>
                <a:cs typeface="Arial" panose="020B0704020202020204"/>
              </a:defRPr>
            </a:pPr>
            <a:r>
              <a:rPr sz="3150" b="1">
                <a:solidFill>
                  <a:srgbClr val="102D43"/>
                </a:solidFill>
                <a:latin typeface="Arial" panose="020B0704020202020204"/>
                <a:ea typeface="Arial" panose="020B0704020202020204"/>
                <a:cs typeface="Arial" panose="020B0704020202020204"/>
              </a:rPr>
              <a:t>Rhaister leads the Tahoe-100M comparison</a:t>
            </a:r>
            <a:endParaRPr sz="3150" b="1">
              <a:solidFill>
                <a:srgbClr val="102D43"/>
              </a:solidFill>
              <a:latin typeface="Arial" panose="020B0704020202020204"/>
              <a:ea typeface="Arial" panose="020B0704020202020204"/>
              <a:cs typeface="Arial" panose="020B0704020202020204"/>
            </a:endParaRPr>
          </a:p>
        </p:txBody>
      </p:sp>
      <p:sp>
        <p:nvSpPr>
          <p:cNvPr id="2" name="Svensson et al., 2026, Fig. 1, Tahoe-100M panel; p. 12, half"/>
          <p:cNvSpPr>
            <a:spLocks noGrp="1"/>
          </p:cNvSpPr>
          <p:nvPr/>
        </p:nvSpPr>
        <p:spPr>
          <a:xfrm>
            <a:off x="609600" y="6305550"/>
            <a:ext cx="10382250" cy="333375"/>
          </a:xfrm>
          <a:prstGeom prst="rect">
            <a:avLst/>
          </a:prstGeom>
          <a:noFill/>
          <a:ln w="0">
            <a:noFill/>
          </a:ln>
        </p:spPr>
        <p:txBody>
          <a:bodyPr anchor="ctr">
            <a:noAutofit/>
          </a:bodyPr>
          <a:lstStyle/>
          <a:p>
            <a:pPr>
              <a:defRPr sz="1125" b="0">
                <a:solidFill>
                  <a:srgbClr val="56636C"/>
                </a:solidFill>
                <a:latin typeface="Arial" panose="020B0704020202020204"/>
                <a:ea typeface="Arial" panose="020B0704020202020204"/>
                <a:cs typeface="Arial" panose="020B0704020202020204"/>
              </a:defRPr>
            </a:pPr>
            <a:r>
              <a:rPr sz="1125" b="0">
                <a:solidFill>
                  <a:srgbClr val="56636C"/>
                </a:solidFill>
                <a:latin typeface="Arial" panose="020B0704020202020204"/>
                <a:ea typeface="Arial" panose="020B0704020202020204"/>
                <a:cs typeface="Arial" panose="020B0704020202020204"/>
              </a:rPr>
              <a:t>Svensson et al., 2026, Fig. 1, Tahoe-100M panel; p. 12, half-sample reference</a:t>
            </a:r>
            <a:endParaRPr sz="1125" b="0">
              <a:solidFill>
                <a:srgbClr val="56636C"/>
              </a:solidFill>
              <a:latin typeface="Arial" panose="020B0704020202020204"/>
              <a:ea typeface="Arial" panose="020B0704020202020204"/>
              <a:cs typeface="Arial" panose="020B0704020202020204"/>
            </a:endParaRPr>
          </a:p>
        </p:txBody>
      </p:sp>
      <p:sp>
        <p:nvSpPr>
          <p:cNvPr id="3" name="4 / 7"/>
          <p:cNvSpPr>
            <a:spLocks noGrp="1"/>
          </p:cNvSpPr>
          <p:nvPr/>
        </p:nvSpPr>
        <p:spPr>
          <a:xfrm>
            <a:off x="11049000" y="6305550"/>
            <a:ext cx="619125" cy="333375"/>
          </a:xfrm>
          <a:prstGeom prst="rect">
            <a:avLst/>
          </a:prstGeom>
          <a:noFill/>
          <a:ln w="0">
            <a:noFill/>
          </a:ln>
        </p:spPr>
        <p:txBody>
          <a:bodyPr anchor="ctr">
            <a:noAutofit/>
          </a:bodyPr>
          <a:lstStyle/>
          <a:p>
            <a:pPr>
              <a:defRPr sz="1200" b="0">
                <a:solidFill>
                  <a:srgbClr val="56636C"/>
                </a:solidFill>
                <a:latin typeface="Arial" panose="020B0704020202020204"/>
                <a:ea typeface="Arial" panose="020B0704020202020204"/>
                <a:cs typeface="Arial" panose="020B0704020202020204"/>
              </a:defRPr>
            </a:pPr>
            <a:r>
              <a:rPr sz="1200" b="0">
                <a:solidFill>
                  <a:srgbClr val="56636C"/>
                </a:solidFill>
                <a:latin typeface="Arial" panose="020B0704020202020204"/>
                <a:ea typeface="Arial" panose="020B0704020202020204"/>
                <a:cs typeface="Arial" panose="020B0704020202020204"/>
              </a:rPr>
              <a:t>5 / 8</a:t>
            </a:r>
            <a:endParaRPr sz="1200" b="0">
              <a:solidFill>
                <a:srgbClr val="56636C"/>
              </a:solidFill>
              <a:latin typeface="Arial" panose="020B0704020202020204"/>
              <a:ea typeface="Arial" panose="020B0704020202020204"/>
              <a:cs typeface="Arial" panose="020B0704020202020204"/>
            </a:endParaRPr>
          </a:p>
        </p:txBody>
      </p:sp>
      <p:sp>
        <p:nvSpPr>
          <p:cNvPr id="4" name="Held-out cell lines, measured drug panel, five splits"/>
          <p:cNvSpPr>
            <a:spLocks noGrp="1"/>
          </p:cNvSpPr>
          <p:nvPr/>
        </p:nvSpPr>
        <p:spPr>
          <a:xfrm>
            <a:off x="619125" y="1533525"/>
            <a:ext cx="10944225" cy="457200"/>
          </a:xfrm>
          <a:prstGeom prst="rect">
            <a:avLst/>
          </a:prstGeom>
          <a:noFill/>
          <a:ln w="0">
            <a:noFill/>
          </a:ln>
        </p:spPr>
        <p:txBody>
          <a:bodyPr anchor="ctr">
            <a:noAutofit/>
          </a:bodyPr>
          <a:lstStyle/>
          <a:p>
            <a:pPr>
              <a:defRPr sz="2100" b="0">
                <a:solidFill>
                  <a:srgbClr val="56636C"/>
                </a:solidFill>
                <a:latin typeface="Arial" panose="020B0704020202020204"/>
                <a:ea typeface="Arial" panose="020B0704020202020204"/>
                <a:cs typeface="Arial" panose="020B0704020202020204"/>
              </a:defRPr>
            </a:pPr>
            <a:r>
              <a:rPr sz="2100" b="0">
                <a:solidFill>
                  <a:srgbClr val="56636C"/>
                </a:solidFill>
                <a:latin typeface="Arial" panose="020B0704020202020204"/>
                <a:ea typeface="Arial" panose="020B0704020202020204"/>
                <a:cs typeface="Arial" panose="020B0704020202020204"/>
              </a:rPr>
              <a:t>Held-out cell lines, measured drug panel, five splits</a:t>
            </a:r>
            <a:endParaRPr sz="2100" b="0">
              <a:solidFill>
                <a:srgbClr val="56636C"/>
              </a:solidFill>
              <a:latin typeface="Arial" panose="020B0704020202020204"/>
              <a:ea typeface="Arial" panose="020B0704020202020204"/>
              <a:cs typeface="Arial" panose="020B0704020202020204"/>
            </a:endParaRPr>
          </a:p>
        </p:txBody>
      </p:sp>
      <p:graphicFrame>
        <p:nvGraphicFramePr>
          <p:cNvPr id="12" name="Table 11"/>
          <p:cNvGraphicFramePr/>
          <p:nvPr/>
        </p:nvGraphicFramePr>
        <p:xfrm>
          <a:off x="619125" y="2390775"/>
          <a:ext cx="10953750" cy="2714625"/>
        </p:xfrm>
        <a:graphic>
          <a:graphicData uri="http://schemas.openxmlformats.org/drawingml/2006/table">
            <a:tbl>
              <a:tblPr/>
              <a:tblGrid>
                <a:gridCol w="2266950"/>
                <a:gridCol w="1447800"/>
                <a:gridCol w="1447800"/>
                <a:gridCol w="1447800"/>
                <a:gridCol w="1447800"/>
                <a:gridCol w="1447800"/>
                <a:gridCol w="1447800"/>
              </a:tblGrid>
              <a:tr h="542925">
                <a:tc>
                  <a:txBody>
                    <a:bodyPr>
                      <a:spAutoFit/>
                    </a:bodyPr>
                    <a:lstStyle/>
                    <a:p>
                      <a:pPr algn="l"/>
                      <a:r>
                        <a:rPr sz="1650" b="1">
                          <a:solidFill>
                            <a:srgbClr val="FFFFFF"/>
                          </a:solidFill>
                          <a:latin typeface="Arial" panose="020B0704020202020204"/>
                          <a:ea typeface="Arial" panose="020B0704020202020204"/>
                          <a:cs typeface="Arial" panose="020B0704020202020204"/>
                        </a:rPr>
                        <a:t>Model</a:t>
                      </a:r>
                      <a:endParaRPr sz="1650" b="1">
                        <a:solidFill>
                          <a:srgbClr val="FFFFFF"/>
                        </a:solidFill>
                        <a:latin typeface="Arial" panose="020B0704020202020204"/>
                        <a:ea typeface="Arial" panose="020B0704020202020204"/>
                        <a:cs typeface="Arial" panose="020B0704020202020204"/>
                      </a:endParaRPr>
                    </a:p>
                  </a:txBody>
                  <a:tcPr anchor="ctr">
                    <a:solidFill>
                      <a:srgbClr val="102D43"/>
                    </a:solidFill>
                  </a:tcPr>
                </a:tc>
                <a:tc>
                  <a:txBody>
                    <a:bodyPr>
                      <a:spAutoFit/>
                    </a:bodyPr>
                    <a:lstStyle/>
                    <a:p>
                      <a:pPr algn="ctr"/>
                      <a:r>
                        <a:rPr sz="1650" b="1">
                          <a:solidFill>
                            <a:srgbClr val="FFFFFF"/>
                          </a:solidFill>
                          <a:latin typeface="Arial" panose="020B0704020202020204"/>
                          <a:ea typeface="Arial" panose="020B0704020202020204"/>
                          <a:cs typeface="Arial" panose="020B0704020202020204"/>
                        </a:rPr>
                        <a:t>Discrim.</a:t>
                      </a:r>
                      <a:endParaRPr sz="1650" b="1">
                        <a:solidFill>
                          <a:srgbClr val="FFFFFF"/>
                        </a:solidFill>
                        <a:latin typeface="Arial" panose="020B0704020202020204"/>
                        <a:ea typeface="Arial" panose="020B0704020202020204"/>
                        <a:cs typeface="Arial" panose="020B0704020202020204"/>
                      </a:endParaRPr>
                    </a:p>
                  </a:txBody>
                  <a:tcPr anchor="ctr">
                    <a:solidFill>
                      <a:srgbClr val="102D43"/>
                    </a:solidFill>
                  </a:tcPr>
                </a:tc>
                <a:tc>
                  <a:txBody>
                    <a:bodyPr>
                      <a:spAutoFit/>
                    </a:bodyPr>
                    <a:lstStyle/>
                    <a:p>
                      <a:pPr algn="ctr"/>
                      <a:r>
                        <a:rPr sz="1650" b="1">
                          <a:solidFill>
                            <a:srgbClr val="FFFFFF"/>
                          </a:solidFill>
                          <a:latin typeface="Arial" panose="020B0704020202020204"/>
                          <a:ea typeface="Arial" panose="020B0704020202020204"/>
                          <a:cs typeface="Arial" panose="020B0704020202020204"/>
                        </a:rPr>
                        <a:t>Pearson Δ</a:t>
                      </a:r>
                      <a:endParaRPr sz="1650" b="1">
                        <a:solidFill>
                          <a:srgbClr val="FFFFFF"/>
                        </a:solidFill>
                        <a:latin typeface="Arial" panose="020B0704020202020204"/>
                        <a:ea typeface="Arial" panose="020B0704020202020204"/>
                        <a:cs typeface="Arial" panose="020B0704020202020204"/>
                      </a:endParaRPr>
                    </a:p>
                  </a:txBody>
                  <a:tcPr anchor="ctr">
                    <a:solidFill>
                      <a:srgbClr val="102D43"/>
                    </a:solidFill>
                  </a:tcPr>
                </a:tc>
                <a:tc>
                  <a:txBody>
                    <a:bodyPr>
                      <a:spAutoFit/>
                    </a:bodyPr>
                    <a:lstStyle/>
                    <a:p>
                      <a:pPr algn="ctr"/>
                      <a:r>
                        <a:rPr sz="1650" b="1">
                          <a:solidFill>
                            <a:srgbClr val="FFFFFF"/>
                          </a:solidFill>
                          <a:latin typeface="Arial" panose="020B0704020202020204"/>
                          <a:ea typeface="Arial" panose="020B0704020202020204"/>
                          <a:cs typeface="Arial" panose="020B0704020202020204"/>
                        </a:rPr>
                        <a:t>PR-AUC</a:t>
                      </a:r>
                      <a:endParaRPr sz="1650" b="1">
                        <a:solidFill>
                          <a:srgbClr val="FFFFFF"/>
                        </a:solidFill>
                        <a:latin typeface="Arial" panose="020B0704020202020204"/>
                        <a:ea typeface="Arial" panose="020B0704020202020204"/>
                        <a:cs typeface="Arial" panose="020B0704020202020204"/>
                      </a:endParaRPr>
                    </a:p>
                  </a:txBody>
                  <a:tcPr anchor="ctr">
                    <a:solidFill>
                      <a:srgbClr val="102D43"/>
                    </a:solidFill>
                  </a:tcPr>
                </a:tc>
                <a:tc>
                  <a:txBody>
                    <a:bodyPr>
                      <a:spAutoFit/>
                    </a:bodyPr>
                    <a:lstStyle/>
                    <a:p>
                      <a:pPr algn="ctr"/>
                      <a:r>
                        <a:rPr sz="1650" b="1">
                          <a:solidFill>
                            <a:srgbClr val="FFFFFF"/>
                          </a:solidFill>
                          <a:latin typeface="Arial" panose="020B0704020202020204"/>
                          <a:ea typeface="Arial" panose="020B0704020202020204"/>
                          <a:cs typeface="Arial" panose="020B0704020202020204"/>
                        </a:rPr>
                        <a:t>LFC rank</a:t>
                      </a:r>
                      <a:endParaRPr sz="1650" b="1">
                        <a:solidFill>
                          <a:srgbClr val="FFFFFF"/>
                        </a:solidFill>
                        <a:latin typeface="Arial" panose="020B0704020202020204"/>
                        <a:ea typeface="Arial" panose="020B0704020202020204"/>
                        <a:cs typeface="Arial" panose="020B0704020202020204"/>
                      </a:endParaRPr>
                    </a:p>
                  </a:txBody>
                  <a:tcPr anchor="ctr">
                    <a:solidFill>
                      <a:srgbClr val="102D43"/>
                    </a:solidFill>
                  </a:tcPr>
                </a:tc>
                <a:tc>
                  <a:txBody>
                    <a:bodyPr>
                      <a:spAutoFit/>
                    </a:bodyPr>
                    <a:lstStyle/>
                    <a:p>
                      <a:pPr algn="ctr"/>
                      <a:r>
                        <a:rPr sz="1650" b="1">
                          <a:solidFill>
                            <a:srgbClr val="FFFFFF"/>
                          </a:solidFill>
                          <a:latin typeface="Arial" panose="020B0704020202020204"/>
                          <a:ea typeface="Arial" panose="020B0704020202020204"/>
                          <a:cs typeface="Arial" panose="020B0704020202020204"/>
                        </a:rPr>
                        <a:t>DE overlap</a:t>
                      </a:r>
                      <a:endParaRPr sz="1650" b="1">
                        <a:solidFill>
                          <a:srgbClr val="FFFFFF"/>
                        </a:solidFill>
                        <a:latin typeface="Arial" panose="020B0704020202020204"/>
                        <a:ea typeface="Arial" panose="020B0704020202020204"/>
                        <a:cs typeface="Arial" panose="020B0704020202020204"/>
                      </a:endParaRPr>
                    </a:p>
                  </a:txBody>
                  <a:tcPr anchor="ctr">
                    <a:solidFill>
                      <a:srgbClr val="102D43"/>
                    </a:solidFill>
                  </a:tcPr>
                </a:tc>
                <a:tc>
                  <a:txBody>
                    <a:bodyPr>
                      <a:spAutoFit/>
                    </a:bodyPr>
                    <a:lstStyle/>
                    <a:p>
                      <a:pPr algn="ctr"/>
                      <a:r>
                        <a:rPr sz="1650" b="1">
                          <a:solidFill>
                            <a:srgbClr val="FFFFFF"/>
                          </a:solidFill>
                          <a:latin typeface="Arial" panose="020B0704020202020204"/>
                          <a:ea typeface="Arial" panose="020B0704020202020204"/>
                          <a:cs typeface="Arial" panose="020B0704020202020204"/>
                        </a:rPr>
                        <a:t>ES rank</a:t>
                      </a:r>
                      <a:endParaRPr sz="1650" b="1">
                        <a:solidFill>
                          <a:srgbClr val="FFFFFF"/>
                        </a:solidFill>
                        <a:latin typeface="Arial" panose="020B0704020202020204"/>
                        <a:ea typeface="Arial" panose="020B0704020202020204"/>
                        <a:cs typeface="Arial" panose="020B0704020202020204"/>
                      </a:endParaRPr>
                    </a:p>
                  </a:txBody>
                  <a:tcPr anchor="ctr">
                    <a:solidFill>
                      <a:srgbClr val="102D43"/>
                    </a:solidFill>
                  </a:tcPr>
                </a:tc>
              </a:tr>
              <a:tr h="542925">
                <a:tc>
                  <a:txBody>
                    <a:bodyPr>
                      <a:spAutoFit/>
                    </a:bodyPr>
                    <a:lstStyle/>
                    <a:p>
                      <a:pPr algn="l"/>
                      <a:r>
                        <a:rPr sz="1800" b="1">
                          <a:solidFill>
                            <a:srgbClr val="EC633D"/>
                          </a:solidFill>
                          <a:latin typeface="Arial" panose="020B0704020202020204"/>
                          <a:ea typeface="Arial" panose="020B0704020202020204"/>
                          <a:cs typeface="Arial" panose="020B0704020202020204"/>
                        </a:rPr>
                        <a:t>Rhaister</a:t>
                      </a:r>
                      <a:endParaRPr sz="1800" b="1">
                        <a:solidFill>
                          <a:srgbClr val="EC633D"/>
                        </a:solidFill>
                        <a:latin typeface="Arial" panose="020B0704020202020204"/>
                        <a:ea typeface="Arial" panose="020B0704020202020204"/>
                        <a:cs typeface="Arial" panose="020B0704020202020204"/>
                      </a:endParaRPr>
                    </a:p>
                  </a:txBody>
                  <a:tcPr anchor="ctr">
                    <a:solidFill>
                      <a:srgbClr val="FFF0EA"/>
                    </a:solidFill>
                  </a:tcPr>
                </a:tc>
                <a:tc>
                  <a:txBody>
                    <a:bodyPr>
                      <a:spAutoFit/>
                    </a:bodyPr>
                    <a:lstStyle/>
                    <a:p>
                      <a:pPr algn="ctr"/>
                      <a:r>
                        <a:rPr sz="1800" b="1">
                          <a:solidFill>
                            <a:srgbClr val="EC633D"/>
                          </a:solidFill>
                          <a:latin typeface="Arial" panose="020B0704020202020204"/>
                          <a:ea typeface="Arial" panose="020B0704020202020204"/>
                          <a:cs typeface="Arial" panose="020B0704020202020204"/>
                        </a:rPr>
                        <a:t>0.96</a:t>
                      </a:r>
                      <a:endParaRPr sz="1800" b="1">
                        <a:solidFill>
                          <a:srgbClr val="EC633D"/>
                        </a:solidFill>
                        <a:latin typeface="Arial" panose="020B0704020202020204"/>
                        <a:ea typeface="Arial" panose="020B0704020202020204"/>
                        <a:cs typeface="Arial" panose="020B0704020202020204"/>
                      </a:endParaRPr>
                    </a:p>
                  </a:txBody>
                  <a:tcPr anchor="ctr">
                    <a:solidFill>
                      <a:srgbClr val="FFF0EA"/>
                    </a:solidFill>
                  </a:tcPr>
                </a:tc>
                <a:tc>
                  <a:txBody>
                    <a:bodyPr>
                      <a:spAutoFit/>
                    </a:bodyPr>
                    <a:lstStyle/>
                    <a:p>
                      <a:pPr algn="ctr"/>
                      <a:r>
                        <a:rPr sz="1800" b="1">
                          <a:solidFill>
                            <a:srgbClr val="EC633D"/>
                          </a:solidFill>
                          <a:latin typeface="Arial" panose="020B0704020202020204"/>
                          <a:ea typeface="Arial" panose="020B0704020202020204"/>
                          <a:cs typeface="Arial" panose="020B0704020202020204"/>
                        </a:rPr>
                        <a:t>0.87</a:t>
                      </a:r>
                      <a:endParaRPr sz="1800" b="1">
                        <a:solidFill>
                          <a:srgbClr val="EC633D"/>
                        </a:solidFill>
                        <a:latin typeface="Arial" panose="020B0704020202020204"/>
                        <a:ea typeface="Arial" panose="020B0704020202020204"/>
                        <a:cs typeface="Arial" panose="020B0704020202020204"/>
                      </a:endParaRPr>
                    </a:p>
                  </a:txBody>
                  <a:tcPr anchor="ctr">
                    <a:solidFill>
                      <a:srgbClr val="FFF0EA"/>
                    </a:solidFill>
                  </a:tcPr>
                </a:tc>
                <a:tc>
                  <a:txBody>
                    <a:bodyPr>
                      <a:spAutoFit/>
                    </a:bodyPr>
                    <a:lstStyle/>
                    <a:p>
                      <a:pPr algn="ctr"/>
                      <a:r>
                        <a:rPr sz="1800" b="1">
                          <a:solidFill>
                            <a:srgbClr val="EC633D"/>
                          </a:solidFill>
                          <a:latin typeface="Arial" panose="020B0704020202020204"/>
                          <a:ea typeface="Arial" panose="020B0704020202020204"/>
                          <a:cs typeface="Arial" panose="020B0704020202020204"/>
                        </a:rPr>
                        <a:t>0.73</a:t>
                      </a:r>
                      <a:endParaRPr sz="1800" b="1">
                        <a:solidFill>
                          <a:srgbClr val="EC633D"/>
                        </a:solidFill>
                        <a:latin typeface="Arial" panose="020B0704020202020204"/>
                        <a:ea typeface="Arial" panose="020B0704020202020204"/>
                        <a:cs typeface="Arial" panose="020B0704020202020204"/>
                      </a:endParaRPr>
                    </a:p>
                  </a:txBody>
                  <a:tcPr anchor="ctr">
                    <a:solidFill>
                      <a:srgbClr val="FFF0EA"/>
                    </a:solidFill>
                  </a:tcPr>
                </a:tc>
                <a:tc>
                  <a:txBody>
                    <a:bodyPr>
                      <a:spAutoFit/>
                    </a:bodyPr>
                    <a:lstStyle/>
                    <a:p>
                      <a:pPr algn="ctr"/>
                      <a:r>
                        <a:rPr sz="1800" b="1">
                          <a:solidFill>
                            <a:srgbClr val="EC633D"/>
                          </a:solidFill>
                          <a:latin typeface="Arial" panose="020B0704020202020204"/>
                          <a:ea typeface="Arial" panose="020B0704020202020204"/>
                          <a:cs typeface="Arial" panose="020B0704020202020204"/>
                        </a:rPr>
                        <a:t>0.81</a:t>
                      </a:r>
                      <a:endParaRPr sz="1800" b="1">
                        <a:solidFill>
                          <a:srgbClr val="EC633D"/>
                        </a:solidFill>
                        <a:latin typeface="Arial" panose="020B0704020202020204"/>
                        <a:ea typeface="Arial" panose="020B0704020202020204"/>
                        <a:cs typeface="Arial" panose="020B0704020202020204"/>
                      </a:endParaRPr>
                    </a:p>
                  </a:txBody>
                  <a:tcPr anchor="ctr">
                    <a:solidFill>
                      <a:srgbClr val="FFF0EA"/>
                    </a:solidFill>
                  </a:tcPr>
                </a:tc>
                <a:tc>
                  <a:txBody>
                    <a:bodyPr>
                      <a:spAutoFit/>
                    </a:bodyPr>
                    <a:lstStyle/>
                    <a:p>
                      <a:pPr algn="ctr"/>
                      <a:r>
                        <a:rPr sz="1800" b="1">
                          <a:solidFill>
                            <a:srgbClr val="EC633D"/>
                          </a:solidFill>
                          <a:latin typeface="Arial" panose="020B0704020202020204"/>
                          <a:ea typeface="Arial" panose="020B0704020202020204"/>
                          <a:cs typeface="Arial" panose="020B0704020202020204"/>
                        </a:rPr>
                        <a:t>0.59</a:t>
                      </a:r>
                      <a:endParaRPr sz="1800" b="1">
                        <a:solidFill>
                          <a:srgbClr val="EC633D"/>
                        </a:solidFill>
                        <a:latin typeface="Arial" panose="020B0704020202020204"/>
                        <a:ea typeface="Arial" panose="020B0704020202020204"/>
                        <a:cs typeface="Arial" panose="020B0704020202020204"/>
                      </a:endParaRPr>
                    </a:p>
                  </a:txBody>
                  <a:tcPr anchor="ctr">
                    <a:solidFill>
                      <a:srgbClr val="FFF0EA"/>
                    </a:solidFill>
                  </a:tcPr>
                </a:tc>
                <a:tc>
                  <a:txBody>
                    <a:bodyPr>
                      <a:spAutoFit/>
                    </a:bodyPr>
                    <a:lstStyle/>
                    <a:p>
                      <a:pPr algn="ctr"/>
                      <a:r>
                        <a:rPr sz="1800" b="1">
                          <a:solidFill>
                            <a:srgbClr val="EC633D"/>
                          </a:solidFill>
                          <a:latin typeface="Arial" panose="020B0704020202020204"/>
                          <a:ea typeface="Arial" panose="020B0704020202020204"/>
                          <a:cs typeface="Arial" panose="020B0704020202020204"/>
                        </a:rPr>
                        <a:t>0.96</a:t>
                      </a:r>
                      <a:endParaRPr sz="1800" b="1">
                        <a:solidFill>
                          <a:srgbClr val="EC633D"/>
                        </a:solidFill>
                        <a:latin typeface="Arial" panose="020B0704020202020204"/>
                        <a:ea typeface="Arial" panose="020B0704020202020204"/>
                        <a:cs typeface="Arial" panose="020B0704020202020204"/>
                      </a:endParaRPr>
                    </a:p>
                  </a:txBody>
                  <a:tcPr anchor="ctr">
                    <a:solidFill>
                      <a:srgbClr val="FFF0EA"/>
                    </a:solidFill>
                  </a:tcPr>
                </a:tc>
              </a:tr>
              <a:tr h="542925">
                <a:tc>
                  <a:txBody>
                    <a:bodyPr>
                      <a:spAutoFit/>
                    </a:bodyPr>
                    <a:lstStyle/>
                    <a:p>
                      <a:pPr algn="l"/>
                      <a:r>
                        <a:rPr sz="1800" b="0">
                          <a:solidFill>
                            <a:srgbClr val="102D43"/>
                          </a:solidFill>
                          <a:latin typeface="Arial" panose="020B0704020202020204"/>
                          <a:ea typeface="Arial" panose="020B0704020202020204"/>
                          <a:cs typeface="Arial" panose="020B0704020202020204"/>
                        </a:rPr>
                        <a:t>STATE</a:t>
                      </a:r>
                      <a:endParaRPr sz="1800" b="0">
                        <a:solidFill>
                          <a:srgbClr val="102D43"/>
                        </a:solidFill>
                        <a:latin typeface="Arial" panose="020B0704020202020204"/>
                        <a:ea typeface="Arial" panose="020B0704020202020204"/>
                        <a:cs typeface="Arial" panose="020B0704020202020204"/>
                      </a:endParaRPr>
                    </a:p>
                  </a:txBody>
                  <a:tcPr anchor="ctr">
                    <a:solidFill>
                      <a:srgbClr val="FFFFFF"/>
                    </a:solidFill>
                  </a:tcPr>
                </a:tc>
                <a:tc>
                  <a:txBody>
                    <a:bodyPr>
                      <a:spAutoFit/>
                    </a:bodyPr>
                    <a:lstStyle/>
                    <a:p>
                      <a:pPr algn="ctr"/>
                      <a:r>
                        <a:rPr sz="1800" b="0">
                          <a:solidFill>
                            <a:srgbClr val="102D43"/>
                          </a:solidFill>
                          <a:latin typeface="Arial" panose="020B0704020202020204"/>
                          <a:ea typeface="Arial" panose="020B0704020202020204"/>
                          <a:cs typeface="Arial" panose="020B0704020202020204"/>
                        </a:rPr>
                        <a:t>0.93</a:t>
                      </a:r>
                      <a:endParaRPr sz="1800" b="0">
                        <a:solidFill>
                          <a:srgbClr val="102D43"/>
                        </a:solidFill>
                        <a:latin typeface="Arial" panose="020B0704020202020204"/>
                        <a:ea typeface="Arial" panose="020B0704020202020204"/>
                        <a:cs typeface="Arial" panose="020B0704020202020204"/>
                      </a:endParaRPr>
                    </a:p>
                  </a:txBody>
                  <a:tcPr anchor="ctr">
                    <a:solidFill>
                      <a:srgbClr val="FFFFFF"/>
                    </a:solidFill>
                  </a:tcPr>
                </a:tc>
                <a:tc>
                  <a:txBody>
                    <a:bodyPr>
                      <a:spAutoFit/>
                    </a:bodyPr>
                    <a:lstStyle/>
                    <a:p>
                      <a:pPr algn="ctr"/>
                      <a:r>
                        <a:rPr sz="1800" b="0">
                          <a:solidFill>
                            <a:srgbClr val="102D43"/>
                          </a:solidFill>
                          <a:latin typeface="Arial" panose="020B0704020202020204"/>
                          <a:ea typeface="Arial" panose="020B0704020202020204"/>
                          <a:cs typeface="Arial" panose="020B0704020202020204"/>
                        </a:rPr>
                        <a:t>0.81</a:t>
                      </a:r>
                      <a:endParaRPr sz="1800" b="0">
                        <a:solidFill>
                          <a:srgbClr val="102D43"/>
                        </a:solidFill>
                        <a:latin typeface="Arial" panose="020B0704020202020204"/>
                        <a:ea typeface="Arial" panose="020B0704020202020204"/>
                        <a:cs typeface="Arial" panose="020B0704020202020204"/>
                      </a:endParaRPr>
                    </a:p>
                  </a:txBody>
                  <a:tcPr anchor="ctr">
                    <a:solidFill>
                      <a:srgbClr val="FFFFFF"/>
                    </a:solidFill>
                  </a:tcPr>
                </a:tc>
                <a:tc>
                  <a:txBody>
                    <a:bodyPr>
                      <a:spAutoFit/>
                    </a:bodyPr>
                    <a:lstStyle/>
                    <a:p>
                      <a:pPr algn="ctr"/>
                      <a:r>
                        <a:rPr sz="1800" b="0">
                          <a:solidFill>
                            <a:srgbClr val="102D43"/>
                          </a:solidFill>
                          <a:latin typeface="Arial" panose="020B0704020202020204"/>
                          <a:ea typeface="Arial" panose="020B0704020202020204"/>
                          <a:cs typeface="Arial" panose="020B0704020202020204"/>
                        </a:rPr>
                        <a:t>0.51</a:t>
                      </a:r>
                      <a:endParaRPr sz="1800" b="0">
                        <a:solidFill>
                          <a:srgbClr val="102D43"/>
                        </a:solidFill>
                        <a:latin typeface="Arial" panose="020B0704020202020204"/>
                        <a:ea typeface="Arial" panose="020B0704020202020204"/>
                        <a:cs typeface="Arial" panose="020B0704020202020204"/>
                      </a:endParaRPr>
                    </a:p>
                  </a:txBody>
                  <a:tcPr anchor="ctr">
                    <a:solidFill>
                      <a:srgbClr val="FFFFFF"/>
                    </a:solidFill>
                  </a:tcPr>
                </a:tc>
                <a:tc>
                  <a:txBody>
                    <a:bodyPr>
                      <a:spAutoFit/>
                    </a:bodyPr>
                    <a:lstStyle/>
                    <a:p>
                      <a:pPr algn="ctr"/>
                      <a:r>
                        <a:rPr sz="1800" b="0">
                          <a:solidFill>
                            <a:srgbClr val="102D43"/>
                          </a:solidFill>
                          <a:latin typeface="Arial" panose="020B0704020202020204"/>
                          <a:ea typeface="Arial" panose="020B0704020202020204"/>
                          <a:cs typeface="Arial" panose="020B0704020202020204"/>
                        </a:rPr>
                        <a:t>0.57</a:t>
                      </a:r>
                      <a:endParaRPr sz="1800" b="0">
                        <a:solidFill>
                          <a:srgbClr val="102D43"/>
                        </a:solidFill>
                        <a:latin typeface="Arial" panose="020B0704020202020204"/>
                        <a:ea typeface="Arial" panose="020B0704020202020204"/>
                        <a:cs typeface="Arial" panose="020B0704020202020204"/>
                      </a:endParaRPr>
                    </a:p>
                  </a:txBody>
                  <a:tcPr anchor="ctr">
                    <a:solidFill>
                      <a:srgbClr val="FFFFFF"/>
                    </a:solidFill>
                  </a:tcPr>
                </a:tc>
                <a:tc>
                  <a:txBody>
                    <a:bodyPr>
                      <a:spAutoFit/>
                    </a:bodyPr>
                    <a:lstStyle/>
                    <a:p>
                      <a:pPr algn="ctr"/>
                      <a:r>
                        <a:rPr sz="1800" b="0">
                          <a:solidFill>
                            <a:srgbClr val="102D43"/>
                          </a:solidFill>
                          <a:latin typeface="Arial" panose="020B0704020202020204"/>
                          <a:ea typeface="Arial" panose="020B0704020202020204"/>
                          <a:cs typeface="Arial" panose="020B0704020202020204"/>
                        </a:rPr>
                        <a:t>0.40</a:t>
                      </a:r>
                      <a:endParaRPr sz="1800" b="0">
                        <a:solidFill>
                          <a:srgbClr val="102D43"/>
                        </a:solidFill>
                        <a:latin typeface="Arial" panose="020B0704020202020204"/>
                        <a:ea typeface="Arial" panose="020B0704020202020204"/>
                        <a:cs typeface="Arial" panose="020B0704020202020204"/>
                      </a:endParaRPr>
                    </a:p>
                  </a:txBody>
                  <a:tcPr anchor="ctr">
                    <a:solidFill>
                      <a:srgbClr val="FFFFFF"/>
                    </a:solidFill>
                  </a:tcPr>
                </a:tc>
                <a:tc>
                  <a:txBody>
                    <a:bodyPr>
                      <a:spAutoFit/>
                    </a:bodyPr>
                    <a:lstStyle/>
                    <a:p>
                      <a:pPr algn="ctr"/>
                      <a:r>
                        <a:rPr sz="1800" b="0">
                          <a:solidFill>
                            <a:srgbClr val="102D43"/>
                          </a:solidFill>
                          <a:latin typeface="Arial" panose="020B0704020202020204"/>
                          <a:ea typeface="Arial" panose="020B0704020202020204"/>
                          <a:cs typeface="Arial" panose="020B0704020202020204"/>
                        </a:rPr>
                        <a:t>0.89</a:t>
                      </a:r>
                      <a:endParaRPr sz="1800" b="0">
                        <a:solidFill>
                          <a:srgbClr val="102D43"/>
                        </a:solidFill>
                        <a:latin typeface="Arial" panose="020B0704020202020204"/>
                        <a:ea typeface="Arial" panose="020B0704020202020204"/>
                        <a:cs typeface="Arial" panose="020B0704020202020204"/>
                      </a:endParaRPr>
                    </a:p>
                  </a:txBody>
                  <a:tcPr anchor="ctr">
                    <a:solidFill>
                      <a:srgbClr val="FFFFFF"/>
                    </a:solidFill>
                  </a:tcPr>
                </a:tc>
              </a:tr>
              <a:tr h="542925">
                <a:tc>
                  <a:txBody>
                    <a:bodyPr>
                      <a:spAutoFit/>
                    </a:bodyPr>
                    <a:lstStyle/>
                    <a:p>
                      <a:pPr algn="l"/>
                      <a:r>
                        <a:rPr sz="1800" b="0">
                          <a:solidFill>
                            <a:srgbClr val="102D43"/>
                          </a:solidFill>
                          <a:latin typeface="Arial" panose="020B0704020202020204"/>
                          <a:ea typeface="Arial" panose="020B0704020202020204"/>
                          <a:cs typeface="Arial" panose="020B0704020202020204"/>
                        </a:rPr>
                        <a:t>Additive</a:t>
                      </a:r>
                      <a:endParaRPr sz="1800" b="0">
                        <a:solidFill>
                          <a:srgbClr val="102D43"/>
                        </a:solidFill>
                        <a:latin typeface="Arial" panose="020B0704020202020204"/>
                        <a:ea typeface="Arial" panose="020B0704020202020204"/>
                        <a:cs typeface="Arial" panose="020B0704020202020204"/>
                      </a:endParaRPr>
                    </a:p>
                  </a:txBody>
                  <a:tcPr anchor="ctr">
                    <a:solidFill>
                      <a:srgbClr val="FFFFFF"/>
                    </a:solidFill>
                  </a:tcPr>
                </a:tc>
                <a:tc>
                  <a:txBody>
                    <a:bodyPr>
                      <a:spAutoFit/>
                    </a:bodyPr>
                    <a:lstStyle/>
                    <a:p>
                      <a:pPr algn="ctr"/>
                      <a:r>
                        <a:rPr sz="1800" b="0">
                          <a:solidFill>
                            <a:srgbClr val="102D43"/>
                          </a:solidFill>
                          <a:latin typeface="Arial" panose="020B0704020202020204"/>
                          <a:ea typeface="Arial" panose="020B0704020202020204"/>
                          <a:cs typeface="Arial" panose="020B0704020202020204"/>
                        </a:rPr>
                        <a:t>0.82</a:t>
                      </a:r>
                      <a:endParaRPr sz="1800" b="0">
                        <a:solidFill>
                          <a:srgbClr val="102D43"/>
                        </a:solidFill>
                        <a:latin typeface="Arial" panose="020B0704020202020204"/>
                        <a:ea typeface="Arial" panose="020B0704020202020204"/>
                        <a:cs typeface="Arial" panose="020B0704020202020204"/>
                      </a:endParaRPr>
                    </a:p>
                  </a:txBody>
                  <a:tcPr anchor="ctr">
                    <a:solidFill>
                      <a:srgbClr val="FFFFFF"/>
                    </a:solidFill>
                  </a:tcPr>
                </a:tc>
                <a:tc>
                  <a:txBody>
                    <a:bodyPr>
                      <a:spAutoFit/>
                    </a:bodyPr>
                    <a:lstStyle/>
                    <a:p>
                      <a:pPr algn="ctr"/>
                      <a:r>
                        <a:rPr sz="1800" b="0">
                          <a:solidFill>
                            <a:srgbClr val="102D43"/>
                          </a:solidFill>
                          <a:latin typeface="Arial" panose="020B0704020202020204"/>
                          <a:ea typeface="Arial" panose="020B0704020202020204"/>
                          <a:cs typeface="Arial" panose="020B0704020202020204"/>
                        </a:rPr>
                        <a:t>0.55</a:t>
                      </a:r>
                      <a:endParaRPr sz="1800" b="0">
                        <a:solidFill>
                          <a:srgbClr val="102D43"/>
                        </a:solidFill>
                        <a:latin typeface="Arial" panose="020B0704020202020204"/>
                        <a:ea typeface="Arial" panose="020B0704020202020204"/>
                        <a:cs typeface="Arial" panose="020B0704020202020204"/>
                      </a:endParaRPr>
                    </a:p>
                  </a:txBody>
                  <a:tcPr anchor="ctr">
                    <a:solidFill>
                      <a:srgbClr val="FFFFFF"/>
                    </a:solidFill>
                  </a:tcPr>
                </a:tc>
                <a:tc>
                  <a:txBody>
                    <a:bodyPr>
                      <a:spAutoFit/>
                    </a:bodyPr>
                    <a:lstStyle/>
                    <a:p>
                      <a:pPr algn="ctr"/>
                      <a:r>
                        <a:rPr sz="1800" b="0">
                          <a:solidFill>
                            <a:srgbClr val="102D43"/>
                          </a:solidFill>
                          <a:latin typeface="Arial" panose="020B0704020202020204"/>
                          <a:ea typeface="Arial" panose="020B0704020202020204"/>
                          <a:cs typeface="Arial" panose="020B0704020202020204"/>
                        </a:rPr>
                        <a:t>0.55</a:t>
                      </a:r>
                      <a:endParaRPr sz="1800" b="0">
                        <a:solidFill>
                          <a:srgbClr val="102D43"/>
                        </a:solidFill>
                        <a:latin typeface="Arial" panose="020B0704020202020204"/>
                        <a:ea typeface="Arial" panose="020B0704020202020204"/>
                        <a:cs typeface="Arial" panose="020B0704020202020204"/>
                      </a:endParaRPr>
                    </a:p>
                  </a:txBody>
                  <a:tcPr anchor="ctr">
                    <a:solidFill>
                      <a:srgbClr val="FFFFFF"/>
                    </a:solidFill>
                  </a:tcPr>
                </a:tc>
                <a:tc>
                  <a:txBody>
                    <a:bodyPr>
                      <a:spAutoFit/>
                    </a:bodyPr>
                    <a:lstStyle/>
                    <a:p>
                      <a:pPr algn="ctr"/>
                      <a:r>
                        <a:rPr sz="1800" b="0">
                          <a:solidFill>
                            <a:srgbClr val="102D43"/>
                          </a:solidFill>
                          <a:latin typeface="Arial" panose="020B0704020202020204"/>
                          <a:ea typeface="Arial" panose="020B0704020202020204"/>
                          <a:cs typeface="Arial" panose="020B0704020202020204"/>
                        </a:rPr>
                        <a:t>0.61</a:t>
                      </a:r>
                      <a:endParaRPr sz="1800" b="0">
                        <a:solidFill>
                          <a:srgbClr val="102D43"/>
                        </a:solidFill>
                        <a:latin typeface="Arial" panose="020B0704020202020204"/>
                        <a:ea typeface="Arial" panose="020B0704020202020204"/>
                        <a:cs typeface="Arial" panose="020B0704020202020204"/>
                      </a:endParaRPr>
                    </a:p>
                  </a:txBody>
                  <a:tcPr anchor="ctr">
                    <a:solidFill>
                      <a:srgbClr val="FFFFFF"/>
                    </a:solidFill>
                  </a:tcPr>
                </a:tc>
                <a:tc>
                  <a:txBody>
                    <a:bodyPr>
                      <a:spAutoFit/>
                    </a:bodyPr>
                    <a:lstStyle/>
                    <a:p>
                      <a:pPr algn="ctr"/>
                      <a:r>
                        <a:rPr sz="1800" b="0">
                          <a:solidFill>
                            <a:srgbClr val="102D43"/>
                          </a:solidFill>
                          <a:latin typeface="Arial" panose="020B0704020202020204"/>
                          <a:ea typeface="Arial" panose="020B0704020202020204"/>
                          <a:cs typeface="Arial" panose="020B0704020202020204"/>
                        </a:rPr>
                        <a:t>0.43</a:t>
                      </a:r>
                      <a:endParaRPr sz="1800" b="0">
                        <a:solidFill>
                          <a:srgbClr val="102D43"/>
                        </a:solidFill>
                        <a:latin typeface="Arial" panose="020B0704020202020204"/>
                        <a:ea typeface="Arial" panose="020B0704020202020204"/>
                        <a:cs typeface="Arial" panose="020B0704020202020204"/>
                      </a:endParaRPr>
                    </a:p>
                  </a:txBody>
                  <a:tcPr anchor="ctr">
                    <a:solidFill>
                      <a:srgbClr val="FFFFFF"/>
                    </a:solidFill>
                  </a:tcPr>
                </a:tc>
                <a:tc>
                  <a:txBody>
                    <a:bodyPr>
                      <a:spAutoFit/>
                    </a:bodyPr>
                    <a:lstStyle/>
                    <a:p>
                      <a:pPr algn="ctr"/>
                      <a:r>
                        <a:rPr sz="1800" b="0">
                          <a:solidFill>
                            <a:srgbClr val="102D43"/>
                          </a:solidFill>
                          <a:latin typeface="Arial" panose="020B0704020202020204"/>
                          <a:ea typeface="Arial" panose="020B0704020202020204"/>
                          <a:cs typeface="Arial" panose="020B0704020202020204"/>
                        </a:rPr>
                        <a:t>0.85</a:t>
                      </a:r>
                      <a:endParaRPr sz="1800" b="0">
                        <a:solidFill>
                          <a:srgbClr val="102D43"/>
                        </a:solidFill>
                        <a:latin typeface="Arial" panose="020B0704020202020204"/>
                        <a:ea typeface="Arial" panose="020B0704020202020204"/>
                        <a:cs typeface="Arial" panose="020B0704020202020204"/>
                      </a:endParaRPr>
                    </a:p>
                  </a:txBody>
                  <a:tcPr anchor="ctr">
                    <a:solidFill>
                      <a:srgbClr val="FFFFFF"/>
                    </a:solidFill>
                  </a:tcPr>
                </a:tc>
              </a:tr>
              <a:tr h="542925">
                <a:tc>
                  <a:txBody>
                    <a:bodyPr>
                      <a:spAutoFit/>
                    </a:bodyPr>
                    <a:lstStyle/>
                    <a:p>
                      <a:pPr algn="l"/>
                      <a:r>
                        <a:rPr sz="1800" b="0">
                          <a:solidFill>
                            <a:srgbClr val="102D43"/>
                          </a:solidFill>
                          <a:latin typeface="Arial" panose="020B0704020202020204"/>
                          <a:ea typeface="Arial" panose="020B0704020202020204"/>
                          <a:cs typeface="Arial" panose="020B0704020202020204"/>
                        </a:rPr>
                        <a:t>Half-sample</a:t>
                      </a:r>
                      <a:endParaRPr sz="1800" b="0">
                        <a:solidFill>
                          <a:srgbClr val="102D43"/>
                        </a:solidFill>
                        <a:latin typeface="Arial" panose="020B0704020202020204"/>
                        <a:ea typeface="Arial" panose="020B0704020202020204"/>
                        <a:cs typeface="Arial" panose="020B0704020202020204"/>
                      </a:endParaRPr>
                    </a:p>
                  </a:txBody>
                  <a:tcPr anchor="ctr">
                    <a:solidFill>
                      <a:srgbClr val="FFFFFF"/>
                    </a:solidFill>
                  </a:tcPr>
                </a:tc>
                <a:tc>
                  <a:txBody>
                    <a:bodyPr>
                      <a:spAutoFit/>
                    </a:bodyPr>
                    <a:lstStyle/>
                    <a:p>
                      <a:pPr algn="ctr"/>
                      <a:r>
                        <a:rPr sz="1800" b="0">
                          <a:solidFill>
                            <a:srgbClr val="102D43"/>
                          </a:solidFill>
                          <a:latin typeface="Arial" panose="020B0704020202020204"/>
                          <a:ea typeface="Arial" panose="020B0704020202020204"/>
                          <a:cs typeface="Arial" panose="020B0704020202020204"/>
                        </a:rPr>
                        <a:t>0.93</a:t>
                      </a:r>
                      <a:endParaRPr sz="1800" b="0">
                        <a:solidFill>
                          <a:srgbClr val="102D43"/>
                        </a:solidFill>
                        <a:latin typeface="Arial" panose="020B0704020202020204"/>
                        <a:ea typeface="Arial" panose="020B0704020202020204"/>
                        <a:cs typeface="Arial" panose="020B0704020202020204"/>
                      </a:endParaRPr>
                    </a:p>
                  </a:txBody>
                  <a:tcPr anchor="ctr">
                    <a:solidFill>
                      <a:srgbClr val="FFFFFF"/>
                    </a:solidFill>
                  </a:tcPr>
                </a:tc>
                <a:tc>
                  <a:txBody>
                    <a:bodyPr>
                      <a:spAutoFit/>
                    </a:bodyPr>
                    <a:lstStyle/>
                    <a:p>
                      <a:pPr algn="ctr"/>
                      <a:r>
                        <a:rPr sz="1800" b="0">
                          <a:solidFill>
                            <a:srgbClr val="102D43"/>
                          </a:solidFill>
                          <a:latin typeface="Arial" panose="020B0704020202020204"/>
                          <a:ea typeface="Arial" panose="020B0704020202020204"/>
                          <a:cs typeface="Arial" panose="020B0704020202020204"/>
                        </a:rPr>
                        <a:t>0.77</a:t>
                      </a:r>
                      <a:endParaRPr sz="1800" b="0">
                        <a:solidFill>
                          <a:srgbClr val="102D43"/>
                        </a:solidFill>
                        <a:latin typeface="Arial" panose="020B0704020202020204"/>
                        <a:ea typeface="Arial" panose="020B0704020202020204"/>
                        <a:cs typeface="Arial" panose="020B0704020202020204"/>
                      </a:endParaRPr>
                    </a:p>
                  </a:txBody>
                  <a:tcPr anchor="ctr">
                    <a:solidFill>
                      <a:srgbClr val="FFFFFF"/>
                    </a:solidFill>
                  </a:tcPr>
                </a:tc>
                <a:tc>
                  <a:txBody>
                    <a:bodyPr>
                      <a:spAutoFit/>
                    </a:bodyPr>
                    <a:lstStyle/>
                    <a:p>
                      <a:pPr algn="ctr"/>
                      <a:r>
                        <a:rPr sz="1800" b="0">
                          <a:solidFill>
                            <a:srgbClr val="102D43"/>
                          </a:solidFill>
                          <a:latin typeface="Arial" panose="020B0704020202020204"/>
                          <a:ea typeface="Arial" panose="020B0704020202020204"/>
                          <a:cs typeface="Arial" panose="020B0704020202020204"/>
                        </a:rPr>
                        <a:t>0.62</a:t>
                      </a:r>
                      <a:endParaRPr sz="1800" b="0">
                        <a:solidFill>
                          <a:srgbClr val="102D43"/>
                        </a:solidFill>
                        <a:latin typeface="Arial" panose="020B0704020202020204"/>
                        <a:ea typeface="Arial" panose="020B0704020202020204"/>
                        <a:cs typeface="Arial" panose="020B0704020202020204"/>
                      </a:endParaRPr>
                    </a:p>
                  </a:txBody>
                  <a:tcPr anchor="ctr">
                    <a:solidFill>
                      <a:srgbClr val="FFFFFF"/>
                    </a:solidFill>
                  </a:tcPr>
                </a:tc>
                <a:tc>
                  <a:txBody>
                    <a:bodyPr>
                      <a:spAutoFit/>
                    </a:bodyPr>
                    <a:lstStyle/>
                    <a:p>
                      <a:pPr algn="ctr"/>
                      <a:r>
                        <a:rPr sz="1800" b="0">
                          <a:solidFill>
                            <a:srgbClr val="102D43"/>
                          </a:solidFill>
                          <a:latin typeface="Arial" panose="020B0704020202020204"/>
                          <a:ea typeface="Arial" panose="020B0704020202020204"/>
                          <a:cs typeface="Arial" panose="020B0704020202020204"/>
                        </a:rPr>
                        <a:t>0.67</a:t>
                      </a:r>
                      <a:endParaRPr sz="1800" b="0">
                        <a:solidFill>
                          <a:srgbClr val="102D43"/>
                        </a:solidFill>
                        <a:latin typeface="Arial" panose="020B0704020202020204"/>
                        <a:ea typeface="Arial" panose="020B0704020202020204"/>
                        <a:cs typeface="Arial" panose="020B0704020202020204"/>
                      </a:endParaRPr>
                    </a:p>
                  </a:txBody>
                  <a:tcPr anchor="ctr">
                    <a:solidFill>
                      <a:srgbClr val="FFFFFF"/>
                    </a:solidFill>
                  </a:tcPr>
                </a:tc>
                <a:tc>
                  <a:txBody>
                    <a:bodyPr>
                      <a:spAutoFit/>
                    </a:bodyPr>
                    <a:lstStyle/>
                    <a:p>
                      <a:pPr algn="ctr"/>
                      <a:r>
                        <a:rPr sz="1800" b="0">
                          <a:solidFill>
                            <a:srgbClr val="102D43"/>
                          </a:solidFill>
                          <a:latin typeface="Arial" panose="020B0704020202020204"/>
                          <a:ea typeface="Arial" panose="020B0704020202020204"/>
                          <a:cs typeface="Arial" panose="020B0704020202020204"/>
                        </a:rPr>
                        <a:t>0.52</a:t>
                      </a:r>
                      <a:endParaRPr sz="1800" b="0">
                        <a:solidFill>
                          <a:srgbClr val="102D43"/>
                        </a:solidFill>
                        <a:latin typeface="Arial" panose="020B0704020202020204"/>
                        <a:ea typeface="Arial" panose="020B0704020202020204"/>
                        <a:cs typeface="Arial" panose="020B0704020202020204"/>
                      </a:endParaRPr>
                    </a:p>
                  </a:txBody>
                  <a:tcPr anchor="ctr">
                    <a:solidFill>
                      <a:srgbClr val="FFFFFF"/>
                    </a:solidFill>
                  </a:tcPr>
                </a:tc>
                <a:tc>
                  <a:txBody>
                    <a:bodyPr>
                      <a:spAutoFit/>
                    </a:bodyPr>
                    <a:lstStyle/>
                    <a:p>
                      <a:pPr algn="ctr"/>
                      <a:r>
                        <a:rPr sz="1800" b="0">
                          <a:solidFill>
                            <a:srgbClr val="102D43"/>
                          </a:solidFill>
                          <a:latin typeface="Arial" panose="020B0704020202020204"/>
                          <a:ea typeface="Arial" panose="020B0704020202020204"/>
                          <a:cs typeface="Arial" panose="020B0704020202020204"/>
                        </a:rPr>
                        <a:t>0.97</a:t>
                      </a:r>
                      <a:endParaRPr sz="1800" b="0">
                        <a:solidFill>
                          <a:srgbClr val="102D43"/>
                        </a:solidFill>
                        <a:latin typeface="Arial" panose="020B0704020202020204"/>
                        <a:ea typeface="Arial" panose="020B0704020202020204"/>
                        <a:cs typeface="Arial" panose="020B0704020202020204"/>
                      </a:endParaRPr>
                    </a:p>
                  </a:txBody>
                  <a:tcPr anchor="ctr">
                    <a:solidFill>
                      <a:srgbClr val="FFFFFF"/>
                    </a:solidFill>
                  </a:tcPr>
                </a:tc>
              </a:tr>
            </a:tbl>
          </a:graphicData>
        </a:graphic>
      </p:graphicFrame>
      <p:sp>
        <p:nvSpPr>
          <p:cNvPr id="6" name="Higher is better. Values are reported means; SD bars omitted"/>
          <p:cNvSpPr>
            <a:spLocks noGrp="1"/>
          </p:cNvSpPr>
          <p:nvPr/>
        </p:nvSpPr>
        <p:spPr>
          <a:xfrm>
            <a:off x="619125" y="5257800"/>
            <a:ext cx="10953750" cy="323850"/>
          </a:xfrm>
          <a:prstGeom prst="rect">
            <a:avLst/>
          </a:prstGeom>
          <a:noFill/>
          <a:ln w="0">
            <a:noFill/>
          </a:ln>
        </p:spPr>
        <p:txBody>
          <a:bodyPr anchor="ctr">
            <a:noAutofit/>
          </a:bodyPr>
          <a:lstStyle/>
          <a:p>
            <a:pPr>
              <a:defRPr sz="1575" b="0">
                <a:solidFill>
                  <a:srgbClr val="56636C"/>
                </a:solidFill>
                <a:latin typeface="Arial" panose="020B0704020202020204"/>
                <a:ea typeface="Arial" panose="020B0704020202020204"/>
                <a:cs typeface="Arial" panose="020B0704020202020204"/>
              </a:defRPr>
            </a:pPr>
            <a:r>
              <a:rPr sz="1575" b="0">
                <a:solidFill>
                  <a:srgbClr val="56636C"/>
                </a:solidFill>
                <a:latin typeface="Arial" panose="020B0704020202020204"/>
                <a:ea typeface="Arial" panose="020B0704020202020204"/>
                <a:cs typeface="Arial" panose="020B0704020202020204"/>
              </a:rPr>
              <a:t>Higher is better. Values are reported means; SD bars omitted from this table.</a:t>
            </a:r>
            <a:endParaRPr sz="1575" b="0">
              <a:solidFill>
                <a:srgbClr val="56636C"/>
              </a:solidFill>
              <a:latin typeface="Arial" panose="020B0704020202020204"/>
              <a:ea typeface="Arial" panose="020B0704020202020204"/>
              <a:cs typeface="Arial" panose="020B0704020202020204"/>
            </a:endParaRPr>
          </a:p>
        </p:txBody>
      </p:sp>
      <p:sp>
        <p:nvSpPr>
          <p:cNvPr id="7" name="The half-sample reference is an empirical comparison, not a "/>
          <p:cNvSpPr>
            <a:spLocks noGrp="1"/>
          </p:cNvSpPr>
          <p:nvPr/>
        </p:nvSpPr>
        <p:spPr>
          <a:xfrm>
            <a:off x="619125" y="5715000"/>
            <a:ext cx="10953750" cy="409575"/>
          </a:xfrm>
          <a:prstGeom prst="rect">
            <a:avLst/>
          </a:prstGeom>
          <a:noFill/>
          <a:ln w="0">
            <a:noFill/>
          </a:ln>
        </p:spPr>
        <p:txBody>
          <a:bodyPr anchor="ctr">
            <a:noAutofit/>
          </a:bodyPr>
          <a:lstStyle/>
          <a:p>
            <a:pPr>
              <a:defRPr sz="1950" b="1">
                <a:solidFill>
                  <a:srgbClr val="EC633D"/>
                </a:solidFill>
                <a:latin typeface="Arial" panose="020B0704020202020204"/>
                <a:ea typeface="Arial" panose="020B0704020202020204"/>
                <a:cs typeface="Arial" panose="020B0704020202020204"/>
              </a:defRPr>
            </a:pPr>
            <a:r>
              <a:rPr sz="1950" b="1">
                <a:solidFill>
                  <a:srgbClr val="EC633D"/>
                </a:solidFill>
                <a:latin typeface="Arial" panose="020B0704020202020204"/>
                <a:ea typeface="Arial" panose="020B0704020202020204"/>
                <a:cs typeface="Arial" panose="020B0704020202020204"/>
              </a:rPr>
              <a:t>The half-sample reference is an empirical comparison, not a hard ceiling.</a:t>
            </a:r>
            <a:endParaRPr sz="1950" b="1">
              <a:solidFill>
                <a:srgbClr val="EC633D"/>
              </a:solidFill>
              <a:latin typeface="Arial" panose="020B0704020202020204"/>
              <a:ea typeface="Arial" panose="020B0704020202020204"/>
              <a:cs typeface="Arial" panose="020B0704020202020204"/>
            </a:endParaRPr>
          </a:p>
        </p:txBody>
      </p:sp>
      <p:sp>
        <p:nvSpPr>
          <p:cNvPr id="5" name="Text Box 4"/>
          <p:cNvSpPr txBox="1"/>
          <p:nvPr/>
        </p:nvSpPr>
        <p:spPr>
          <a:xfrm>
            <a:off x="10056495" y="0"/>
            <a:ext cx="4064000" cy="368300"/>
          </a:xfrm>
          <a:prstGeom prst="rect">
            <a:avLst/>
          </a:prstGeom>
          <a:noFill/>
        </p:spPr>
        <p:txBody>
          <a:bodyPr wrap="square" rtlCol="0">
            <a:spAutoFit/>
          </a:bodyPr>
          <a:p>
            <a:r>
              <a:rPr lang="en-US"/>
              <a:t>ID: 200010263</a:t>
            </a: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0" name="Transcriptomic responses improve sensitivity prediction"/>
          <p:cNvSpPr>
            <a:spLocks noGrp="1"/>
          </p:cNvSpPr>
          <p:nvPr/>
        </p:nvSpPr>
        <p:spPr>
          <a:xfrm>
            <a:off x="609600" y="409575"/>
            <a:ext cx="10972800" cy="962025"/>
          </a:xfrm>
          <a:prstGeom prst="rect">
            <a:avLst/>
          </a:prstGeom>
          <a:noFill/>
          <a:ln w="0">
            <a:noFill/>
          </a:ln>
        </p:spPr>
        <p:txBody>
          <a:bodyPr anchor="ctr">
            <a:noAutofit/>
          </a:bodyPr>
          <a:lstStyle/>
          <a:p>
            <a:pPr>
              <a:defRPr sz="3150" b="1">
                <a:solidFill>
                  <a:srgbClr val="102D43"/>
                </a:solidFill>
                <a:latin typeface="Arial" panose="020B0704020202020204"/>
                <a:ea typeface="Arial" panose="020B0704020202020204"/>
                <a:cs typeface="Arial" panose="020B0704020202020204"/>
              </a:defRPr>
            </a:pPr>
            <a:r>
              <a:rPr sz="3150" b="1">
                <a:solidFill>
                  <a:srgbClr val="102D43"/>
                </a:solidFill>
                <a:latin typeface="Arial" panose="020B0704020202020204"/>
                <a:ea typeface="Arial" panose="020B0704020202020204"/>
                <a:cs typeface="Arial" panose="020B0704020202020204"/>
              </a:rPr>
              <a:t>Transcriptomic responses improve sensitivity prediction</a:t>
            </a:r>
            <a:endParaRPr sz="3150" b="1">
              <a:solidFill>
                <a:srgbClr val="102D43"/>
              </a:solidFill>
              <a:latin typeface="Arial" panose="020B0704020202020204"/>
              <a:ea typeface="Arial" panose="020B0704020202020204"/>
              <a:cs typeface="Arial" panose="020B0704020202020204"/>
            </a:endParaRPr>
          </a:p>
        </p:txBody>
      </p:sp>
      <p:sp>
        <p:nvSpPr>
          <p:cNvPr id="2" name="Svensson et al., 2026, Fig. 2 (Emerald Bay sensitivity predi"/>
          <p:cNvSpPr>
            <a:spLocks noGrp="1"/>
          </p:cNvSpPr>
          <p:nvPr/>
        </p:nvSpPr>
        <p:spPr>
          <a:xfrm>
            <a:off x="609600" y="6305550"/>
            <a:ext cx="10382250" cy="333375"/>
          </a:xfrm>
          <a:prstGeom prst="rect">
            <a:avLst/>
          </a:prstGeom>
          <a:noFill/>
          <a:ln w="0">
            <a:noFill/>
          </a:ln>
        </p:spPr>
        <p:txBody>
          <a:bodyPr anchor="ctr">
            <a:noAutofit/>
          </a:bodyPr>
          <a:lstStyle/>
          <a:p>
            <a:pPr>
              <a:defRPr sz="1125" b="0">
                <a:solidFill>
                  <a:srgbClr val="56636C"/>
                </a:solidFill>
                <a:latin typeface="Arial" panose="020B0704020202020204"/>
                <a:ea typeface="Arial" panose="020B0704020202020204"/>
                <a:cs typeface="Arial" panose="020B0704020202020204"/>
              </a:defRPr>
            </a:pPr>
            <a:r>
              <a:rPr sz="1125" b="0">
                <a:solidFill>
                  <a:srgbClr val="56636C"/>
                </a:solidFill>
                <a:latin typeface="Arial" panose="020B0704020202020204"/>
                <a:ea typeface="Arial" panose="020B0704020202020204"/>
                <a:cs typeface="Arial" panose="020B0704020202020204"/>
              </a:rPr>
              <a:t>Svensson et al., 2026, Fig. 2 (Emerald Bay sensitivity prediction), pp. 5–6 and 13–14</a:t>
            </a:r>
            <a:endParaRPr sz="1125" b="0">
              <a:solidFill>
                <a:srgbClr val="56636C"/>
              </a:solidFill>
              <a:latin typeface="Arial" panose="020B0704020202020204"/>
              <a:ea typeface="Arial" panose="020B0704020202020204"/>
              <a:cs typeface="Arial" panose="020B0704020202020204"/>
            </a:endParaRPr>
          </a:p>
        </p:txBody>
      </p:sp>
      <p:sp>
        <p:nvSpPr>
          <p:cNvPr id="3" name="5 / 7"/>
          <p:cNvSpPr>
            <a:spLocks noGrp="1"/>
          </p:cNvSpPr>
          <p:nvPr/>
        </p:nvSpPr>
        <p:spPr>
          <a:xfrm>
            <a:off x="11049000" y="6305550"/>
            <a:ext cx="619125" cy="333375"/>
          </a:xfrm>
          <a:prstGeom prst="rect">
            <a:avLst/>
          </a:prstGeom>
          <a:noFill/>
          <a:ln w="0">
            <a:noFill/>
          </a:ln>
        </p:spPr>
        <p:txBody>
          <a:bodyPr anchor="ctr">
            <a:noAutofit/>
          </a:bodyPr>
          <a:lstStyle/>
          <a:p>
            <a:pPr>
              <a:defRPr sz="1200" b="0">
                <a:solidFill>
                  <a:srgbClr val="56636C"/>
                </a:solidFill>
                <a:latin typeface="Arial" panose="020B0704020202020204"/>
                <a:ea typeface="Arial" panose="020B0704020202020204"/>
                <a:cs typeface="Arial" panose="020B0704020202020204"/>
              </a:defRPr>
            </a:pPr>
            <a:r>
              <a:rPr sz="1200" b="0">
                <a:solidFill>
                  <a:srgbClr val="56636C"/>
                </a:solidFill>
                <a:latin typeface="Arial" panose="020B0704020202020204"/>
                <a:ea typeface="Arial" panose="020B0704020202020204"/>
                <a:cs typeface="Arial" panose="020B0704020202020204"/>
              </a:rPr>
              <a:t>6 / 8</a:t>
            </a:r>
            <a:endParaRPr sz="1200" b="0">
              <a:solidFill>
                <a:srgbClr val="56636C"/>
              </a:solidFill>
              <a:latin typeface="Arial" panose="020B0704020202020204"/>
              <a:ea typeface="Arial" panose="020B0704020202020204"/>
              <a:cs typeface="Arial" panose="020B0704020202020204"/>
            </a:endParaRPr>
          </a:p>
        </p:txBody>
      </p:sp>
      <p:sp>
        <p:nvSpPr>
          <p:cNvPr id="4" name="Emerald Bay"/>
          <p:cNvSpPr>
            <a:spLocks noGrp="1"/>
          </p:cNvSpPr>
          <p:nvPr/>
        </p:nvSpPr>
        <p:spPr>
          <a:xfrm>
            <a:off x="619125" y="1619250"/>
            <a:ext cx="4286250" cy="523875"/>
          </a:xfrm>
          <a:prstGeom prst="rect">
            <a:avLst/>
          </a:prstGeom>
          <a:noFill/>
          <a:ln w="0">
            <a:noFill/>
          </a:ln>
        </p:spPr>
        <p:txBody>
          <a:bodyPr anchor="ctr">
            <a:noAutofit/>
          </a:bodyPr>
          <a:lstStyle/>
          <a:p>
            <a:pPr>
              <a:defRPr sz="2550" b="1">
                <a:solidFill>
                  <a:srgbClr val="102D43"/>
                </a:solidFill>
                <a:latin typeface="Arial" panose="020B0704020202020204"/>
                <a:ea typeface="Arial" panose="020B0704020202020204"/>
                <a:cs typeface="Arial" panose="020B0704020202020204"/>
              </a:defRPr>
            </a:pPr>
            <a:r>
              <a:rPr sz="2550" b="1">
                <a:solidFill>
                  <a:srgbClr val="102D43"/>
                </a:solidFill>
                <a:latin typeface="Arial" panose="020B0704020202020204"/>
                <a:ea typeface="Arial" panose="020B0704020202020204"/>
                <a:cs typeface="Arial" panose="020B0704020202020204"/>
              </a:rPr>
              <a:t>Emerald Bay</a:t>
            </a:r>
            <a:endParaRPr sz="2550" b="1">
              <a:solidFill>
                <a:srgbClr val="102D43"/>
              </a:solidFill>
              <a:latin typeface="Arial" panose="020B0704020202020204"/>
              <a:ea typeface="Arial" panose="020B0704020202020204"/>
              <a:cs typeface="Arial" panose="020B0704020202020204"/>
            </a:endParaRPr>
          </a:p>
        </p:txBody>
      </p:sp>
      <p:sp>
        <p:nvSpPr>
          <p:cNvPr id="5" name="52 pooled cancer cell lines&#10;5-day drug treatment&#10;Paired abun"/>
          <p:cNvSpPr>
            <a:spLocks noGrp="1"/>
          </p:cNvSpPr>
          <p:nvPr/>
        </p:nvSpPr>
        <p:spPr>
          <a:xfrm>
            <a:off x="619125" y="2362200"/>
            <a:ext cx="4381500" cy="1352550"/>
          </a:xfrm>
          <a:prstGeom prst="rect">
            <a:avLst/>
          </a:prstGeom>
          <a:noFill/>
          <a:ln w="0">
            <a:noFill/>
          </a:ln>
        </p:spPr>
        <p:txBody>
          <a:bodyPr anchor="ctr">
            <a:noAutofit/>
          </a:bodyPr>
          <a:lstStyle/>
          <a:p>
            <a:pPr>
              <a:defRPr sz="2100" b="0">
                <a:solidFill>
                  <a:srgbClr val="102D43"/>
                </a:solidFill>
                <a:latin typeface="Arial" panose="020B0704020202020204"/>
                <a:ea typeface="Arial" panose="020B0704020202020204"/>
                <a:cs typeface="Arial" panose="020B0704020202020204"/>
              </a:defRPr>
            </a:pPr>
            <a:r>
              <a:rPr sz="2100" b="0">
                <a:solidFill>
                  <a:srgbClr val="102D43"/>
                </a:solidFill>
                <a:latin typeface="Arial" panose="020B0704020202020204"/>
                <a:ea typeface="Arial" panose="020B0704020202020204"/>
                <a:cs typeface="Arial" panose="020B0704020202020204"/>
              </a:rPr>
              <a:t>52 pooled cancer cell lines</a:t>
            </a:r>
            <a:endParaRPr sz="2100" b="0">
              <a:solidFill>
                <a:srgbClr val="102D43"/>
              </a:solidFill>
              <a:latin typeface="Arial" panose="020B0704020202020204"/>
              <a:ea typeface="Arial" panose="020B0704020202020204"/>
              <a:cs typeface="Arial" panose="020B0704020202020204"/>
            </a:endParaRPr>
          </a:p>
          <a:p>
            <a:pPr>
              <a:defRPr sz="2100" b="0">
                <a:solidFill>
                  <a:srgbClr val="102D43"/>
                </a:solidFill>
                <a:latin typeface="Arial" panose="020B0704020202020204"/>
                <a:ea typeface="Arial" panose="020B0704020202020204"/>
                <a:cs typeface="Arial" panose="020B0704020202020204"/>
              </a:defRPr>
            </a:pPr>
            <a:r>
              <a:rPr sz="2100" b="0">
                <a:solidFill>
                  <a:srgbClr val="102D43"/>
                </a:solidFill>
                <a:latin typeface="Arial" panose="020B0704020202020204"/>
                <a:ea typeface="Arial" panose="020B0704020202020204"/>
                <a:cs typeface="Arial" panose="020B0704020202020204"/>
              </a:rPr>
              <a:t>5-day drug treatment</a:t>
            </a:r>
            <a:endParaRPr sz="2100" b="0">
              <a:solidFill>
                <a:srgbClr val="102D43"/>
              </a:solidFill>
              <a:latin typeface="Arial" panose="020B0704020202020204"/>
              <a:ea typeface="Arial" panose="020B0704020202020204"/>
              <a:cs typeface="Arial" panose="020B0704020202020204"/>
            </a:endParaRPr>
          </a:p>
          <a:p>
            <a:pPr>
              <a:defRPr sz="2100" b="0">
                <a:solidFill>
                  <a:srgbClr val="102D43"/>
                </a:solidFill>
                <a:latin typeface="Arial" panose="020B0704020202020204"/>
                <a:ea typeface="Arial" panose="020B0704020202020204"/>
                <a:cs typeface="Arial" panose="020B0704020202020204"/>
              </a:defRPr>
            </a:pPr>
            <a:r>
              <a:rPr sz="2100" b="0">
                <a:solidFill>
                  <a:srgbClr val="102D43"/>
                </a:solidFill>
                <a:latin typeface="Arial" panose="020B0704020202020204"/>
                <a:ea typeface="Arial" panose="020B0704020202020204"/>
                <a:cs typeface="Arial" panose="020B0704020202020204"/>
              </a:rPr>
              <a:t>Paired abundance and RNA readouts</a:t>
            </a:r>
            <a:endParaRPr sz="2100" b="0">
              <a:solidFill>
                <a:srgbClr val="102D43"/>
              </a:solidFill>
              <a:latin typeface="Arial" panose="020B0704020202020204"/>
              <a:ea typeface="Arial" panose="020B0704020202020204"/>
              <a:cs typeface="Arial" panose="020B0704020202020204"/>
            </a:endParaRPr>
          </a:p>
        </p:txBody>
      </p:sp>
      <p:sp>
        <p:nvSpPr>
          <p:cNvPr id="6" name="0.26 to 0.31"/>
          <p:cNvSpPr>
            <a:spLocks noGrp="1"/>
          </p:cNvSpPr>
          <p:nvPr/>
        </p:nvSpPr>
        <p:spPr>
          <a:xfrm>
            <a:off x="619125" y="4105275"/>
            <a:ext cx="4429125" cy="609600"/>
          </a:xfrm>
          <a:prstGeom prst="rect">
            <a:avLst/>
          </a:prstGeom>
          <a:noFill/>
          <a:ln w="0">
            <a:noFill/>
          </a:ln>
        </p:spPr>
        <p:txBody>
          <a:bodyPr anchor="ctr">
            <a:noAutofit/>
          </a:bodyPr>
          <a:lstStyle/>
          <a:p>
            <a:pPr>
              <a:defRPr sz="3450" b="1">
                <a:solidFill>
                  <a:srgbClr val="EC633D"/>
                </a:solidFill>
                <a:latin typeface="Arial" panose="020B0704020202020204"/>
                <a:ea typeface="Arial" panose="020B0704020202020204"/>
                <a:cs typeface="Arial" panose="020B0704020202020204"/>
              </a:defRPr>
            </a:pPr>
            <a:r>
              <a:rPr sz="3450" b="1">
                <a:solidFill>
                  <a:srgbClr val="EC633D"/>
                </a:solidFill>
                <a:latin typeface="Arial" panose="020B0704020202020204"/>
                <a:ea typeface="Arial" panose="020B0704020202020204"/>
                <a:cs typeface="Arial" panose="020B0704020202020204"/>
              </a:rPr>
              <a:t>0.26 to 0.31</a:t>
            </a:r>
            <a:endParaRPr sz="3450" b="1">
              <a:solidFill>
                <a:srgbClr val="EC633D"/>
              </a:solidFill>
              <a:latin typeface="Arial" panose="020B0704020202020204"/>
              <a:ea typeface="Arial" panose="020B0704020202020204"/>
              <a:cs typeface="Arial" panose="020B0704020202020204"/>
            </a:endParaRPr>
          </a:p>
        </p:txBody>
      </p:sp>
      <p:sp>
        <p:nvSpPr>
          <p:cNvPr id="7" name="R² after adding transcriptomic&#10;responses from the measured p"/>
          <p:cNvSpPr>
            <a:spLocks noGrp="1"/>
          </p:cNvSpPr>
          <p:nvPr/>
        </p:nvSpPr>
        <p:spPr>
          <a:xfrm>
            <a:off x="619125" y="4848225"/>
            <a:ext cx="4429125" cy="809625"/>
          </a:xfrm>
          <a:prstGeom prst="rect">
            <a:avLst/>
          </a:prstGeom>
          <a:noFill/>
          <a:ln w="0">
            <a:noFill/>
          </a:ln>
        </p:spPr>
        <p:txBody>
          <a:bodyPr anchor="ctr">
            <a:noAutofit/>
          </a:bodyPr>
          <a:lstStyle/>
          <a:p>
            <a:pPr>
              <a:defRPr sz="2025" b="0">
                <a:solidFill>
                  <a:srgbClr val="102D43"/>
                </a:solidFill>
                <a:latin typeface="Arial" panose="020B0704020202020204"/>
                <a:ea typeface="Arial" panose="020B0704020202020204"/>
                <a:cs typeface="Arial" panose="020B0704020202020204"/>
              </a:defRPr>
            </a:pPr>
            <a:r>
              <a:rPr sz="2025" b="0">
                <a:solidFill>
                  <a:srgbClr val="102D43"/>
                </a:solidFill>
                <a:latin typeface="Arial" panose="020B0704020202020204"/>
                <a:ea typeface="Arial" panose="020B0704020202020204"/>
                <a:cs typeface="Arial" panose="020B0704020202020204"/>
              </a:rPr>
              <a:t>R² after adding transcriptomic</a:t>
            </a:r>
            <a:endParaRPr sz="2025" b="0">
              <a:solidFill>
                <a:srgbClr val="102D43"/>
              </a:solidFill>
              <a:latin typeface="Arial" panose="020B0704020202020204"/>
              <a:ea typeface="Arial" panose="020B0704020202020204"/>
              <a:cs typeface="Arial" panose="020B0704020202020204"/>
            </a:endParaRPr>
          </a:p>
          <a:p>
            <a:pPr>
              <a:defRPr sz="2025" b="0">
                <a:solidFill>
                  <a:srgbClr val="102D43"/>
                </a:solidFill>
                <a:latin typeface="Arial" panose="020B0704020202020204"/>
                <a:ea typeface="Arial" panose="020B0704020202020204"/>
                <a:cs typeface="Arial" panose="020B0704020202020204"/>
              </a:defRPr>
            </a:pPr>
            <a:r>
              <a:rPr sz="2025" b="0">
                <a:solidFill>
                  <a:srgbClr val="102D43"/>
                </a:solidFill>
                <a:latin typeface="Arial" panose="020B0704020202020204"/>
                <a:ea typeface="Arial" panose="020B0704020202020204"/>
                <a:cs typeface="Arial" panose="020B0704020202020204"/>
              </a:rPr>
              <a:t>responses from the measured panel</a:t>
            </a:r>
            <a:endParaRPr sz="2025" b="0">
              <a:solidFill>
                <a:srgbClr val="102D43"/>
              </a:solidFill>
              <a:latin typeface="Arial" panose="020B0704020202020204"/>
              <a:ea typeface="Arial" panose="020B0704020202020204"/>
              <a:cs typeface="Arial" panose="020B0704020202020204"/>
            </a:endParaRPr>
          </a:p>
        </p:txBody>
      </p:sp>
      <p:pic>
        <p:nvPicPr>
          <p:cNvPr id="17" name="Picture 16" descr="Figure 2 Emerald Bay sensitivity prediction. R-squared is 0.26 using sensitivity, 0.31 with transcriptomic features, and 0.99 for the half-sample reference. Bars represent one standard deviation across five splits."/>
          <p:cNvPicPr>
            <a:picLocks noChangeAspect="1"/>
          </p:cNvPicPr>
          <p:nvPr/>
        </p:nvPicPr>
        <p:blipFill>
          <a:blip r:embed="rId1"/>
          <a:stretch>
            <a:fillRect/>
          </a:stretch>
        </p:blipFill>
        <p:spPr>
          <a:xfrm>
            <a:off x="5708674" y="1628775"/>
            <a:ext cx="5546677" cy="4048125"/>
          </a:xfrm>
          <a:prstGeom prst="rect">
            <a:avLst/>
          </a:prstGeom>
        </p:spPr>
      </p:pic>
      <p:sp>
        <p:nvSpPr>
          <p:cNvPr id="9" name="Endpoint: change in relative cell-line abundance within a po"/>
          <p:cNvSpPr>
            <a:spLocks noGrp="1"/>
          </p:cNvSpPr>
          <p:nvPr/>
        </p:nvSpPr>
        <p:spPr>
          <a:xfrm>
            <a:off x="619125" y="5819775"/>
            <a:ext cx="10953750" cy="342900"/>
          </a:xfrm>
          <a:prstGeom prst="rect">
            <a:avLst/>
          </a:prstGeom>
          <a:noFill/>
          <a:ln w="0">
            <a:noFill/>
          </a:ln>
        </p:spPr>
        <p:txBody>
          <a:bodyPr anchor="ctr">
            <a:noAutofit/>
          </a:bodyPr>
          <a:lstStyle/>
          <a:p>
            <a:pPr>
              <a:defRPr sz="1650" b="0">
                <a:solidFill>
                  <a:srgbClr val="56636C"/>
                </a:solidFill>
                <a:latin typeface="Arial" panose="020B0704020202020204"/>
                <a:ea typeface="Arial" panose="020B0704020202020204"/>
                <a:cs typeface="Arial" panose="020B0704020202020204"/>
              </a:defRPr>
            </a:pPr>
            <a:r>
              <a:rPr sz="1650" b="0">
                <a:solidFill>
                  <a:srgbClr val="56636C"/>
                </a:solidFill>
                <a:latin typeface="Arial" panose="020B0704020202020204"/>
                <a:ea typeface="Arial" panose="020B0704020202020204"/>
                <a:cs typeface="Arial" panose="020B0704020202020204"/>
              </a:rPr>
              <a:t>Endpoint: change in relative cell-line abundance within a pooled culture</a:t>
            </a:r>
            <a:endParaRPr sz="1650" b="0">
              <a:solidFill>
                <a:srgbClr val="56636C"/>
              </a:solidFill>
              <a:latin typeface="Arial" panose="020B0704020202020204"/>
              <a:ea typeface="Arial" panose="020B0704020202020204"/>
              <a:cs typeface="Arial" panose="020B0704020202020204"/>
            </a:endParaRPr>
          </a:p>
        </p:txBody>
      </p:sp>
      <p:sp>
        <p:nvSpPr>
          <p:cNvPr id="8" name="Text Box 7"/>
          <p:cNvSpPr txBox="1"/>
          <p:nvPr/>
        </p:nvSpPr>
        <p:spPr>
          <a:xfrm>
            <a:off x="10056495" y="0"/>
            <a:ext cx="4064000" cy="368300"/>
          </a:xfrm>
          <a:prstGeom prst="rect">
            <a:avLst/>
          </a:prstGeom>
          <a:noFill/>
        </p:spPr>
        <p:txBody>
          <a:bodyPr wrap="square" rtlCol="0">
            <a:spAutoFit/>
          </a:bodyPr>
          <a:p>
            <a:r>
              <a:rPr lang="en-US"/>
              <a:t>ID: 200010263</a:t>
            </a: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0" name="Rhaister-O predicts from baseline expression alone"/>
          <p:cNvSpPr>
            <a:spLocks noGrp="1"/>
          </p:cNvSpPr>
          <p:nvPr/>
        </p:nvSpPr>
        <p:spPr>
          <a:xfrm>
            <a:off x="609600" y="409575"/>
            <a:ext cx="10972800" cy="962025"/>
          </a:xfrm>
          <a:prstGeom prst="rect">
            <a:avLst/>
          </a:prstGeom>
          <a:noFill/>
          <a:ln w="0">
            <a:noFill/>
          </a:ln>
        </p:spPr>
        <p:txBody>
          <a:bodyPr anchor="ctr">
            <a:noAutofit/>
          </a:bodyPr>
          <a:lstStyle/>
          <a:p>
            <a:pPr>
              <a:defRPr sz="3150" b="1">
                <a:solidFill>
                  <a:srgbClr val="102D43"/>
                </a:solidFill>
                <a:latin typeface="Arial" panose="020B0704020202020204"/>
                <a:ea typeface="Arial" panose="020B0704020202020204"/>
                <a:cs typeface="Arial" panose="020B0704020202020204"/>
              </a:defRPr>
            </a:pPr>
            <a:r>
              <a:rPr sz="3150" b="1">
                <a:solidFill>
                  <a:srgbClr val="102D43"/>
                </a:solidFill>
                <a:latin typeface="Arial" panose="020B0704020202020204"/>
                <a:ea typeface="Arial" panose="020B0704020202020204"/>
                <a:cs typeface="Arial" panose="020B0704020202020204"/>
              </a:rPr>
              <a:t>Rhaister-O predicts from baseline expression alone</a:t>
            </a:r>
            <a:endParaRPr sz="3150" b="1">
              <a:solidFill>
                <a:srgbClr val="102D43"/>
              </a:solidFill>
              <a:latin typeface="Arial" panose="020B0704020202020204"/>
              <a:ea typeface="Arial" panose="020B0704020202020204"/>
              <a:cs typeface="Arial" panose="020B0704020202020204"/>
            </a:endParaRPr>
          </a:p>
        </p:txBody>
      </p:sp>
      <p:sp>
        <p:nvSpPr>
          <p:cNvPr id="2" name="Svensson et al., 2026, Fig. 4 (top), p. 8; Eq. 9, p. 11"/>
          <p:cNvSpPr>
            <a:spLocks noGrp="1"/>
          </p:cNvSpPr>
          <p:nvPr/>
        </p:nvSpPr>
        <p:spPr>
          <a:xfrm>
            <a:off x="609600" y="6305550"/>
            <a:ext cx="10382250" cy="333375"/>
          </a:xfrm>
          <a:prstGeom prst="rect">
            <a:avLst/>
          </a:prstGeom>
          <a:noFill/>
          <a:ln w="0">
            <a:noFill/>
          </a:ln>
        </p:spPr>
        <p:txBody>
          <a:bodyPr anchor="ctr">
            <a:noAutofit/>
          </a:bodyPr>
          <a:lstStyle/>
          <a:p>
            <a:pPr>
              <a:defRPr sz="1125" b="0">
                <a:solidFill>
                  <a:srgbClr val="56636C"/>
                </a:solidFill>
                <a:latin typeface="Arial" panose="020B0704020202020204"/>
                <a:ea typeface="Arial" panose="020B0704020202020204"/>
                <a:cs typeface="Arial" panose="020B0704020202020204"/>
              </a:defRPr>
            </a:pPr>
            <a:r>
              <a:rPr sz="1125" b="0">
                <a:solidFill>
                  <a:srgbClr val="56636C"/>
                </a:solidFill>
                <a:latin typeface="Arial" panose="020B0704020202020204"/>
                <a:ea typeface="Arial" panose="020B0704020202020204"/>
                <a:cs typeface="Arial" panose="020B0704020202020204"/>
              </a:rPr>
              <a:t>Svensson et al., 2026, Fig. 4 (top), p. 8; Eq. 9, p. 11</a:t>
            </a:r>
            <a:endParaRPr sz="1125" b="0">
              <a:solidFill>
                <a:srgbClr val="56636C"/>
              </a:solidFill>
              <a:latin typeface="Arial" panose="020B0704020202020204"/>
              <a:ea typeface="Arial" panose="020B0704020202020204"/>
              <a:cs typeface="Arial" panose="020B0704020202020204"/>
            </a:endParaRPr>
          </a:p>
        </p:txBody>
      </p:sp>
      <p:sp>
        <p:nvSpPr>
          <p:cNvPr id="3" name="6 / 7"/>
          <p:cNvSpPr>
            <a:spLocks noGrp="1"/>
          </p:cNvSpPr>
          <p:nvPr/>
        </p:nvSpPr>
        <p:spPr>
          <a:xfrm>
            <a:off x="11049000" y="6305550"/>
            <a:ext cx="619125" cy="333375"/>
          </a:xfrm>
          <a:prstGeom prst="rect">
            <a:avLst/>
          </a:prstGeom>
          <a:noFill/>
          <a:ln w="0">
            <a:noFill/>
          </a:ln>
        </p:spPr>
        <p:txBody>
          <a:bodyPr anchor="ctr">
            <a:noAutofit/>
          </a:bodyPr>
          <a:lstStyle/>
          <a:p>
            <a:pPr>
              <a:defRPr sz="1200" b="0">
                <a:solidFill>
                  <a:srgbClr val="56636C"/>
                </a:solidFill>
                <a:latin typeface="Arial" panose="020B0704020202020204"/>
                <a:ea typeface="Arial" panose="020B0704020202020204"/>
                <a:cs typeface="Arial" panose="020B0704020202020204"/>
              </a:defRPr>
            </a:pPr>
            <a:r>
              <a:rPr sz="1200" b="0">
                <a:solidFill>
                  <a:srgbClr val="56636C"/>
                </a:solidFill>
                <a:latin typeface="Arial" panose="020B0704020202020204"/>
                <a:ea typeface="Arial" panose="020B0704020202020204"/>
                <a:cs typeface="Arial" panose="020B0704020202020204"/>
              </a:rPr>
              <a:t>7 / 8</a:t>
            </a:r>
            <a:endParaRPr sz="1200" b="0">
              <a:solidFill>
                <a:srgbClr val="56636C"/>
              </a:solidFill>
              <a:latin typeface="Arial" panose="020B0704020202020204"/>
              <a:ea typeface="Arial" panose="020B0704020202020204"/>
              <a:cs typeface="Arial" panose="020B0704020202020204"/>
            </a:endParaRPr>
          </a:p>
        </p:txBody>
      </p:sp>
      <p:sp>
        <p:nvSpPr>
          <p:cNvPr id="4" name="No treated cells from the query context"/>
          <p:cNvSpPr>
            <a:spLocks noGrp="1"/>
          </p:cNvSpPr>
          <p:nvPr/>
        </p:nvSpPr>
        <p:spPr>
          <a:xfrm>
            <a:off x="619125" y="1647825"/>
            <a:ext cx="5334000" cy="762000"/>
          </a:xfrm>
          <a:prstGeom prst="rect">
            <a:avLst/>
          </a:prstGeom>
          <a:noFill/>
          <a:ln w="0">
            <a:noFill/>
          </a:ln>
        </p:spPr>
        <p:txBody>
          <a:bodyPr anchor="ctr">
            <a:noAutofit/>
          </a:bodyPr>
          <a:lstStyle/>
          <a:p>
            <a:pPr>
              <a:defRPr sz="2175" b="1">
                <a:solidFill>
                  <a:srgbClr val="102D43"/>
                </a:solidFill>
                <a:latin typeface="Arial" panose="020B0704020202020204"/>
                <a:ea typeface="Arial" panose="020B0704020202020204"/>
                <a:cs typeface="Arial" panose="020B0704020202020204"/>
              </a:defRPr>
            </a:pPr>
            <a:r>
              <a:rPr sz="2175" b="1">
                <a:solidFill>
                  <a:srgbClr val="102D43"/>
                </a:solidFill>
                <a:latin typeface="Arial" panose="020B0704020202020204"/>
                <a:ea typeface="Arial" panose="020B0704020202020204"/>
                <a:cs typeface="Arial" panose="020B0704020202020204"/>
              </a:rPr>
              <a:t>No treated cells from the query context</a:t>
            </a:r>
            <a:endParaRPr sz="2175" b="1">
              <a:solidFill>
                <a:srgbClr val="102D43"/>
              </a:solidFill>
              <a:latin typeface="Arial" panose="020B0704020202020204"/>
              <a:ea typeface="Arial" panose="020B0704020202020204"/>
              <a:cs typeface="Arial" panose="020B0704020202020204"/>
            </a:endParaRPr>
          </a:p>
        </p:txBody>
      </p:sp>
      <p:pic>
        <p:nvPicPr>
          <p:cNvPr id="14" name="Picture 13" descr="Rhaister-O response equals a perturbation-and-gene intercept plus a perturbation-and-gene slope times the baseline expression of that gene in the query context."/>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19125" y="2861279"/>
            <a:ext cx="5295900" cy="421068"/>
          </a:xfrm>
          <a:prstGeom prst="rect">
            <a:avLst/>
          </a:prstGeom>
        </p:spPr>
      </p:pic>
      <p:sp>
        <p:nvSpPr>
          <p:cNvPr id="6" name="x = baseline pseudobulk expression"/>
          <p:cNvSpPr>
            <a:spLocks noGrp="1"/>
          </p:cNvSpPr>
          <p:nvPr/>
        </p:nvSpPr>
        <p:spPr>
          <a:xfrm>
            <a:off x="619125" y="3724275"/>
            <a:ext cx="5191125" cy="523875"/>
          </a:xfrm>
          <a:prstGeom prst="rect">
            <a:avLst/>
          </a:prstGeom>
          <a:noFill/>
          <a:ln w="0">
            <a:noFill/>
          </a:ln>
        </p:spPr>
        <p:txBody>
          <a:bodyPr anchor="ctr">
            <a:noAutofit/>
          </a:bodyPr>
          <a:lstStyle/>
          <a:p>
            <a:pPr>
              <a:defRPr sz="1875" b="0">
                <a:solidFill>
                  <a:srgbClr val="56636C"/>
                </a:solidFill>
                <a:latin typeface="Arial" panose="020B0704020202020204"/>
                <a:ea typeface="Arial" panose="020B0704020202020204"/>
                <a:cs typeface="Arial" panose="020B0704020202020204"/>
              </a:defRPr>
            </a:pPr>
            <a:r>
              <a:rPr sz="1875" b="0">
                <a:solidFill>
                  <a:srgbClr val="56636C"/>
                </a:solidFill>
                <a:latin typeface="Arial" panose="020B0704020202020204"/>
                <a:ea typeface="Arial" panose="020B0704020202020204"/>
                <a:cs typeface="Arial" panose="020B0704020202020204"/>
              </a:rPr>
              <a:t>x = baseline pseudobulk expression</a:t>
            </a:r>
            <a:endParaRPr sz="1875" b="0">
              <a:solidFill>
                <a:srgbClr val="56636C"/>
              </a:solidFill>
              <a:latin typeface="Arial" panose="020B0704020202020204"/>
              <a:ea typeface="Arial" panose="020B0704020202020204"/>
              <a:cs typeface="Arial" panose="020B0704020202020204"/>
            </a:endParaRPr>
          </a:p>
        </p:txBody>
      </p:sp>
      <p:sp>
        <p:nvSpPr>
          <p:cNvPr id="7" name="Pearson Δ: 0.63 vs 0.32"/>
          <p:cNvSpPr>
            <a:spLocks noGrp="1"/>
          </p:cNvSpPr>
          <p:nvPr/>
        </p:nvSpPr>
        <p:spPr>
          <a:xfrm>
            <a:off x="619125" y="4572000"/>
            <a:ext cx="5238750" cy="466725"/>
          </a:xfrm>
          <a:prstGeom prst="rect">
            <a:avLst/>
          </a:prstGeom>
          <a:noFill/>
          <a:ln w="0">
            <a:noFill/>
          </a:ln>
        </p:spPr>
        <p:txBody>
          <a:bodyPr anchor="ctr">
            <a:noAutofit/>
          </a:bodyPr>
          <a:lstStyle/>
          <a:p>
            <a:pPr>
              <a:defRPr sz="2325" b="1">
                <a:solidFill>
                  <a:srgbClr val="EC633D"/>
                </a:solidFill>
                <a:latin typeface="Arial" panose="020B0704020202020204"/>
                <a:ea typeface="Arial" panose="020B0704020202020204"/>
                <a:cs typeface="Arial" panose="020B0704020202020204"/>
              </a:defRPr>
            </a:pPr>
            <a:r>
              <a:rPr sz="2325" b="1">
                <a:solidFill>
                  <a:srgbClr val="EC633D"/>
                </a:solidFill>
                <a:latin typeface="Arial" panose="020B0704020202020204"/>
                <a:ea typeface="Arial" panose="020B0704020202020204"/>
                <a:cs typeface="Arial" panose="020B0704020202020204"/>
              </a:rPr>
              <a:t>Pearson Δ: 0.63 vs 0.32</a:t>
            </a:r>
            <a:endParaRPr sz="2325" b="1">
              <a:solidFill>
                <a:srgbClr val="EC633D"/>
              </a:solidFill>
              <a:latin typeface="Arial" panose="020B0704020202020204"/>
              <a:ea typeface="Arial" panose="020B0704020202020204"/>
              <a:cs typeface="Arial" panose="020B0704020202020204"/>
            </a:endParaRPr>
          </a:p>
        </p:txBody>
      </p:sp>
      <p:sp>
        <p:nvSpPr>
          <p:cNvPr id="8" name="Rhaister-O compared with STATE&#10;Discrimination: 0.85 vs 0.86"/>
          <p:cNvSpPr>
            <a:spLocks noGrp="1"/>
          </p:cNvSpPr>
          <p:nvPr/>
        </p:nvSpPr>
        <p:spPr>
          <a:xfrm>
            <a:off x="619125" y="5124450"/>
            <a:ext cx="5238750" cy="742950"/>
          </a:xfrm>
          <a:prstGeom prst="rect">
            <a:avLst/>
          </a:prstGeom>
          <a:noFill/>
          <a:ln w="0">
            <a:noFill/>
          </a:ln>
        </p:spPr>
        <p:txBody>
          <a:bodyPr anchor="ctr">
            <a:noAutofit/>
          </a:bodyPr>
          <a:lstStyle/>
          <a:p>
            <a:pPr>
              <a:defRPr sz="1875" b="0">
                <a:solidFill>
                  <a:srgbClr val="56636C"/>
                </a:solidFill>
                <a:latin typeface="Arial" panose="020B0704020202020204"/>
                <a:ea typeface="Arial" panose="020B0704020202020204"/>
                <a:cs typeface="Arial" panose="020B0704020202020204"/>
              </a:defRPr>
            </a:pPr>
            <a:r>
              <a:rPr sz="1875" b="0">
                <a:solidFill>
                  <a:srgbClr val="56636C"/>
                </a:solidFill>
                <a:latin typeface="Arial" panose="020B0704020202020204"/>
                <a:ea typeface="Arial" panose="020B0704020202020204"/>
                <a:cs typeface="Arial" panose="020B0704020202020204"/>
              </a:rPr>
              <a:t>Rhaister-O compared with STATE</a:t>
            </a:r>
            <a:endParaRPr sz="1875" b="0">
              <a:solidFill>
                <a:srgbClr val="56636C"/>
              </a:solidFill>
              <a:latin typeface="Arial" panose="020B0704020202020204"/>
              <a:ea typeface="Arial" panose="020B0704020202020204"/>
              <a:cs typeface="Arial" panose="020B0704020202020204"/>
            </a:endParaRPr>
          </a:p>
          <a:p>
            <a:pPr>
              <a:defRPr sz="1875" b="0">
                <a:solidFill>
                  <a:srgbClr val="56636C"/>
                </a:solidFill>
                <a:latin typeface="Arial" panose="020B0704020202020204"/>
                <a:ea typeface="Arial" panose="020B0704020202020204"/>
                <a:cs typeface="Arial" panose="020B0704020202020204"/>
              </a:defRPr>
            </a:pPr>
            <a:r>
              <a:rPr sz="1875" b="0">
                <a:solidFill>
                  <a:srgbClr val="56636C"/>
                </a:solidFill>
                <a:latin typeface="Arial" panose="020B0704020202020204"/>
                <a:ea typeface="Arial" panose="020B0704020202020204"/>
                <a:cs typeface="Arial" panose="020B0704020202020204"/>
              </a:rPr>
              <a:t>Discrimination: 0.85 vs 0.86</a:t>
            </a:r>
            <a:endParaRPr sz="1875" b="0">
              <a:solidFill>
                <a:srgbClr val="56636C"/>
              </a:solidFill>
              <a:latin typeface="Arial" panose="020B0704020202020204"/>
              <a:ea typeface="Arial" panose="020B0704020202020204"/>
              <a:cs typeface="Arial" panose="020B0704020202020204"/>
            </a:endParaRPr>
          </a:p>
        </p:txBody>
      </p:sp>
      <p:pic>
        <p:nvPicPr>
          <p:cNvPr id="18" name="Picture 17" descr="Figure 4 baseline-only performance. Rhaister-O exceeds STATE in five mean metrics, with discrimination 0.85 versus 0.86. Error bars represent one standard deviation across five splits."/>
          <p:cNvPicPr>
            <a:picLocks noChangeAspect="1"/>
          </p:cNvPicPr>
          <p:nvPr/>
        </p:nvPicPr>
        <p:blipFill>
          <a:blip r:embed="rId3"/>
          <a:stretch>
            <a:fillRect/>
          </a:stretch>
        </p:blipFill>
        <p:spPr>
          <a:xfrm>
            <a:off x="6998439" y="1476375"/>
            <a:ext cx="4043473" cy="4648200"/>
          </a:xfrm>
          <a:prstGeom prst="rect">
            <a:avLst/>
          </a:prstGeom>
        </p:spPr>
      </p:pic>
      <p:sp>
        <p:nvSpPr>
          <p:cNvPr id="5" name="Text Box 4"/>
          <p:cNvSpPr txBox="1"/>
          <p:nvPr/>
        </p:nvSpPr>
        <p:spPr>
          <a:xfrm>
            <a:off x="10056495" y="0"/>
            <a:ext cx="4064000" cy="368300"/>
          </a:xfrm>
          <a:prstGeom prst="rect">
            <a:avLst/>
          </a:prstGeom>
          <a:noFill/>
        </p:spPr>
        <p:txBody>
          <a:bodyPr wrap="square" rtlCol="0">
            <a:spAutoFit/>
          </a:bodyPr>
          <a:p>
            <a:r>
              <a:rPr lang="en-US"/>
              <a:t>ID: 200010263</a:t>
            </a: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9" name="Summary statistics provide a strong baseline"/>
          <p:cNvSpPr>
            <a:spLocks noGrp="1"/>
          </p:cNvSpPr>
          <p:nvPr/>
        </p:nvSpPr>
        <p:spPr>
          <a:xfrm>
            <a:off x="609600" y="409575"/>
            <a:ext cx="10972800" cy="962025"/>
          </a:xfrm>
          <a:prstGeom prst="rect">
            <a:avLst/>
          </a:prstGeom>
          <a:noFill/>
          <a:ln w="0">
            <a:noFill/>
          </a:ln>
        </p:spPr>
        <p:txBody>
          <a:bodyPr anchor="ctr">
            <a:noAutofit/>
          </a:bodyPr>
          <a:lstStyle/>
          <a:p>
            <a:pPr>
              <a:defRPr sz="3150" b="1">
                <a:solidFill>
                  <a:srgbClr val="102D43"/>
                </a:solidFill>
                <a:latin typeface="Arial" panose="020B0704020202020204"/>
                <a:ea typeface="Arial" panose="020B0704020202020204"/>
                <a:cs typeface="Arial" panose="020B0704020202020204"/>
              </a:defRPr>
            </a:pPr>
            <a:r>
              <a:rPr sz="3150" b="1">
                <a:solidFill>
                  <a:srgbClr val="102D43"/>
                </a:solidFill>
                <a:latin typeface="Arial" panose="020B0704020202020204"/>
                <a:ea typeface="Arial" panose="020B0704020202020204"/>
                <a:cs typeface="Arial" panose="020B0704020202020204"/>
              </a:rPr>
              <a:t>Summary statistics provide a strong baseline</a:t>
            </a:r>
            <a:endParaRPr sz="3150" b="1">
              <a:solidFill>
                <a:srgbClr val="102D43"/>
              </a:solidFill>
              <a:latin typeface="Arial" panose="020B0704020202020204"/>
              <a:ea typeface="Arial" panose="020B0704020202020204"/>
              <a:cs typeface="Arial" panose="020B0704020202020204"/>
            </a:endParaRPr>
          </a:p>
        </p:txBody>
      </p:sp>
      <p:sp>
        <p:nvSpPr>
          <p:cNvPr id="2" name="Svensson et al., 2026, Discussion, p. 9; interpretation of F"/>
          <p:cNvSpPr>
            <a:spLocks noGrp="1"/>
          </p:cNvSpPr>
          <p:nvPr/>
        </p:nvSpPr>
        <p:spPr>
          <a:xfrm>
            <a:off x="609600" y="6305550"/>
            <a:ext cx="10382250" cy="333375"/>
          </a:xfrm>
          <a:prstGeom prst="rect">
            <a:avLst/>
          </a:prstGeom>
          <a:noFill/>
          <a:ln w="0">
            <a:noFill/>
          </a:ln>
        </p:spPr>
        <p:txBody>
          <a:bodyPr anchor="ctr">
            <a:noAutofit/>
          </a:bodyPr>
          <a:lstStyle/>
          <a:p>
            <a:pPr>
              <a:defRPr sz="1125" b="0">
                <a:solidFill>
                  <a:srgbClr val="56636C"/>
                </a:solidFill>
                <a:latin typeface="Arial" panose="020B0704020202020204"/>
                <a:ea typeface="Arial" panose="020B0704020202020204"/>
                <a:cs typeface="Arial" panose="020B0704020202020204"/>
              </a:defRPr>
            </a:pPr>
            <a:r>
              <a:rPr sz="1125" b="0">
                <a:solidFill>
                  <a:srgbClr val="56636C"/>
                </a:solidFill>
                <a:latin typeface="Arial" panose="020B0704020202020204"/>
                <a:ea typeface="Arial" panose="020B0704020202020204"/>
                <a:cs typeface="Arial" panose="020B0704020202020204"/>
              </a:rPr>
              <a:t>Svensson et al., 2026, Discussion, p. 9; interpretation of Figs. 1–4</a:t>
            </a:r>
            <a:endParaRPr sz="1125" b="0">
              <a:solidFill>
                <a:srgbClr val="56636C"/>
              </a:solidFill>
              <a:latin typeface="Arial" panose="020B0704020202020204"/>
              <a:ea typeface="Arial" panose="020B0704020202020204"/>
              <a:cs typeface="Arial" panose="020B0704020202020204"/>
            </a:endParaRPr>
          </a:p>
        </p:txBody>
      </p:sp>
      <p:sp>
        <p:nvSpPr>
          <p:cNvPr id="3" name="7 / 7"/>
          <p:cNvSpPr>
            <a:spLocks noGrp="1"/>
          </p:cNvSpPr>
          <p:nvPr/>
        </p:nvSpPr>
        <p:spPr>
          <a:xfrm>
            <a:off x="11049000" y="6305550"/>
            <a:ext cx="619125" cy="333375"/>
          </a:xfrm>
          <a:prstGeom prst="rect">
            <a:avLst/>
          </a:prstGeom>
          <a:noFill/>
          <a:ln w="0">
            <a:noFill/>
          </a:ln>
        </p:spPr>
        <p:txBody>
          <a:bodyPr anchor="ctr">
            <a:noAutofit/>
          </a:bodyPr>
          <a:lstStyle/>
          <a:p>
            <a:pPr>
              <a:defRPr sz="1200" b="0">
                <a:solidFill>
                  <a:srgbClr val="56636C"/>
                </a:solidFill>
                <a:latin typeface="Arial" panose="020B0704020202020204"/>
                <a:ea typeface="Arial" panose="020B0704020202020204"/>
                <a:cs typeface="Arial" panose="020B0704020202020204"/>
              </a:defRPr>
            </a:pPr>
            <a:r>
              <a:rPr sz="1200" b="0">
                <a:solidFill>
                  <a:srgbClr val="56636C"/>
                </a:solidFill>
                <a:latin typeface="Arial" panose="020B0704020202020204"/>
                <a:ea typeface="Arial" panose="020B0704020202020204"/>
                <a:cs typeface="Arial" panose="020B0704020202020204"/>
              </a:rPr>
              <a:t>8 / 8</a:t>
            </a:r>
            <a:endParaRPr sz="1200" b="0">
              <a:solidFill>
                <a:srgbClr val="56636C"/>
              </a:solidFill>
              <a:latin typeface="Arial" panose="020B0704020202020204"/>
              <a:ea typeface="Arial" panose="020B0704020202020204"/>
              <a:cs typeface="Arial" panose="020B0704020202020204"/>
            </a:endParaRPr>
          </a:p>
        </p:txBody>
      </p:sp>
      <p:sp>
        <p:nvSpPr>
          <p:cNvPr id="4" name="The contribution"/>
          <p:cNvSpPr>
            <a:spLocks noGrp="1"/>
          </p:cNvSpPr>
          <p:nvPr/>
        </p:nvSpPr>
        <p:spPr>
          <a:xfrm>
            <a:off x="628650" y="1733550"/>
            <a:ext cx="3048000" cy="438150"/>
          </a:xfrm>
          <a:prstGeom prst="rect">
            <a:avLst/>
          </a:prstGeom>
          <a:noFill/>
          <a:ln w="0">
            <a:noFill/>
          </a:ln>
        </p:spPr>
        <p:txBody>
          <a:bodyPr anchor="ctr">
            <a:noAutofit/>
          </a:bodyPr>
          <a:lstStyle/>
          <a:p>
            <a:pPr>
              <a:defRPr sz="2025" b="1">
                <a:solidFill>
                  <a:srgbClr val="EC633D"/>
                </a:solidFill>
                <a:latin typeface="Arial" panose="020B0704020202020204"/>
                <a:ea typeface="Arial" panose="020B0704020202020204"/>
                <a:cs typeface="Arial" panose="020B0704020202020204"/>
              </a:defRPr>
            </a:pPr>
            <a:r>
              <a:rPr sz="2025" b="1">
                <a:solidFill>
                  <a:srgbClr val="EC633D"/>
                </a:solidFill>
                <a:latin typeface="Arial" panose="020B0704020202020204"/>
                <a:ea typeface="Arial" panose="020B0704020202020204"/>
                <a:cs typeface="Arial" panose="020B0704020202020204"/>
              </a:rPr>
              <a:t>The contribution</a:t>
            </a:r>
            <a:endParaRPr sz="2025" b="1">
              <a:solidFill>
                <a:srgbClr val="EC633D"/>
              </a:solidFill>
              <a:latin typeface="Arial" panose="020B0704020202020204"/>
              <a:ea typeface="Arial" panose="020B0704020202020204"/>
              <a:cs typeface="Arial" panose="020B0704020202020204"/>
            </a:endParaRPr>
          </a:p>
        </p:txBody>
      </p:sp>
      <p:sp>
        <p:nvSpPr>
          <p:cNvPr id="5" name="Direct prediction of the readouts&#10;that downstream analyses u"/>
          <p:cNvSpPr>
            <a:spLocks noGrp="1"/>
          </p:cNvSpPr>
          <p:nvPr/>
        </p:nvSpPr>
        <p:spPr>
          <a:xfrm>
            <a:off x="628650" y="2371725"/>
            <a:ext cx="10572750" cy="990600"/>
          </a:xfrm>
          <a:prstGeom prst="rect">
            <a:avLst/>
          </a:prstGeom>
          <a:noFill/>
          <a:ln w="0">
            <a:noFill/>
          </a:ln>
        </p:spPr>
        <p:txBody>
          <a:bodyPr anchor="ctr">
            <a:noAutofit/>
          </a:bodyPr>
          <a:lstStyle/>
          <a:p>
            <a:pPr>
              <a:defRPr sz="3075" b="1">
                <a:solidFill>
                  <a:srgbClr val="102D43"/>
                </a:solidFill>
                <a:latin typeface="Arial" panose="020B0704020202020204"/>
                <a:ea typeface="Arial" panose="020B0704020202020204"/>
                <a:cs typeface="Arial" panose="020B0704020202020204"/>
              </a:defRPr>
            </a:pPr>
            <a:r>
              <a:rPr sz="3075" b="1">
                <a:solidFill>
                  <a:srgbClr val="102D43"/>
                </a:solidFill>
                <a:latin typeface="Arial" panose="020B0704020202020204"/>
                <a:ea typeface="Arial" panose="020B0704020202020204"/>
                <a:cs typeface="Arial" panose="020B0704020202020204"/>
              </a:rPr>
              <a:t>Direct prediction of the readouts</a:t>
            </a:r>
            <a:endParaRPr sz="3075" b="1">
              <a:solidFill>
                <a:srgbClr val="102D43"/>
              </a:solidFill>
              <a:latin typeface="Arial" panose="020B0704020202020204"/>
              <a:ea typeface="Arial" panose="020B0704020202020204"/>
              <a:cs typeface="Arial" panose="020B0704020202020204"/>
            </a:endParaRPr>
          </a:p>
          <a:p>
            <a:pPr>
              <a:defRPr sz="3075" b="1">
                <a:solidFill>
                  <a:srgbClr val="102D43"/>
                </a:solidFill>
                <a:latin typeface="Arial" panose="020B0704020202020204"/>
                <a:ea typeface="Arial" panose="020B0704020202020204"/>
                <a:cs typeface="Arial" panose="020B0704020202020204"/>
              </a:defRPr>
            </a:pPr>
            <a:r>
              <a:rPr sz="3075" b="1">
                <a:solidFill>
                  <a:srgbClr val="102D43"/>
                </a:solidFill>
                <a:latin typeface="Arial" panose="020B0704020202020204"/>
                <a:ea typeface="Arial" panose="020B0704020202020204"/>
                <a:cs typeface="Arial" panose="020B0704020202020204"/>
              </a:rPr>
              <a:t>that downstream analyses use</a:t>
            </a:r>
            <a:endParaRPr sz="3075" b="1">
              <a:solidFill>
                <a:srgbClr val="102D43"/>
              </a:solidFill>
              <a:latin typeface="Arial" panose="020B0704020202020204"/>
              <a:ea typeface="Arial" panose="020B0704020202020204"/>
              <a:cs typeface="Arial" panose="020B0704020202020204"/>
            </a:endParaRPr>
          </a:p>
        </p:txBody>
      </p:sp>
      <p:sp>
        <p:nvSpPr>
          <p:cNvPr id="6" name="The boundary"/>
          <p:cNvSpPr>
            <a:spLocks noGrp="1"/>
          </p:cNvSpPr>
          <p:nvPr/>
        </p:nvSpPr>
        <p:spPr>
          <a:xfrm>
            <a:off x="628650" y="3857625"/>
            <a:ext cx="3048000" cy="409575"/>
          </a:xfrm>
          <a:prstGeom prst="rect">
            <a:avLst/>
          </a:prstGeom>
          <a:noFill/>
          <a:ln w="0">
            <a:noFill/>
          </a:ln>
        </p:spPr>
        <p:txBody>
          <a:bodyPr anchor="ctr">
            <a:noAutofit/>
          </a:bodyPr>
          <a:lstStyle/>
          <a:p>
            <a:pPr>
              <a:defRPr sz="2025" b="1">
                <a:solidFill>
                  <a:srgbClr val="EC633D"/>
                </a:solidFill>
                <a:latin typeface="Arial" panose="020B0704020202020204"/>
                <a:ea typeface="Arial" panose="020B0704020202020204"/>
                <a:cs typeface="Arial" panose="020B0704020202020204"/>
              </a:defRPr>
            </a:pPr>
            <a:r>
              <a:rPr sz="2025" b="1">
                <a:solidFill>
                  <a:srgbClr val="EC633D"/>
                </a:solidFill>
                <a:latin typeface="Arial" panose="020B0704020202020204"/>
                <a:ea typeface="Arial" panose="020B0704020202020204"/>
                <a:cs typeface="Arial" panose="020B0704020202020204"/>
              </a:rPr>
              <a:t>The boundary</a:t>
            </a:r>
            <a:endParaRPr sz="2025" b="1">
              <a:solidFill>
                <a:srgbClr val="EC633D"/>
              </a:solidFill>
              <a:latin typeface="Arial" panose="020B0704020202020204"/>
              <a:ea typeface="Arial" panose="020B0704020202020204"/>
              <a:cs typeface="Arial" panose="020B0704020202020204"/>
            </a:endParaRPr>
          </a:p>
        </p:txBody>
      </p:sp>
      <p:sp>
        <p:nvSpPr>
          <p:cNvPr id="7" name="Known perturbations, new contexts&#10;Population summaries leave"/>
          <p:cNvSpPr>
            <a:spLocks noGrp="1"/>
          </p:cNvSpPr>
          <p:nvPr/>
        </p:nvSpPr>
        <p:spPr>
          <a:xfrm>
            <a:off x="628650" y="4448175"/>
            <a:ext cx="10668000" cy="1009650"/>
          </a:xfrm>
          <a:prstGeom prst="rect">
            <a:avLst/>
          </a:prstGeom>
          <a:noFill/>
          <a:ln w="0">
            <a:noFill/>
          </a:ln>
        </p:spPr>
        <p:txBody>
          <a:bodyPr anchor="ctr">
            <a:noAutofit/>
          </a:bodyPr>
          <a:lstStyle/>
          <a:p>
            <a:pPr>
              <a:defRPr sz="2250" b="0">
                <a:solidFill>
                  <a:srgbClr val="102D43"/>
                </a:solidFill>
                <a:latin typeface="Arial" panose="020B0704020202020204"/>
                <a:ea typeface="Arial" panose="020B0704020202020204"/>
                <a:cs typeface="Arial" panose="020B0704020202020204"/>
              </a:defRPr>
            </a:pPr>
            <a:r>
              <a:rPr sz="2250" b="0">
                <a:solidFill>
                  <a:srgbClr val="102D43"/>
                </a:solidFill>
                <a:latin typeface="Arial" panose="020B0704020202020204"/>
                <a:ea typeface="Arial" panose="020B0704020202020204"/>
                <a:cs typeface="Arial" panose="020B0704020202020204"/>
              </a:rPr>
              <a:t>Known perturbations, new contexts</a:t>
            </a:r>
            <a:endParaRPr sz="2250" b="0">
              <a:solidFill>
                <a:srgbClr val="102D43"/>
              </a:solidFill>
              <a:latin typeface="Arial" panose="020B0704020202020204"/>
              <a:ea typeface="Arial" panose="020B0704020202020204"/>
              <a:cs typeface="Arial" panose="020B0704020202020204"/>
            </a:endParaRPr>
          </a:p>
          <a:p>
            <a:pPr>
              <a:defRPr sz="2250" b="0">
                <a:solidFill>
                  <a:srgbClr val="102D43"/>
                </a:solidFill>
                <a:latin typeface="Arial" panose="020B0704020202020204"/>
                <a:ea typeface="Arial" panose="020B0704020202020204"/>
                <a:cs typeface="Arial" panose="020B0704020202020204"/>
              </a:defRPr>
            </a:pPr>
            <a:r>
              <a:rPr sz="2250" b="0">
                <a:solidFill>
                  <a:srgbClr val="102D43"/>
                </a:solidFill>
                <a:latin typeface="Arial" panose="020B0704020202020204"/>
                <a:ea typeface="Arial" panose="020B0704020202020204"/>
                <a:cs typeface="Arial" panose="020B0704020202020204"/>
              </a:rPr>
              <a:t>Population summaries leave single-cell heterogeneity unresolved</a:t>
            </a:r>
            <a:endParaRPr sz="2250" b="0">
              <a:solidFill>
                <a:srgbClr val="102D43"/>
              </a:solidFill>
              <a:latin typeface="Arial" panose="020B0704020202020204"/>
              <a:ea typeface="Arial" panose="020B0704020202020204"/>
              <a:cs typeface="Arial" panose="020B0704020202020204"/>
            </a:endParaRPr>
          </a:p>
        </p:txBody>
      </p:sp>
      <p:sp>
        <p:nvSpPr>
          <p:cNvPr id="8" name="For therapeutic discovery: useful prioritization still needs"/>
          <p:cNvSpPr>
            <a:spLocks noGrp="1"/>
          </p:cNvSpPr>
          <p:nvPr/>
        </p:nvSpPr>
        <p:spPr>
          <a:xfrm>
            <a:off x="628650" y="5791200"/>
            <a:ext cx="10763250" cy="361950"/>
          </a:xfrm>
          <a:prstGeom prst="rect">
            <a:avLst/>
          </a:prstGeom>
          <a:noFill/>
          <a:ln w="0">
            <a:noFill/>
          </a:ln>
        </p:spPr>
        <p:txBody>
          <a:bodyPr anchor="ctr">
            <a:noAutofit/>
          </a:bodyPr>
          <a:lstStyle/>
          <a:p>
            <a:pPr>
              <a:defRPr sz="1725" b="0">
                <a:solidFill>
                  <a:srgbClr val="56636C"/>
                </a:solidFill>
                <a:latin typeface="Arial" panose="020B0704020202020204"/>
                <a:ea typeface="Arial" panose="020B0704020202020204"/>
                <a:cs typeface="Arial" panose="020B0704020202020204"/>
              </a:defRPr>
            </a:pPr>
            <a:r>
              <a:rPr sz="1725" b="0">
                <a:solidFill>
                  <a:srgbClr val="56636C"/>
                </a:solidFill>
                <a:latin typeface="Arial" panose="020B0704020202020204"/>
                <a:ea typeface="Arial" panose="020B0704020202020204"/>
                <a:cs typeface="Arial" panose="020B0704020202020204"/>
              </a:rPr>
              <a:t>For therapeutic discovery: useful prioritization still needs experimental validation</a:t>
            </a:r>
            <a:endParaRPr sz="1725" b="0">
              <a:solidFill>
                <a:srgbClr val="56636C"/>
              </a:solidFill>
              <a:latin typeface="Arial" panose="020B0704020202020204"/>
              <a:ea typeface="Arial" panose="020B0704020202020204"/>
              <a:cs typeface="Arial" panose="020B0704020202020204"/>
            </a:endParaRPr>
          </a:p>
        </p:txBody>
      </p:sp>
      <p:sp>
        <p:nvSpPr>
          <p:cNvPr id="10" name="Text Box 9"/>
          <p:cNvSpPr txBox="1"/>
          <p:nvPr/>
        </p:nvSpPr>
        <p:spPr>
          <a:xfrm>
            <a:off x="10056495" y="0"/>
            <a:ext cx="4064000" cy="368300"/>
          </a:xfrm>
          <a:prstGeom prst="rect">
            <a:avLst/>
          </a:prstGeom>
          <a:noFill/>
        </p:spPr>
        <p:txBody>
          <a:bodyPr wrap="square" rtlCol="0">
            <a:spAutoFit/>
          </a:bodyPr>
          <a:p>
            <a:r>
              <a:rPr lang="en-US"/>
              <a:t>ID: 200010263</a:t>
            </a: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9" name="Cross-dataset gains depend on the metric"/>
          <p:cNvSpPr>
            <a:spLocks noGrp="1"/>
          </p:cNvSpPr>
          <p:nvPr/>
        </p:nvSpPr>
        <p:spPr>
          <a:xfrm>
            <a:off x="609600" y="409575"/>
            <a:ext cx="10972800" cy="962025"/>
          </a:xfrm>
          <a:prstGeom prst="rect">
            <a:avLst/>
          </a:prstGeom>
          <a:noFill/>
          <a:ln w="0">
            <a:noFill/>
          </a:ln>
        </p:spPr>
        <p:txBody>
          <a:bodyPr anchor="ctr">
            <a:noAutofit/>
          </a:bodyPr>
          <a:lstStyle/>
          <a:p>
            <a:pPr>
              <a:defRPr sz="3150" b="1">
                <a:solidFill>
                  <a:srgbClr val="102D43"/>
                </a:solidFill>
                <a:latin typeface="Arial" panose="020B0704020202020204"/>
                <a:ea typeface="Arial" panose="020B0704020202020204"/>
                <a:cs typeface="Arial" panose="020B0704020202020204"/>
              </a:defRPr>
            </a:pPr>
            <a:r>
              <a:rPr sz="3150" b="1">
                <a:solidFill>
                  <a:srgbClr val="102D43"/>
                </a:solidFill>
                <a:latin typeface="Arial" panose="020B0704020202020204"/>
                <a:ea typeface="Arial" panose="020B0704020202020204"/>
                <a:cs typeface="Arial" panose="020B0704020202020204"/>
              </a:rPr>
              <a:t>Cross-dataset gains depend on the metric</a:t>
            </a:r>
            <a:endParaRPr sz="3150" b="1">
              <a:solidFill>
                <a:srgbClr val="102D43"/>
              </a:solidFill>
              <a:latin typeface="Arial" panose="020B0704020202020204"/>
              <a:ea typeface="Arial" panose="020B0704020202020204"/>
              <a:cs typeface="Arial" panose="020B0704020202020204"/>
            </a:endParaRPr>
          </a:p>
        </p:txBody>
      </p:sp>
      <p:sp>
        <p:nvSpPr>
          <p:cNvPr id="2" name="Svensson et al., 2026, Fig. 1 and Fig. 2, pp. 3–6"/>
          <p:cNvSpPr>
            <a:spLocks noGrp="1"/>
          </p:cNvSpPr>
          <p:nvPr/>
        </p:nvSpPr>
        <p:spPr>
          <a:xfrm>
            <a:off x="609600" y="6305550"/>
            <a:ext cx="10382250" cy="333375"/>
          </a:xfrm>
          <a:prstGeom prst="rect">
            <a:avLst/>
          </a:prstGeom>
          <a:noFill/>
          <a:ln w="0">
            <a:noFill/>
          </a:ln>
        </p:spPr>
        <p:txBody>
          <a:bodyPr anchor="ctr">
            <a:noAutofit/>
          </a:bodyPr>
          <a:lstStyle/>
          <a:p>
            <a:pPr>
              <a:defRPr sz="1125" b="0">
                <a:solidFill>
                  <a:srgbClr val="56636C"/>
                </a:solidFill>
                <a:latin typeface="Arial" panose="020B0704020202020204"/>
                <a:ea typeface="Arial" panose="020B0704020202020204"/>
                <a:cs typeface="Arial" panose="020B0704020202020204"/>
              </a:defRPr>
            </a:pPr>
            <a:r>
              <a:rPr sz="1125" b="0">
                <a:solidFill>
                  <a:srgbClr val="56636C"/>
                </a:solidFill>
                <a:latin typeface="Arial" panose="020B0704020202020204"/>
                <a:ea typeface="Arial" panose="020B0704020202020204"/>
                <a:cs typeface="Arial" panose="020B0704020202020204"/>
              </a:rPr>
              <a:t>Svensson et al., 2026, Fig. 1 and Fig. 2, pp. 3–6</a:t>
            </a:r>
            <a:endParaRPr sz="1125" b="0">
              <a:solidFill>
                <a:srgbClr val="56636C"/>
              </a:solidFill>
              <a:latin typeface="Arial" panose="020B0704020202020204"/>
              <a:ea typeface="Arial" panose="020B0704020202020204"/>
              <a:cs typeface="Arial" panose="020B0704020202020204"/>
            </a:endParaRPr>
          </a:p>
        </p:txBody>
      </p:sp>
      <p:sp>
        <p:nvSpPr>
          <p:cNvPr id="3" name="B1"/>
          <p:cNvSpPr>
            <a:spLocks noGrp="1"/>
          </p:cNvSpPr>
          <p:nvPr/>
        </p:nvSpPr>
        <p:spPr>
          <a:xfrm>
            <a:off x="11049000" y="6305550"/>
            <a:ext cx="619125" cy="333375"/>
          </a:xfrm>
          <a:prstGeom prst="rect">
            <a:avLst/>
          </a:prstGeom>
          <a:noFill/>
          <a:ln w="0">
            <a:noFill/>
          </a:ln>
        </p:spPr>
        <p:txBody>
          <a:bodyPr anchor="ctr">
            <a:noAutofit/>
          </a:bodyPr>
          <a:lstStyle/>
          <a:p>
            <a:pPr>
              <a:defRPr sz="1200" b="0">
                <a:solidFill>
                  <a:srgbClr val="56636C"/>
                </a:solidFill>
                <a:latin typeface="Arial" panose="020B0704020202020204"/>
                <a:ea typeface="Arial" panose="020B0704020202020204"/>
                <a:cs typeface="Arial" panose="020B0704020202020204"/>
              </a:defRPr>
            </a:pPr>
            <a:r>
              <a:rPr sz="1200" b="0">
                <a:solidFill>
                  <a:srgbClr val="56636C"/>
                </a:solidFill>
                <a:latin typeface="Arial" panose="020B0704020202020204"/>
                <a:ea typeface="Arial" panose="020B0704020202020204"/>
                <a:cs typeface="Arial" panose="020B0704020202020204"/>
              </a:rPr>
              <a:t>B1</a:t>
            </a:r>
            <a:endParaRPr sz="1200" b="0">
              <a:solidFill>
                <a:srgbClr val="56636C"/>
              </a:solidFill>
              <a:latin typeface="Arial" panose="020B0704020202020204"/>
              <a:ea typeface="Arial" panose="020B0704020202020204"/>
              <a:cs typeface="Arial" panose="020B0704020202020204"/>
            </a:endParaRPr>
          </a:p>
        </p:txBody>
      </p:sp>
      <p:sp>
        <p:nvSpPr>
          <p:cNvPr id="4" name="BACKUP · OPTIONAL"/>
          <p:cNvSpPr>
            <a:spLocks noGrp="1"/>
          </p:cNvSpPr>
          <p:nvPr/>
        </p:nvSpPr>
        <p:spPr>
          <a:xfrm>
            <a:off x="609600" y="133350"/>
            <a:ext cx="3810000" cy="219075"/>
          </a:xfrm>
          <a:prstGeom prst="rect">
            <a:avLst/>
          </a:prstGeom>
          <a:noFill/>
          <a:ln w="0">
            <a:noFill/>
          </a:ln>
        </p:spPr>
        <p:txBody>
          <a:bodyPr anchor="ctr">
            <a:noAutofit/>
          </a:bodyPr>
          <a:lstStyle/>
          <a:p>
            <a:pPr>
              <a:defRPr sz="1050" b="1">
                <a:solidFill>
                  <a:srgbClr val="EC633D"/>
                </a:solidFill>
                <a:latin typeface="Arial" panose="020B0704020202020204"/>
                <a:ea typeface="Arial" panose="020B0704020202020204"/>
                <a:cs typeface="Arial" panose="020B0704020202020204"/>
              </a:defRPr>
            </a:pPr>
            <a:r>
              <a:rPr sz="1050" b="1">
                <a:solidFill>
                  <a:srgbClr val="EC633D"/>
                </a:solidFill>
                <a:latin typeface="Arial" panose="020B0704020202020204"/>
                <a:ea typeface="Arial" panose="020B0704020202020204"/>
                <a:cs typeface="Arial" panose="020B0704020202020204"/>
              </a:rPr>
              <a:t>BACKUP · OPTIONAL</a:t>
            </a:r>
            <a:endParaRPr sz="1050" b="1">
              <a:solidFill>
                <a:srgbClr val="EC633D"/>
              </a:solidFill>
              <a:latin typeface="Arial" panose="020B0704020202020204"/>
              <a:ea typeface="Arial" panose="020B0704020202020204"/>
              <a:cs typeface="Arial" panose="020B0704020202020204"/>
            </a:endParaRPr>
          </a:p>
        </p:txBody>
      </p:sp>
      <p:sp>
        <p:nvSpPr>
          <p:cNvPr id="5" name="Selected metrics from the additional perturbation screens"/>
          <p:cNvSpPr>
            <a:spLocks noGrp="1"/>
          </p:cNvSpPr>
          <p:nvPr/>
        </p:nvSpPr>
        <p:spPr>
          <a:xfrm>
            <a:off x="619125" y="1543050"/>
            <a:ext cx="10906125" cy="438150"/>
          </a:xfrm>
          <a:prstGeom prst="rect">
            <a:avLst/>
          </a:prstGeom>
          <a:noFill/>
          <a:ln w="0">
            <a:noFill/>
          </a:ln>
        </p:spPr>
        <p:txBody>
          <a:bodyPr anchor="ctr">
            <a:noAutofit/>
          </a:bodyPr>
          <a:lstStyle/>
          <a:p>
            <a:pPr>
              <a:defRPr sz="1950" b="0">
                <a:solidFill>
                  <a:srgbClr val="56636C"/>
                </a:solidFill>
                <a:latin typeface="Arial" panose="020B0704020202020204"/>
                <a:ea typeface="Arial" panose="020B0704020202020204"/>
                <a:cs typeface="Arial" panose="020B0704020202020204"/>
              </a:defRPr>
            </a:pPr>
            <a:r>
              <a:rPr sz="1950" b="0">
                <a:solidFill>
                  <a:srgbClr val="56636C"/>
                </a:solidFill>
                <a:latin typeface="Arial" panose="020B0704020202020204"/>
                <a:ea typeface="Arial" panose="020B0704020202020204"/>
                <a:cs typeface="Arial" panose="020B0704020202020204"/>
              </a:rPr>
              <a:t>Selected metrics from the additional perturbation screens</a:t>
            </a:r>
            <a:endParaRPr sz="1950" b="0">
              <a:solidFill>
                <a:srgbClr val="56636C"/>
              </a:solidFill>
              <a:latin typeface="Arial" panose="020B0704020202020204"/>
              <a:ea typeface="Arial" panose="020B0704020202020204"/>
              <a:cs typeface="Arial" panose="020B0704020202020204"/>
            </a:endParaRPr>
          </a:p>
        </p:txBody>
      </p:sp>
      <p:graphicFrame>
        <p:nvGraphicFramePr>
          <p:cNvPr id="14" name="Table 13"/>
          <p:cNvGraphicFramePr/>
          <p:nvPr/>
        </p:nvGraphicFramePr>
        <p:xfrm>
          <a:off x="619125" y="2247900"/>
          <a:ext cx="10953750" cy="2771775"/>
        </p:xfrm>
        <a:graphic>
          <a:graphicData uri="http://schemas.openxmlformats.org/drawingml/2006/table">
            <a:tbl>
              <a:tblPr/>
              <a:tblGrid>
                <a:gridCol w="5524500"/>
                <a:gridCol w="1809750"/>
                <a:gridCol w="1809750"/>
                <a:gridCol w="1809750"/>
              </a:tblGrid>
              <a:tr h="554355">
                <a:tc>
                  <a:txBody>
                    <a:bodyPr>
                      <a:spAutoFit/>
                    </a:bodyPr>
                    <a:lstStyle/>
                    <a:p>
                      <a:pPr algn="l"/>
                      <a:r>
                        <a:rPr sz="1800" b="1">
                          <a:solidFill>
                            <a:srgbClr val="FFFFFF"/>
                          </a:solidFill>
                          <a:latin typeface="Arial" panose="020B0704020202020204"/>
                          <a:ea typeface="Arial" panose="020B0704020202020204"/>
                          <a:cs typeface="Arial" panose="020B0704020202020204"/>
                        </a:rPr>
                        <a:t>Screen / metric</a:t>
                      </a:r>
                      <a:endParaRPr sz="1800" b="1">
                        <a:solidFill>
                          <a:srgbClr val="FFFFFF"/>
                        </a:solidFill>
                        <a:latin typeface="Arial" panose="020B0704020202020204"/>
                        <a:ea typeface="Arial" panose="020B0704020202020204"/>
                        <a:cs typeface="Arial" panose="020B0704020202020204"/>
                      </a:endParaRPr>
                    </a:p>
                  </a:txBody>
                  <a:tcPr anchor="ctr">
                    <a:solidFill>
                      <a:srgbClr val="102D43"/>
                    </a:solidFill>
                  </a:tcPr>
                </a:tc>
                <a:tc>
                  <a:txBody>
                    <a:bodyPr>
                      <a:spAutoFit/>
                    </a:bodyPr>
                    <a:lstStyle/>
                    <a:p>
                      <a:pPr algn="ctr"/>
                      <a:r>
                        <a:rPr sz="1800" b="1">
                          <a:solidFill>
                            <a:srgbClr val="FFFFFF"/>
                          </a:solidFill>
                          <a:latin typeface="Arial" panose="020B0704020202020204"/>
                          <a:ea typeface="Arial" panose="020B0704020202020204"/>
                          <a:cs typeface="Arial" panose="020B0704020202020204"/>
                        </a:rPr>
                        <a:t>Rhaister</a:t>
                      </a:r>
                      <a:endParaRPr sz="1800" b="1">
                        <a:solidFill>
                          <a:srgbClr val="FFFFFF"/>
                        </a:solidFill>
                        <a:latin typeface="Arial" panose="020B0704020202020204"/>
                        <a:ea typeface="Arial" panose="020B0704020202020204"/>
                        <a:cs typeface="Arial" panose="020B0704020202020204"/>
                      </a:endParaRPr>
                    </a:p>
                  </a:txBody>
                  <a:tcPr anchor="ctr">
                    <a:solidFill>
                      <a:srgbClr val="102D43"/>
                    </a:solidFill>
                  </a:tcPr>
                </a:tc>
                <a:tc>
                  <a:txBody>
                    <a:bodyPr>
                      <a:spAutoFit/>
                    </a:bodyPr>
                    <a:lstStyle/>
                    <a:p>
                      <a:pPr algn="ctr"/>
                      <a:r>
                        <a:rPr sz="1800" b="1">
                          <a:solidFill>
                            <a:srgbClr val="FFFFFF"/>
                          </a:solidFill>
                          <a:latin typeface="Arial" panose="020B0704020202020204"/>
                          <a:ea typeface="Arial" panose="020B0704020202020204"/>
                          <a:cs typeface="Arial" panose="020B0704020202020204"/>
                        </a:rPr>
                        <a:t>STATE</a:t>
                      </a:r>
                      <a:endParaRPr sz="1800" b="1">
                        <a:solidFill>
                          <a:srgbClr val="FFFFFF"/>
                        </a:solidFill>
                        <a:latin typeface="Arial" panose="020B0704020202020204"/>
                        <a:ea typeface="Arial" panose="020B0704020202020204"/>
                        <a:cs typeface="Arial" panose="020B0704020202020204"/>
                      </a:endParaRPr>
                    </a:p>
                  </a:txBody>
                  <a:tcPr anchor="ctr">
                    <a:solidFill>
                      <a:srgbClr val="102D43"/>
                    </a:solidFill>
                  </a:tcPr>
                </a:tc>
                <a:tc>
                  <a:txBody>
                    <a:bodyPr>
                      <a:spAutoFit/>
                    </a:bodyPr>
                    <a:lstStyle/>
                    <a:p>
                      <a:pPr algn="ctr"/>
                      <a:r>
                        <a:rPr sz="1800" b="1">
                          <a:solidFill>
                            <a:srgbClr val="FFFFFF"/>
                          </a:solidFill>
                          <a:latin typeface="Arial" panose="020B0704020202020204"/>
                          <a:ea typeface="Arial" panose="020B0704020202020204"/>
                          <a:cs typeface="Arial" panose="020B0704020202020204"/>
                        </a:rPr>
                        <a:t>Additive</a:t>
                      </a:r>
                      <a:endParaRPr sz="1800" b="1">
                        <a:solidFill>
                          <a:srgbClr val="FFFFFF"/>
                        </a:solidFill>
                        <a:latin typeface="Arial" panose="020B0704020202020204"/>
                        <a:ea typeface="Arial" panose="020B0704020202020204"/>
                        <a:cs typeface="Arial" panose="020B0704020202020204"/>
                      </a:endParaRPr>
                    </a:p>
                  </a:txBody>
                  <a:tcPr anchor="ctr">
                    <a:solidFill>
                      <a:srgbClr val="102D43"/>
                    </a:solidFill>
                  </a:tcPr>
                </a:tc>
              </a:tr>
              <a:tr h="554355">
                <a:tc>
                  <a:txBody>
                    <a:bodyPr>
                      <a:spAutoFit/>
                    </a:bodyPr>
                    <a:lstStyle/>
                    <a:p>
                      <a:pPr algn="l"/>
                      <a:r>
                        <a:rPr sz="1950" b="0">
                          <a:solidFill>
                            <a:srgbClr val="102D43"/>
                          </a:solidFill>
                          <a:latin typeface="Arial" panose="020B0704020202020204"/>
                          <a:ea typeface="Arial" panose="020B0704020202020204"/>
                          <a:cs typeface="Arial" panose="020B0704020202020204"/>
                        </a:rPr>
                        <a:t>Parse PBMC: Pearson Δ</a:t>
                      </a:r>
                      <a:endParaRPr sz="1950" b="0">
                        <a:solidFill>
                          <a:srgbClr val="102D43"/>
                        </a:solidFill>
                        <a:latin typeface="Arial" panose="020B0704020202020204"/>
                        <a:ea typeface="Arial" panose="020B0704020202020204"/>
                        <a:cs typeface="Arial" panose="020B0704020202020204"/>
                      </a:endParaRPr>
                    </a:p>
                  </a:txBody>
                  <a:tcPr anchor="ctr">
                    <a:solidFill>
                      <a:srgbClr val="FFFFFF"/>
                    </a:solidFill>
                  </a:tcPr>
                </a:tc>
                <a:tc>
                  <a:txBody>
                    <a:bodyPr>
                      <a:spAutoFit/>
                    </a:bodyPr>
                    <a:lstStyle/>
                    <a:p>
                      <a:pPr algn="ctr"/>
                      <a:r>
                        <a:rPr sz="1950" b="0">
                          <a:solidFill>
                            <a:srgbClr val="102D43"/>
                          </a:solidFill>
                          <a:latin typeface="Arial" panose="020B0704020202020204"/>
                          <a:ea typeface="Arial" panose="020B0704020202020204"/>
                          <a:cs typeface="Arial" panose="020B0704020202020204"/>
                        </a:rPr>
                        <a:t>0.46</a:t>
                      </a:r>
                      <a:endParaRPr sz="1950" b="0">
                        <a:solidFill>
                          <a:srgbClr val="102D43"/>
                        </a:solidFill>
                        <a:latin typeface="Arial" panose="020B0704020202020204"/>
                        <a:ea typeface="Arial" panose="020B0704020202020204"/>
                        <a:cs typeface="Arial" panose="020B0704020202020204"/>
                      </a:endParaRPr>
                    </a:p>
                  </a:txBody>
                  <a:tcPr anchor="ctr">
                    <a:solidFill>
                      <a:srgbClr val="FFFFFF"/>
                    </a:solidFill>
                  </a:tcPr>
                </a:tc>
                <a:tc>
                  <a:txBody>
                    <a:bodyPr>
                      <a:spAutoFit/>
                    </a:bodyPr>
                    <a:lstStyle/>
                    <a:p>
                      <a:pPr algn="ctr"/>
                      <a:r>
                        <a:rPr sz="1950" b="0">
                          <a:solidFill>
                            <a:srgbClr val="102D43"/>
                          </a:solidFill>
                          <a:latin typeface="Arial" panose="020B0704020202020204"/>
                          <a:ea typeface="Arial" panose="020B0704020202020204"/>
                          <a:cs typeface="Arial" panose="020B0704020202020204"/>
                        </a:rPr>
                        <a:t>0.25</a:t>
                      </a:r>
                      <a:endParaRPr sz="1950" b="0">
                        <a:solidFill>
                          <a:srgbClr val="102D43"/>
                        </a:solidFill>
                        <a:latin typeface="Arial" panose="020B0704020202020204"/>
                        <a:ea typeface="Arial" panose="020B0704020202020204"/>
                        <a:cs typeface="Arial" panose="020B0704020202020204"/>
                      </a:endParaRPr>
                    </a:p>
                  </a:txBody>
                  <a:tcPr anchor="ctr">
                    <a:solidFill>
                      <a:srgbClr val="FFFFFF"/>
                    </a:solidFill>
                  </a:tcPr>
                </a:tc>
                <a:tc>
                  <a:txBody>
                    <a:bodyPr>
                      <a:spAutoFit/>
                    </a:bodyPr>
                    <a:lstStyle/>
                    <a:p>
                      <a:pPr algn="ctr"/>
                      <a:r>
                        <a:rPr sz="1950" b="0">
                          <a:solidFill>
                            <a:srgbClr val="102D43"/>
                          </a:solidFill>
                          <a:latin typeface="Arial" panose="020B0704020202020204"/>
                          <a:ea typeface="Arial" panose="020B0704020202020204"/>
                          <a:cs typeface="Arial" panose="020B0704020202020204"/>
                        </a:rPr>
                        <a:t>0.43</a:t>
                      </a:r>
                      <a:endParaRPr sz="1950" b="0">
                        <a:solidFill>
                          <a:srgbClr val="102D43"/>
                        </a:solidFill>
                        <a:latin typeface="Arial" panose="020B0704020202020204"/>
                        <a:ea typeface="Arial" panose="020B0704020202020204"/>
                        <a:cs typeface="Arial" panose="020B0704020202020204"/>
                      </a:endParaRPr>
                    </a:p>
                  </a:txBody>
                  <a:tcPr anchor="ctr">
                    <a:solidFill>
                      <a:srgbClr val="FFFFFF"/>
                    </a:solidFill>
                  </a:tcPr>
                </a:tc>
              </a:tr>
              <a:tr h="554355">
                <a:tc>
                  <a:txBody>
                    <a:bodyPr>
                      <a:spAutoFit/>
                    </a:bodyPr>
                    <a:lstStyle/>
                    <a:p>
                      <a:pPr algn="l"/>
                      <a:r>
                        <a:rPr sz="1950" b="0">
                          <a:solidFill>
                            <a:srgbClr val="102D43"/>
                          </a:solidFill>
                          <a:latin typeface="Arial" panose="020B0704020202020204"/>
                          <a:ea typeface="Arial" panose="020B0704020202020204"/>
                          <a:cs typeface="Arial" panose="020B0704020202020204"/>
                        </a:rPr>
                        <a:t>Parse PBMC: LFC rank</a:t>
                      </a:r>
                      <a:endParaRPr sz="1950" b="0">
                        <a:solidFill>
                          <a:srgbClr val="102D43"/>
                        </a:solidFill>
                        <a:latin typeface="Arial" panose="020B0704020202020204"/>
                        <a:ea typeface="Arial" panose="020B0704020202020204"/>
                        <a:cs typeface="Arial" panose="020B0704020202020204"/>
                      </a:endParaRPr>
                    </a:p>
                  </a:txBody>
                  <a:tcPr anchor="ctr">
                    <a:solidFill>
                      <a:srgbClr val="FFFFFF"/>
                    </a:solidFill>
                  </a:tcPr>
                </a:tc>
                <a:tc>
                  <a:txBody>
                    <a:bodyPr>
                      <a:spAutoFit/>
                    </a:bodyPr>
                    <a:lstStyle/>
                    <a:p>
                      <a:pPr algn="ctr"/>
                      <a:r>
                        <a:rPr sz="1950" b="0">
                          <a:solidFill>
                            <a:srgbClr val="102D43"/>
                          </a:solidFill>
                          <a:latin typeface="Arial" panose="020B0704020202020204"/>
                          <a:ea typeface="Arial" panose="020B0704020202020204"/>
                          <a:cs typeface="Arial" panose="020B0704020202020204"/>
                        </a:rPr>
                        <a:t>0.59</a:t>
                      </a:r>
                      <a:endParaRPr sz="1950" b="0">
                        <a:solidFill>
                          <a:srgbClr val="102D43"/>
                        </a:solidFill>
                        <a:latin typeface="Arial" panose="020B0704020202020204"/>
                        <a:ea typeface="Arial" panose="020B0704020202020204"/>
                        <a:cs typeface="Arial" panose="020B0704020202020204"/>
                      </a:endParaRPr>
                    </a:p>
                  </a:txBody>
                  <a:tcPr anchor="ctr">
                    <a:solidFill>
                      <a:srgbClr val="FFFFFF"/>
                    </a:solidFill>
                  </a:tcPr>
                </a:tc>
                <a:tc>
                  <a:txBody>
                    <a:bodyPr>
                      <a:spAutoFit/>
                    </a:bodyPr>
                    <a:lstStyle/>
                    <a:p>
                      <a:pPr algn="ctr"/>
                      <a:r>
                        <a:rPr sz="1950" b="0">
                          <a:solidFill>
                            <a:srgbClr val="102D43"/>
                          </a:solidFill>
                          <a:latin typeface="Arial" panose="020B0704020202020204"/>
                          <a:ea typeface="Arial" panose="020B0704020202020204"/>
                          <a:cs typeface="Arial" panose="020B0704020202020204"/>
                        </a:rPr>
                        <a:t>0.34</a:t>
                      </a:r>
                      <a:endParaRPr sz="1950" b="0">
                        <a:solidFill>
                          <a:srgbClr val="102D43"/>
                        </a:solidFill>
                        <a:latin typeface="Arial" panose="020B0704020202020204"/>
                        <a:ea typeface="Arial" panose="020B0704020202020204"/>
                        <a:cs typeface="Arial" panose="020B0704020202020204"/>
                      </a:endParaRPr>
                    </a:p>
                  </a:txBody>
                  <a:tcPr anchor="ctr">
                    <a:solidFill>
                      <a:srgbClr val="FFFFFF"/>
                    </a:solidFill>
                  </a:tcPr>
                </a:tc>
                <a:tc>
                  <a:txBody>
                    <a:bodyPr>
                      <a:spAutoFit/>
                    </a:bodyPr>
                    <a:lstStyle/>
                    <a:p>
                      <a:pPr algn="ctr"/>
                      <a:r>
                        <a:rPr sz="1950" b="0">
                          <a:solidFill>
                            <a:srgbClr val="102D43"/>
                          </a:solidFill>
                          <a:latin typeface="Arial" panose="020B0704020202020204"/>
                          <a:ea typeface="Arial" panose="020B0704020202020204"/>
                          <a:cs typeface="Arial" panose="020B0704020202020204"/>
                        </a:rPr>
                        <a:t>0.63</a:t>
                      </a:r>
                      <a:endParaRPr sz="1950" b="0">
                        <a:solidFill>
                          <a:srgbClr val="102D43"/>
                        </a:solidFill>
                        <a:latin typeface="Arial" panose="020B0704020202020204"/>
                        <a:ea typeface="Arial" panose="020B0704020202020204"/>
                        <a:cs typeface="Arial" panose="020B0704020202020204"/>
                      </a:endParaRPr>
                    </a:p>
                  </a:txBody>
                  <a:tcPr anchor="ctr">
                    <a:solidFill>
                      <a:srgbClr val="FFFFFF"/>
                    </a:solidFill>
                  </a:tcPr>
                </a:tc>
              </a:tr>
              <a:tr h="554355">
                <a:tc>
                  <a:txBody>
                    <a:bodyPr>
                      <a:spAutoFit/>
                    </a:bodyPr>
                    <a:lstStyle/>
                    <a:p>
                      <a:pPr algn="l"/>
                      <a:r>
                        <a:rPr sz="1950" b="0">
                          <a:solidFill>
                            <a:srgbClr val="102D43"/>
                          </a:solidFill>
                          <a:latin typeface="Arial" panose="020B0704020202020204"/>
                          <a:ea typeface="Arial" panose="020B0704020202020204"/>
                          <a:cs typeface="Arial" panose="020B0704020202020204"/>
                        </a:rPr>
                        <a:t>Replogle–Nadig: Pearson Δ</a:t>
                      </a:r>
                      <a:endParaRPr sz="1950" b="0">
                        <a:solidFill>
                          <a:srgbClr val="102D43"/>
                        </a:solidFill>
                        <a:latin typeface="Arial" panose="020B0704020202020204"/>
                        <a:ea typeface="Arial" panose="020B0704020202020204"/>
                        <a:cs typeface="Arial" panose="020B0704020202020204"/>
                      </a:endParaRPr>
                    </a:p>
                  </a:txBody>
                  <a:tcPr anchor="ctr">
                    <a:solidFill>
                      <a:srgbClr val="FFFFFF"/>
                    </a:solidFill>
                  </a:tcPr>
                </a:tc>
                <a:tc>
                  <a:txBody>
                    <a:bodyPr>
                      <a:spAutoFit/>
                    </a:bodyPr>
                    <a:lstStyle/>
                    <a:p>
                      <a:pPr algn="ctr"/>
                      <a:r>
                        <a:rPr sz="1950" b="0">
                          <a:solidFill>
                            <a:srgbClr val="102D43"/>
                          </a:solidFill>
                          <a:latin typeface="Arial" panose="020B0704020202020204"/>
                          <a:ea typeface="Arial" panose="020B0704020202020204"/>
                          <a:cs typeface="Arial" panose="020B0704020202020204"/>
                        </a:rPr>
                        <a:t>0.41</a:t>
                      </a:r>
                      <a:endParaRPr sz="1950" b="0">
                        <a:solidFill>
                          <a:srgbClr val="102D43"/>
                        </a:solidFill>
                        <a:latin typeface="Arial" panose="020B0704020202020204"/>
                        <a:ea typeface="Arial" panose="020B0704020202020204"/>
                        <a:cs typeface="Arial" panose="020B0704020202020204"/>
                      </a:endParaRPr>
                    </a:p>
                  </a:txBody>
                  <a:tcPr anchor="ctr">
                    <a:solidFill>
                      <a:srgbClr val="FFFFFF"/>
                    </a:solidFill>
                  </a:tcPr>
                </a:tc>
                <a:tc>
                  <a:txBody>
                    <a:bodyPr>
                      <a:spAutoFit/>
                    </a:bodyPr>
                    <a:lstStyle/>
                    <a:p>
                      <a:pPr algn="ctr"/>
                      <a:r>
                        <a:rPr sz="1950" b="0">
                          <a:solidFill>
                            <a:srgbClr val="102D43"/>
                          </a:solidFill>
                          <a:latin typeface="Arial" panose="020B0704020202020204"/>
                          <a:ea typeface="Arial" panose="020B0704020202020204"/>
                          <a:cs typeface="Arial" panose="020B0704020202020204"/>
                        </a:rPr>
                        <a:t>0.37</a:t>
                      </a:r>
                      <a:endParaRPr sz="1950" b="0">
                        <a:solidFill>
                          <a:srgbClr val="102D43"/>
                        </a:solidFill>
                        <a:latin typeface="Arial" panose="020B0704020202020204"/>
                        <a:ea typeface="Arial" panose="020B0704020202020204"/>
                        <a:cs typeface="Arial" panose="020B0704020202020204"/>
                      </a:endParaRPr>
                    </a:p>
                  </a:txBody>
                  <a:tcPr anchor="ctr">
                    <a:solidFill>
                      <a:srgbClr val="FFFFFF"/>
                    </a:solidFill>
                  </a:tcPr>
                </a:tc>
                <a:tc>
                  <a:txBody>
                    <a:bodyPr>
                      <a:spAutoFit/>
                    </a:bodyPr>
                    <a:lstStyle/>
                    <a:p>
                      <a:pPr algn="ctr"/>
                      <a:r>
                        <a:rPr sz="1950" b="0">
                          <a:solidFill>
                            <a:srgbClr val="102D43"/>
                          </a:solidFill>
                          <a:latin typeface="Arial" panose="020B0704020202020204"/>
                          <a:ea typeface="Arial" panose="020B0704020202020204"/>
                          <a:cs typeface="Arial" panose="020B0704020202020204"/>
                        </a:rPr>
                        <a:t>0.39</a:t>
                      </a:r>
                      <a:endParaRPr sz="1950" b="0">
                        <a:solidFill>
                          <a:srgbClr val="102D43"/>
                        </a:solidFill>
                        <a:latin typeface="Arial" panose="020B0704020202020204"/>
                        <a:ea typeface="Arial" panose="020B0704020202020204"/>
                        <a:cs typeface="Arial" panose="020B0704020202020204"/>
                      </a:endParaRPr>
                    </a:p>
                  </a:txBody>
                  <a:tcPr anchor="ctr">
                    <a:solidFill>
                      <a:srgbClr val="FFFFFF"/>
                    </a:solidFill>
                  </a:tcPr>
                </a:tc>
              </a:tr>
              <a:tr h="554355">
                <a:tc>
                  <a:txBody>
                    <a:bodyPr>
                      <a:spAutoFit/>
                    </a:bodyPr>
                    <a:lstStyle/>
                    <a:p>
                      <a:pPr algn="l"/>
                      <a:r>
                        <a:rPr sz="1950" b="0">
                          <a:solidFill>
                            <a:srgbClr val="102D43"/>
                          </a:solidFill>
                          <a:latin typeface="Arial" panose="020B0704020202020204"/>
                          <a:ea typeface="Arial" panose="020B0704020202020204"/>
                          <a:cs typeface="Arial" panose="020B0704020202020204"/>
                        </a:rPr>
                        <a:t>Replogle–Nadig: LFC rank</a:t>
                      </a:r>
                      <a:endParaRPr sz="1950" b="0">
                        <a:solidFill>
                          <a:srgbClr val="102D43"/>
                        </a:solidFill>
                        <a:latin typeface="Arial" panose="020B0704020202020204"/>
                        <a:ea typeface="Arial" panose="020B0704020202020204"/>
                        <a:cs typeface="Arial" panose="020B0704020202020204"/>
                      </a:endParaRPr>
                    </a:p>
                  </a:txBody>
                  <a:tcPr anchor="ctr">
                    <a:solidFill>
                      <a:srgbClr val="FFFFFF"/>
                    </a:solidFill>
                  </a:tcPr>
                </a:tc>
                <a:tc>
                  <a:txBody>
                    <a:bodyPr>
                      <a:spAutoFit/>
                    </a:bodyPr>
                    <a:lstStyle/>
                    <a:p>
                      <a:pPr algn="ctr"/>
                      <a:r>
                        <a:rPr sz="1950" b="0">
                          <a:solidFill>
                            <a:srgbClr val="102D43"/>
                          </a:solidFill>
                          <a:latin typeface="Arial" panose="020B0704020202020204"/>
                          <a:ea typeface="Arial" panose="020B0704020202020204"/>
                          <a:cs typeface="Arial" panose="020B0704020202020204"/>
                        </a:rPr>
                        <a:t>0.63</a:t>
                      </a:r>
                      <a:endParaRPr sz="1950" b="0">
                        <a:solidFill>
                          <a:srgbClr val="102D43"/>
                        </a:solidFill>
                        <a:latin typeface="Arial" panose="020B0704020202020204"/>
                        <a:ea typeface="Arial" panose="020B0704020202020204"/>
                        <a:cs typeface="Arial" panose="020B0704020202020204"/>
                      </a:endParaRPr>
                    </a:p>
                  </a:txBody>
                  <a:tcPr anchor="ctr">
                    <a:solidFill>
                      <a:srgbClr val="FFFFFF"/>
                    </a:solidFill>
                  </a:tcPr>
                </a:tc>
                <a:tc>
                  <a:txBody>
                    <a:bodyPr>
                      <a:spAutoFit/>
                    </a:bodyPr>
                    <a:lstStyle/>
                    <a:p>
                      <a:pPr algn="ctr"/>
                      <a:r>
                        <a:rPr sz="1950" b="0">
                          <a:solidFill>
                            <a:srgbClr val="102D43"/>
                          </a:solidFill>
                          <a:latin typeface="Arial" panose="020B0704020202020204"/>
                          <a:ea typeface="Arial" panose="020B0704020202020204"/>
                          <a:cs typeface="Arial" panose="020B0704020202020204"/>
                        </a:rPr>
                        <a:t>0.78</a:t>
                      </a:r>
                      <a:endParaRPr sz="1950" b="0">
                        <a:solidFill>
                          <a:srgbClr val="102D43"/>
                        </a:solidFill>
                        <a:latin typeface="Arial" panose="020B0704020202020204"/>
                        <a:ea typeface="Arial" panose="020B0704020202020204"/>
                        <a:cs typeface="Arial" panose="020B0704020202020204"/>
                      </a:endParaRPr>
                    </a:p>
                  </a:txBody>
                  <a:tcPr anchor="ctr">
                    <a:solidFill>
                      <a:srgbClr val="FFFFFF"/>
                    </a:solidFill>
                  </a:tcPr>
                </a:tc>
                <a:tc>
                  <a:txBody>
                    <a:bodyPr>
                      <a:spAutoFit/>
                    </a:bodyPr>
                    <a:lstStyle/>
                    <a:p>
                      <a:pPr algn="ctr"/>
                      <a:r>
                        <a:rPr sz="1950" b="0">
                          <a:solidFill>
                            <a:srgbClr val="102D43"/>
                          </a:solidFill>
                          <a:latin typeface="Arial" panose="020B0704020202020204"/>
                          <a:ea typeface="Arial" panose="020B0704020202020204"/>
                          <a:cs typeface="Arial" panose="020B0704020202020204"/>
                        </a:rPr>
                        <a:t>0.66</a:t>
                      </a:r>
                      <a:endParaRPr sz="1950" b="0">
                        <a:solidFill>
                          <a:srgbClr val="102D43"/>
                        </a:solidFill>
                        <a:latin typeface="Arial" panose="020B0704020202020204"/>
                        <a:ea typeface="Arial" panose="020B0704020202020204"/>
                        <a:cs typeface="Arial" panose="020B0704020202020204"/>
                      </a:endParaRPr>
                    </a:p>
                  </a:txBody>
                  <a:tcPr anchor="ctr">
                    <a:solidFill>
                      <a:srgbClr val="FFFFFF"/>
                    </a:solidFill>
                  </a:tcPr>
                </a:tc>
              </a:tr>
            </a:tbl>
          </a:graphicData>
        </a:graphic>
      </p:graphicFrame>
      <p:sp>
        <p:nvSpPr>
          <p:cNvPr id="7" name="PRISM sensitivity: Rhaister R² 0.87; perturbation mean R² 0."/>
          <p:cNvSpPr>
            <a:spLocks noGrp="1"/>
          </p:cNvSpPr>
          <p:nvPr/>
        </p:nvSpPr>
        <p:spPr>
          <a:xfrm>
            <a:off x="619125" y="5362575"/>
            <a:ext cx="10953750" cy="419100"/>
          </a:xfrm>
          <a:prstGeom prst="rect">
            <a:avLst/>
          </a:prstGeom>
          <a:noFill/>
          <a:ln w="0">
            <a:noFill/>
          </a:ln>
        </p:spPr>
        <p:txBody>
          <a:bodyPr anchor="ctr">
            <a:noAutofit/>
          </a:bodyPr>
          <a:lstStyle/>
          <a:p>
            <a:pPr>
              <a:defRPr sz="2025" b="1">
                <a:solidFill>
                  <a:srgbClr val="EC633D"/>
                </a:solidFill>
                <a:latin typeface="Arial" panose="020B0704020202020204"/>
                <a:ea typeface="Arial" panose="020B0704020202020204"/>
                <a:cs typeface="Arial" panose="020B0704020202020204"/>
              </a:defRPr>
            </a:pPr>
            <a:r>
              <a:rPr sz="2025" b="1">
                <a:solidFill>
                  <a:srgbClr val="EC633D"/>
                </a:solidFill>
                <a:latin typeface="Arial" panose="020B0704020202020204"/>
                <a:ea typeface="Arial" panose="020B0704020202020204"/>
                <a:cs typeface="Arial" panose="020B0704020202020204"/>
              </a:rPr>
              <a:t>PRISM sensitivity: Rhaister R² 0.87; perturbation mean R² 0.81</a:t>
            </a:r>
            <a:endParaRPr sz="2025" b="1">
              <a:solidFill>
                <a:srgbClr val="EC633D"/>
              </a:solidFill>
              <a:latin typeface="Arial" panose="020B0704020202020204"/>
              <a:ea typeface="Arial" panose="020B0704020202020204"/>
              <a:cs typeface="Arial" panose="020B0704020202020204"/>
            </a:endParaRPr>
          </a:p>
        </p:txBody>
      </p:sp>
      <p:sp>
        <p:nvSpPr>
          <p:cNvPr id="8" name="A high absolute score can coexist with a strong context-inde"/>
          <p:cNvSpPr>
            <a:spLocks noGrp="1"/>
          </p:cNvSpPr>
          <p:nvPr/>
        </p:nvSpPr>
        <p:spPr>
          <a:xfrm>
            <a:off x="619125" y="5810250"/>
            <a:ext cx="10953750" cy="323850"/>
          </a:xfrm>
          <a:prstGeom prst="rect">
            <a:avLst/>
          </a:prstGeom>
          <a:noFill/>
          <a:ln w="0">
            <a:noFill/>
          </a:ln>
        </p:spPr>
        <p:txBody>
          <a:bodyPr anchor="ctr">
            <a:noAutofit/>
          </a:bodyPr>
          <a:lstStyle/>
          <a:p>
            <a:pPr>
              <a:defRPr sz="1650" b="0">
                <a:solidFill>
                  <a:srgbClr val="56636C"/>
                </a:solidFill>
                <a:latin typeface="Arial" panose="020B0704020202020204"/>
                <a:ea typeface="Arial" panose="020B0704020202020204"/>
                <a:cs typeface="Arial" panose="020B0704020202020204"/>
              </a:defRPr>
            </a:pPr>
            <a:r>
              <a:rPr sz="1650" b="0">
                <a:solidFill>
                  <a:srgbClr val="56636C"/>
                </a:solidFill>
                <a:latin typeface="Arial" panose="020B0704020202020204"/>
                <a:ea typeface="Arial" panose="020B0704020202020204"/>
                <a:cs typeface="Arial" panose="020B0704020202020204"/>
              </a:rPr>
              <a:t>A high absolute score can coexist with a strong context-independent baseline.</a:t>
            </a:r>
            <a:endParaRPr sz="1650" b="0">
              <a:solidFill>
                <a:srgbClr val="56636C"/>
              </a:solidFill>
              <a:latin typeface="Arial" panose="020B0704020202020204"/>
              <a:ea typeface="Arial" panose="020B0704020202020204"/>
              <a:cs typeface="Arial" panose="020B0704020202020204"/>
            </a:endParaRPr>
          </a:p>
        </p:txBody>
      </p:sp>
      <p:sp>
        <p:nvSpPr>
          <p:cNvPr id="6" name="Text Box 5"/>
          <p:cNvSpPr txBox="1"/>
          <p:nvPr/>
        </p:nvSpPr>
        <p:spPr>
          <a:xfrm>
            <a:off x="10056495" y="0"/>
            <a:ext cx="4064000" cy="368300"/>
          </a:xfrm>
          <a:prstGeom prst="rect">
            <a:avLst/>
          </a:prstGeom>
          <a:noFill/>
        </p:spPr>
        <p:txBody>
          <a:bodyPr wrap="square" rtlCol="0">
            <a:spAutoFit/>
          </a:bodyPr>
          <a:p>
            <a:r>
              <a:rPr lang="en-US"/>
              <a:t>ID: 200010263</a:t>
            </a: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2" name="Panel size and reference diversity affect performance"/>
          <p:cNvSpPr>
            <a:spLocks noGrp="1"/>
          </p:cNvSpPr>
          <p:nvPr/>
        </p:nvSpPr>
        <p:spPr>
          <a:xfrm>
            <a:off x="609600" y="409575"/>
            <a:ext cx="10972800" cy="962025"/>
          </a:xfrm>
          <a:prstGeom prst="rect">
            <a:avLst/>
          </a:prstGeom>
          <a:noFill/>
          <a:ln w="0">
            <a:noFill/>
          </a:ln>
        </p:spPr>
        <p:txBody>
          <a:bodyPr anchor="ctr">
            <a:noAutofit/>
          </a:bodyPr>
          <a:lstStyle/>
          <a:p>
            <a:pPr>
              <a:defRPr sz="3150" b="1">
                <a:solidFill>
                  <a:srgbClr val="102D43"/>
                </a:solidFill>
                <a:latin typeface="Arial" panose="020B0704020202020204"/>
                <a:ea typeface="Arial" panose="020B0704020202020204"/>
                <a:cs typeface="Arial" panose="020B0704020202020204"/>
              </a:defRPr>
            </a:pPr>
            <a:r>
              <a:rPr sz="3150" b="1">
                <a:solidFill>
                  <a:srgbClr val="102D43"/>
                </a:solidFill>
                <a:latin typeface="Arial" panose="020B0704020202020204"/>
                <a:ea typeface="Arial" panose="020B0704020202020204"/>
                <a:cs typeface="Arial" panose="020B0704020202020204"/>
              </a:rPr>
              <a:t>Panel size and reference diversity affect performance</a:t>
            </a:r>
            <a:endParaRPr sz="3150" b="1">
              <a:solidFill>
                <a:srgbClr val="102D43"/>
              </a:solidFill>
              <a:latin typeface="Arial" panose="020B0704020202020204"/>
              <a:ea typeface="Arial" panose="020B0704020202020204"/>
              <a:cs typeface="Arial" panose="020B0704020202020204"/>
            </a:endParaRPr>
          </a:p>
        </p:txBody>
      </p:sp>
      <p:sp>
        <p:nvSpPr>
          <p:cNvPr id="2" name="Svensson et al., 2026, Fig. 3 and Results, p. 7; Fig. 4 bott"/>
          <p:cNvSpPr>
            <a:spLocks noGrp="1"/>
          </p:cNvSpPr>
          <p:nvPr/>
        </p:nvSpPr>
        <p:spPr>
          <a:xfrm>
            <a:off x="609600" y="6305550"/>
            <a:ext cx="10382250" cy="333375"/>
          </a:xfrm>
          <a:prstGeom prst="rect">
            <a:avLst/>
          </a:prstGeom>
          <a:noFill/>
          <a:ln w="0">
            <a:noFill/>
          </a:ln>
        </p:spPr>
        <p:txBody>
          <a:bodyPr anchor="ctr">
            <a:noAutofit/>
          </a:bodyPr>
          <a:lstStyle/>
          <a:p>
            <a:pPr>
              <a:defRPr sz="1125" b="0">
                <a:solidFill>
                  <a:srgbClr val="56636C"/>
                </a:solidFill>
                <a:latin typeface="Arial" panose="020B0704020202020204"/>
                <a:ea typeface="Arial" panose="020B0704020202020204"/>
                <a:cs typeface="Arial" panose="020B0704020202020204"/>
              </a:defRPr>
            </a:pPr>
            <a:r>
              <a:rPr sz="1125" b="0">
                <a:solidFill>
                  <a:srgbClr val="56636C"/>
                </a:solidFill>
                <a:latin typeface="Arial" panose="020B0704020202020204"/>
                <a:ea typeface="Arial" panose="020B0704020202020204"/>
                <a:cs typeface="Arial" panose="020B0704020202020204"/>
              </a:rPr>
              <a:t>Svensson et al., 2026, Fig. 3 and Results, p. 7; Fig. 4 bottom, p. 8</a:t>
            </a:r>
            <a:endParaRPr sz="1125" b="0">
              <a:solidFill>
                <a:srgbClr val="56636C"/>
              </a:solidFill>
              <a:latin typeface="Arial" panose="020B0704020202020204"/>
              <a:ea typeface="Arial" panose="020B0704020202020204"/>
              <a:cs typeface="Arial" panose="020B0704020202020204"/>
            </a:endParaRPr>
          </a:p>
        </p:txBody>
      </p:sp>
      <p:sp>
        <p:nvSpPr>
          <p:cNvPr id="3" name="B2"/>
          <p:cNvSpPr>
            <a:spLocks noGrp="1"/>
          </p:cNvSpPr>
          <p:nvPr/>
        </p:nvSpPr>
        <p:spPr>
          <a:xfrm>
            <a:off x="11049000" y="6305550"/>
            <a:ext cx="619125" cy="333375"/>
          </a:xfrm>
          <a:prstGeom prst="rect">
            <a:avLst/>
          </a:prstGeom>
          <a:noFill/>
          <a:ln w="0">
            <a:noFill/>
          </a:ln>
        </p:spPr>
        <p:txBody>
          <a:bodyPr anchor="ctr">
            <a:noAutofit/>
          </a:bodyPr>
          <a:lstStyle/>
          <a:p>
            <a:pPr>
              <a:defRPr sz="1200" b="0">
                <a:solidFill>
                  <a:srgbClr val="56636C"/>
                </a:solidFill>
                <a:latin typeface="Arial" panose="020B0704020202020204"/>
                <a:ea typeface="Arial" panose="020B0704020202020204"/>
                <a:cs typeface="Arial" panose="020B0704020202020204"/>
              </a:defRPr>
            </a:pPr>
            <a:r>
              <a:rPr sz="1200" b="0">
                <a:solidFill>
                  <a:srgbClr val="56636C"/>
                </a:solidFill>
                <a:latin typeface="Arial" panose="020B0704020202020204"/>
                <a:ea typeface="Arial" panose="020B0704020202020204"/>
                <a:cs typeface="Arial" panose="020B0704020202020204"/>
              </a:rPr>
              <a:t>B2</a:t>
            </a:r>
            <a:endParaRPr sz="1200" b="0">
              <a:solidFill>
                <a:srgbClr val="56636C"/>
              </a:solidFill>
              <a:latin typeface="Arial" panose="020B0704020202020204"/>
              <a:ea typeface="Arial" panose="020B0704020202020204"/>
              <a:cs typeface="Arial" panose="020B0704020202020204"/>
            </a:endParaRPr>
          </a:p>
        </p:txBody>
      </p:sp>
      <p:sp>
        <p:nvSpPr>
          <p:cNvPr id="4" name="BACKUP · OPTIONAL"/>
          <p:cNvSpPr>
            <a:spLocks noGrp="1"/>
          </p:cNvSpPr>
          <p:nvPr/>
        </p:nvSpPr>
        <p:spPr>
          <a:xfrm>
            <a:off x="609600" y="133350"/>
            <a:ext cx="3810000" cy="219075"/>
          </a:xfrm>
          <a:prstGeom prst="rect">
            <a:avLst/>
          </a:prstGeom>
          <a:noFill/>
          <a:ln w="0">
            <a:noFill/>
          </a:ln>
        </p:spPr>
        <p:txBody>
          <a:bodyPr anchor="ctr">
            <a:noAutofit/>
          </a:bodyPr>
          <a:lstStyle/>
          <a:p>
            <a:pPr>
              <a:defRPr sz="1050" b="1">
                <a:solidFill>
                  <a:srgbClr val="EC633D"/>
                </a:solidFill>
                <a:latin typeface="Arial" panose="020B0704020202020204"/>
                <a:ea typeface="Arial" panose="020B0704020202020204"/>
                <a:cs typeface="Arial" panose="020B0704020202020204"/>
              </a:defRPr>
            </a:pPr>
            <a:r>
              <a:rPr sz="1050" b="1">
                <a:solidFill>
                  <a:srgbClr val="EC633D"/>
                </a:solidFill>
                <a:latin typeface="Arial" panose="020B0704020202020204"/>
                <a:ea typeface="Arial" panose="020B0704020202020204"/>
                <a:cs typeface="Arial" panose="020B0704020202020204"/>
              </a:rPr>
              <a:t>BACKUP · OPTIONAL</a:t>
            </a:r>
            <a:endParaRPr sz="1050" b="1">
              <a:solidFill>
                <a:srgbClr val="EC633D"/>
              </a:solidFill>
              <a:latin typeface="Arial" panose="020B0704020202020204"/>
              <a:ea typeface="Arial" panose="020B0704020202020204"/>
              <a:cs typeface="Arial" panose="020B0704020202020204"/>
            </a:endParaRPr>
          </a:p>
        </p:txBody>
      </p:sp>
      <p:sp>
        <p:nvSpPr>
          <p:cNvPr id="5" name="Measured perturbation panel"/>
          <p:cNvSpPr>
            <a:spLocks noGrp="1"/>
          </p:cNvSpPr>
          <p:nvPr/>
        </p:nvSpPr>
        <p:spPr>
          <a:xfrm>
            <a:off x="619125" y="1704975"/>
            <a:ext cx="5095875" cy="485775"/>
          </a:xfrm>
          <a:prstGeom prst="rect">
            <a:avLst/>
          </a:prstGeom>
          <a:noFill/>
          <a:ln w="0">
            <a:noFill/>
          </a:ln>
        </p:spPr>
        <p:txBody>
          <a:bodyPr anchor="ctr">
            <a:noAutofit/>
          </a:bodyPr>
          <a:lstStyle/>
          <a:p>
            <a:pPr>
              <a:defRPr sz="2175" b="1">
                <a:solidFill>
                  <a:srgbClr val="EC633D"/>
                </a:solidFill>
                <a:latin typeface="Arial" panose="020B0704020202020204"/>
                <a:ea typeface="Arial" panose="020B0704020202020204"/>
                <a:cs typeface="Arial" panose="020B0704020202020204"/>
              </a:defRPr>
            </a:pPr>
            <a:r>
              <a:rPr sz="2175" b="1">
                <a:solidFill>
                  <a:srgbClr val="EC633D"/>
                </a:solidFill>
                <a:latin typeface="Arial" panose="020B0704020202020204"/>
                <a:ea typeface="Arial" panose="020B0704020202020204"/>
                <a:cs typeface="Arial" panose="020B0704020202020204"/>
              </a:rPr>
              <a:t>Measured perturbation panel</a:t>
            </a:r>
            <a:endParaRPr sz="2175" b="1">
              <a:solidFill>
                <a:srgbClr val="EC633D"/>
              </a:solidFill>
              <a:latin typeface="Arial" panose="020B0704020202020204"/>
              <a:ea typeface="Arial" panose="020B0704020202020204"/>
              <a:cs typeface="Arial" panose="020B0704020202020204"/>
            </a:endParaRPr>
          </a:p>
        </p:txBody>
      </p:sp>
      <p:sp>
        <p:nvSpPr>
          <p:cNvPr id="6" name="1–120 drugs"/>
          <p:cNvSpPr>
            <a:spLocks noGrp="1"/>
          </p:cNvSpPr>
          <p:nvPr/>
        </p:nvSpPr>
        <p:spPr>
          <a:xfrm>
            <a:off x="619125" y="2466975"/>
            <a:ext cx="5095875" cy="809625"/>
          </a:xfrm>
          <a:prstGeom prst="rect">
            <a:avLst/>
          </a:prstGeom>
          <a:noFill/>
          <a:ln w="0">
            <a:noFill/>
          </a:ln>
        </p:spPr>
        <p:txBody>
          <a:bodyPr anchor="ctr">
            <a:noAutofit/>
          </a:bodyPr>
          <a:lstStyle/>
          <a:p>
            <a:pPr>
              <a:defRPr sz="3750" b="1">
                <a:solidFill>
                  <a:srgbClr val="102D43"/>
                </a:solidFill>
                <a:latin typeface="Arial" panose="020B0704020202020204"/>
                <a:ea typeface="Arial" panose="020B0704020202020204"/>
                <a:cs typeface="Arial" panose="020B0704020202020204"/>
              </a:defRPr>
            </a:pPr>
            <a:r>
              <a:rPr sz="3750" b="1">
                <a:solidFill>
                  <a:srgbClr val="102D43"/>
                </a:solidFill>
                <a:latin typeface="Arial" panose="020B0704020202020204"/>
                <a:ea typeface="Arial" panose="020B0704020202020204"/>
                <a:cs typeface="Arial" panose="020B0704020202020204"/>
              </a:rPr>
              <a:t>1–120 drugs</a:t>
            </a:r>
            <a:endParaRPr sz="3750" b="1">
              <a:solidFill>
                <a:srgbClr val="102D43"/>
              </a:solidFill>
              <a:latin typeface="Arial" panose="020B0704020202020204"/>
              <a:ea typeface="Arial" panose="020B0704020202020204"/>
              <a:cs typeface="Arial" panose="020B0704020202020204"/>
            </a:endParaRPr>
          </a:p>
        </p:txBody>
      </p:sp>
      <p:sp>
        <p:nvSpPr>
          <p:cNvPr id="7" name="Three doses per drug&#10;Larger panels improve the six metrics"/>
          <p:cNvSpPr>
            <a:spLocks noGrp="1"/>
          </p:cNvSpPr>
          <p:nvPr/>
        </p:nvSpPr>
        <p:spPr>
          <a:xfrm>
            <a:off x="619125" y="3638550"/>
            <a:ext cx="5095875" cy="1076325"/>
          </a:xfrm>
          <a:prstGeom prst="rect">
            <a:avLst/>
          </a:prstGeom>
          <a:noFill/>
          <a:ln w="0">
            <a:noFill/>
          </a:ln>
        </p:spPr>
        <p:txBody>
          <a:bodyPr anchor="ctr">
            <a:noAutofit/>
          </a:bodyPr>
          <a:lstStyle/>
          <a:p>
            <a:pPr>
              <a:defRPr sz="2175" b="0">
                <a:solidFill>
                  <a:srgbClr val="102D43"/>
                </a:solidFill>
                <a:latin typeface="Arial" panose="020B0704020202020204"/>
                <a:ea typeface="Arial" panose="020B0704020202020204"/>
                <a:cs typeface="Arial" panose="020B0704020202020204"/>
              </a:defRPr>
            </a:pPr>
            <a:r>
              <a:rPr sz="2175" b="0">
                <a:solidFill>
                  <a:srgbClr val="102D43"/>
                </a:solidFill>
                <a:latin typeface="Arial" panose="020B0704020202020204"/>
                <a:ea typeface="Arial" panose="020B0704020202020204"/>
                <a:cs typeface="Arial" panose="020B0704020202020204"/>
              </a:rPr>
              <a:t>Three doses per drug</a:t>
            </a:r>
            <a:endParaRPr sz="2175" b="0">
              <a:solidFill>
                <a:srgbClr val="102D43"/>
              </a:solidFill>
              <a:latin typeface="Arial" panose="020B0704020202020204"/>
              <a:ea typeface="Arial" panose="020B0704020202020204"/>
              <a:cs typeface="Arial" panose="020B0704020202020204"/>
            </a:endParaRPr>
          </a:p>
          <a:p>
            <a:pPr>
              <a:defRPr sz="2175" b="0">
                <a:solidFill>
                  <a:srgbClr val="102D43"/>
                </a:solidFill>
                <a:latin typeface="Arial" panose="020B0704020202020204"/>
                <a:ea typeface="Arial" panose="020B0704020202020204"/>
                <a:cs typeface="Arial" panose="020B0704020202020204"/>
              </a:defRPr>
            </a:pPr>
            <a:r>
              <a:rPr sz="2175" b="0">
                <a:solidFill>
                  <a:srgbClr val="102D43"/>
                </a:solidFill>
                <a:latin typeface="Arial" panose="020B0704020202020204"/>
                <a:ea typeface="Arial" panose="020B0704020202020204"/>
                <a:cs typeface="Arial" panose="020B0704020202020204"/>
              </a:rPr>
              <a:t>Larger panels improve the six metrics</a:t>
            </a:r>
            <a:endParaRPr sz="2175" b="0">
              <a:solidFill>
                <a:srgbClr val="102D43"/>
              </a:solidFill>
              <a:latin typeface="Arial" panose="020B0704020202020204"/>
              <a:ea typeface="Arial" panose="020B0704020202020204"/>
              <a:cs typeface="Arial" panose="020B0704020202020204"/>
            </a:endParaRPr>
          </a:p>
        </p:txBody>
      </p:sp>
      <p:sp>
        <p:nvSpPr>
          <p:cNvPr id="8" name="Reference contexts"/>
          <p:cNvSpPr>
            <a:spLocks noGrp="1"/>
          </p:cNvSpPr>
          <p:nvPr/>
        </p:nvSpPr>
        <p:spPr>
          <a:xfrm>
            <a:off x="6562725" y="1704975"/>
            <a:ext cx="5000625" cy="485775"/>
          </a:xfrm>
          <a:prstGeom prst="rect">
            <a:avLst/>
          </a:prstGeom>
          <a:noFill/>
          <a:ln w="0">
            <a:noFill/>
          </a:ln>
        </p:spPr>
        <p:txBody>
          <a:bodyPr anchor="ctr">
            <a:noAutofit/>
          </a:bodyPr>
          <a:lstStyle/>
          <a:p>
            <a:pPr>
              <a:defRPr sz="2175" b="1">
                <a:solidFill>
                  <a:srgbClr val="EC633D"/>
                </a:solidFill>
                <a:latin typeface="Arial" panose="020B0704020202020204"/>
                <a:ea typeface="Arial" panose="020B0704020202020204"/>
                <a:cs typeface="Arial" panose="020B0704020202020204"/>
              </a:defRPr>
            </a:pPr>
            <a:r>
              <a:rPr sz="2175" b="1">
                <a:solidFill>
                  <a:srgbClr val="EC633D"/>
                </a:solidFill>
                <a:latin typeface="Arial" panose="020B0704020202020204"/>
                <a:ea typeface="Arial" panose="020B0704020202020204"/>
                <a:cs typeface="Arial" panose="020B0704020202020204"/>
              </a:rPr>
              <a:t>Reference contexts</a:t>
            </a:r>
            <a:endParaRPr sz="2175" b="1">
              <a:solidFill>
                <a:srgbClr val="EC633D"/>
              </a:solidFill>
              <a:latin typeface="Arial" panose="020B0704020202020204"/>
              <a:ea typeface="Arial" panose="020B0704020202020204"/>
              <a:cs typeface="Arial" panose="020B0704020202020204"/>
            </a:endParaRPr>
          </a:p>
        </p:txBody>
      </p:sp>
      <p:sp>
        <p:nvSpPr>
          <p:cNvPr id="9" name="~20 cell lines"/>
          <p:cNvSpPr>
            <a:spLocks noGrp="1"/>
          </p:cNvSpPr>
          <p:nvPr/>
        </p:nvSpPr>
        <p:spPr>
          <a:xfrm>
            <a:off x="6562725" y="2466975"/>
            <a:ext cx="5000625" cy="809625"/>
          </a:xfrm>
          <a:prstGeom prst="rect">
            <a:avLst/>
          </a:prstGeom>
          <a:noFill/>
          <a:ln w="0">
            <a:noFill/>
          </a:ln>
        </p:spPr>
        <p:txBody>
          <a:bodyPr anchor="ctr">
            <a:noAutofit/>
          </a:bodyPr>
          <a:lstStyle/>
          <a:p>
            <a:pPr>
              <a:defRPr sz="3750" b="1">
                <a:solidFill>
                  <a:srgbClr val="102D43"/>
                </a:solidFill>
                <a:latin typeface="Arial" panose="020B0704020202020204"/>
                <a:ea typeface="Arial" panose="020B0704020202020204"/>
                <a:cs typeface="Arial" panose="020B0704020202020204"/>
              </a:defRPr>
            </a:pPr>
            <a:r>
              <a:rPr sz="3750" b="1">
                <a:solidFill>
                  <a:srgbClr val="102D43"/>
                </a:solidFill>
                <a:latin typeface="Arial" panose="020B0704020202020204"/>
                <a:ea typeface="Arial" panose="020B0704020202020204"/>
                <a:cs typeface="Arial" panose="020B0704020202020204"/>
              </a:rPr>
              <a:t>~20 cell lines</a:t>
            </a:r>
            <a:endParaRPr sz="3750" b="1">
              <a:solidFill>
                <a:srgbClr val="102D43"/>
              </a:solidFill>
              <a:latin typeface="Arial" panose="020B0704020202020204"/>
              <a:ea typeface="Arial" panose="020B0704020202020204"/>
              <a:cs typeface="Arial" panose="020B0704020202020204"/>
            </a:endParaRPr>
          </a:p>
        </p:txBody>
      </p:sp>
      <p:sp>
        <p:nvSpPr>
          <p:cNvPr id="10" name="Marginal further gains in the&#10;panel-based setting"/>
          <p:cNvSpPr>
            <a:spLocks noGrp="1"/>
          </p:cNvSpPr>
          <p:nvPr/>
        </p:nvSpPr>
        <p:spPr>
          <a:xfrm>
            <a:off x="6562725" y="3638550"/>
            <a:ext cx="5000625" cy="1076325"/>
          </a:xfrm>
          <a:prstGeom prst="rect">
            <a:avLst/>
          </a:prstGeom>
          <a:noFill/>
          <a:ln w="0">
            <a:noFill/>
          </a:ln>
        </p:spPr>
        <p:txBody>
          <a:bodyPr anchor="ctr">
            <a:noAutofit/>
          </a:bodyPr>
          <a:lstStyle/>
          <a:p>
            <a:pPr>
              <a:defRPr sz="2175" b="0">
                <a:solidFill>
                  <a:srgbClr val="102D43"/>
                </a:solidFill>
                <a:latin typeface="Arial" panose="020B0704020202020204"/>
                <a:ea typeface="Arial" panose="020B0704020202020204"/>
                <a:cs typeface="Arial" panose="020B0704020202020204"/>
              </a:defRPr>
            </a:pPr>
            <a:r>
              <a:rPr sz="2175" b="0">
                <a:solidFill>
                  <a:srgbClr val="102D43"/>
                </a:solidFill>
                <a:latin typeface="Arial" panose="020B0704020202020204"/>
                <a:ea typeface="Arial" panose="020B0704020202020204"/>
                <a:cs typeface="Arial" panose="020B0704020202020204"/>
              </a:rPr>
              <a:t>Marginal further gains in the</a:t>
            </a:r>
            <a:endParaRPr sz="2175" b="0">
              <a:solidFill>
                <a:srgbClr val="102D43"/>
              </a:solidFill>
              <a:latin typeface="Arial" panose="020B0704020202020204"/>
              <a:ea typeface="Arial" panose="020B0704020202020204"/>
              <a:cs typeface="Arial" panose="020B0704020202020204"/>
            </a:endParaRPr>
          </a:p>
          <a:p>
            <a:pPr>
              <a:defRPr sz="2175" b="0">
                <a:solidFill>
                  <a:srgbClr val="102D43"/>
                </a:solidFill>
                <a:latin typeface="Arial" panose="020B0704020202020204"/>
                <a:ea typeface="Arial" panose="020B0704020202020204"/>
                <a:cs typeface="Arial" panose="020B0704020202020204"/>
              </a:defRPr>
            </a:pPr>
            <a:r>
              <a:rPr sz="2175" b="0">
                <a:solidFill>
                  <a:srgbClr val="102D43"/>
                </a:solidFill>
                <a:latin typeface="Arial" panose="020B0704020202020204"/>
                <a:ea typeface="Arial" panose="020B0704020202020204"/>
                <a:cs typeface="Arial" panose="020B0704020202020204"/>
              </a:rPr>
              <a:t>panel-based setting</a:t>
            </a:r>
            <a:endParaRPr sz="2175" b="0">
              <a:solidFill>
                <a:srgbClr val="102D43"/>
              </a:solidFill>
              <a:latin typeface="Arial" panose="020B0704020202020204"/>
              <a:ea typeface="Arial" panose="020B0704020202020204"/>
              <a:cs typeface="Arial" panose="020B0704020202020204"/>
            </a:endParaRPr>
          </a:p>
        </p:txBody>
      </p:sp>
      <p:sp>
        <p:nvSpPr>
          <p:cNvPr id="11" name="Baseline-only Rhaister-O continues to benefit from more refe"/>
          <p:cNvSpPr>
            <a:spLocks noGrp="1"/>
          </p:cNvSpPr>
          <p:nvPr/>
        </p:nvSpPr>
        <p:spPr>
          <a:xfrm>
            <a:off x="619125" y="5438775"/>
            <a:ext cx="10953750" cy="590550"/>
          </a:xfrm>
          <a:prstGeom prst="rect">
            <a:avLst/>
          </a:prstGeom>
          <a:noFill/>
          <a:ln w="0">
            <a:noFill/>
          </a:ln>
        </p:spPr>
        <p:txBody>
          <a:bodyPr anchor="ctr">
            <a:noAutofit/>
          </a:bodyPr>
          <a:lstStyle/>
          <a:p>
            <a:pPr>
              <a:defRPr sz="2025" b="0">
                <a:solidFill>
                  <a:srgbClr val="56636C"/>
                </a:solidFill>
                <a:latin typeface="Arial" panose="020B0704020202020204"/>
                <a:ea typeface="Arial" panose="020B0704020202020204"/>
                <a:cs typeface="Arial" panose="020B0704020202020204"/>
              </a:defRPr>
            </a:pPr>
            <a:r>
              <a:rPr sz="2025" b="0">
                <a:solidFill>
                  <a:srgbClr val="56636C"/>
                </a:solidFill>
                <a:latin typeface="Arial" panose="020B0704020202020204"/>
                <a:ea typeface="Arial" panose="020B0704020202020204"/>
                <a:cs typeface="Arial" panose="020B0704020202020204"/>
              </a:rPr>
              <a:t>Baseline-only Rhaister-O continues to benefit from more reference contexts.</a:t>
            </a:r>
            <a:endParaRPr sz="2025" b="0">
              <a:solidFill>
                <a:srgbClr val="56636C"/>
              </a:solidFill>
              <a:latin typeface="Arial" panose="020B0704020202020204"/>
              <a:ea typeface="Arial" panose="020B0704020202020204"/>
              <a:cs typeface="Arial" panose="020B0704020202020204"/>
            </a:endParaRPr>
          </a:p>
        </p:txBody>
      </p:sp>
      <p:sp>
        <p:nvSpPr>
          <p:cNvPr id="13" name="Text Box 12"/>
          <p:cNvSpPr txBox="1"/>
          <p:nvPr/>
        </p:nvSpPr>
        <p:spPr>
          <a:xfrm>
            <a:off x="10056495" y="0"/>
            <a:ext cx="4064000" cy="368300"/>
          </a:xfrm>
          <a:prstGeom prst="rect">
            <a:avLst/>
          </a:prstGeom>
          <a:noFill/>
        </p:spPr>
        <p:txBody>
          <a:bodyPr wrap="square" rtlCol="0">
            <a:spAutoFit/>
          </a:bodyPr>
          <a:p>
            <a:r>
              <a:rPr lang="en-US"/>
              <a:t>ID: 200010263</a:t>
            </a: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1" name="The full framework adds fallback and calibration"/>
          <p:cNvSpPr>
            <a:spLocks noGrp="1"/>
          </p:cNvSpPr>
          <p:nvPr/>
        </p:nvSpPr>
        <p:spPr>
          <a:xfrm>
            <a:off x="609600" y="409575"/>
            <a:ext cx="10972800" cy="962025"/>
          </a:xfrm>
          <a:prstGeom prst="rect">
            <a:avLst/>
          </a:prstGeom>
          <a:noFill/>
          <a:ln w="0">
            <a:noFill/>
          </a:ln>
        </p:spPr>
        <p:txBody>
          <a:bodyPr anchor="ctr">
            <a:noAutofit/>
          </a:bodyPr>
          <a:lstStyle/>
          <a:p>
            <a:pPr>
              <a:defRPr sz="3150" b="1">
                <a:solidFill>
                  <a:srgbClr val="102D43"/>
                </a:solidFill>
                <a:latin typeface="Arial" panose="020B0704020202020204"/>
                <a:ea typeface="Arial" panose="020B0704020202020204"/>
                <a:cs typeface="Arial" panose="020B0704020202020204"/>
              </a:defRPr>
            </a:pPr>
            <a:r>
              <a:rPr sz="3150" b="1">
                <a:solidFill>
                  <a:srgbClr val="102D43"/>
                </a:solidFill>
                <a:latin typeface="Arial" panose="020B0704020202020204"/>
                <a:ea typeface="Arial" panose="020B0704020202020204"/>
                <a:cs typeface="Arial" panose="020B0704020202020204"/>
              </a:rPr>
              <a:t>The full framework adds fallback and calibration</a:t>
            </a:r>
            <a:endParaRPr sz="3150" b="1">
              <a:solidFill>
                <a:srgbClr val="102D43"/>
              </a:solidFill>
              <a:latin typeface="Arial" panose="020B0704020202020204"/>
              <a:ea typeface="Arial" panose="020B0704020202020204"/>
              <a:cs typeface="Arial" panose="020B0704020202020204"/>
            </a:endParaRPr>
          </a:p>
        </p:txBody>
      </p:sp>
      <p:sp>
        <p:nvSpPr>
          <p:cNvPr id="2" name="Svensson et al., 2026, Fig. 1 top right; Details, p. 11, Eqs"/>
          <p:cNvSpPr>
            <a:spLocks noGrp="1"/>
          </p:cNvSpPr>
          <p:nvPr/>
        </p:nvSpPr>
        <p:spPr>
          <a:xfrm>
            <a:off x="609600" y="6305550"/>
            <a:ext cx="10382250" cy="333375"/>
          </a:xfrm>
          <a:prstGeom prst="rect">
            <a:avLst/>
          </a:prstGeom>
          <a:noFill/>
          <a:ln w="0">
            <a:noFill/>
          </a:ln>
        </p:spPr>
        <p:txBody>
          <a:bodyPr anchor="ctr">
            <a:noAutofit/>
          </a:bodyPr>
          <a:lstStyle/>
          <a:p>
            <a:pPr>
              <a:defRPr sz="1125" b="0">
                <a:solidFill>
                  <a:srgbClr val="56636C"/>
                </a:solidFill>
                <a:latin typeface="Arial" panose="020B0704020202020204"/>
                <a:ea typeface="Arial" panose="020B0704020202020204"/>
                <a:cs typeface="Arial" panose="020B0704020202020204"/>
              </a:defRPr>
            </a:pPr>
            <a:r>
              <a:rPr sz="1125" b="0">
                <a:solidFill>
                  <a:srgbClr val="56636C"/>
                </a:solidFill>
                <a:latin typeface="Arial" panose="020B0704020202020204"/>
                <a:ea typeface="Arial" panose="020B0704020202020204"/>
                <a:cs typeface="Arial" panose="020B0704020202020204"/>
              </a:rPr>
              <a:t>Svensson et al., 2026, Fig. 1 top right; Details, p. 11, Eqs. 1–7</a:t>
            </a:r>
            <a:endParaRPr sz="1125" b="0">
              <a:solidFill>
                <a:srgbClr val="56636C"/>
              </a:solidFill>
              <a:latin typeface="Arial" panose="020B0704020202020204"/>
              <a:ea typeface="Arial" panose="020B0704020202020204"/>
              <a:cs typeface="Arial" panose="020B0704020202020204"/>
            </a:endParaRPr>
          </a:p>
        </p:txBody>
      </p:sp>
      <p:sp>
        <p:nvSpPr>
          <p:cNvPr id="3" name="B3"/>
          <p:cNvSpPr>
            <a:spLocks noGrp="1"/>
          </p:cNvSpPr>
          <p:nvPr/>
        </p:nvSpPr>
        <p:spPr>
          <a:xfrm>
            <a:off x="11049000" y="6305550"/>
            <a:ext cx="619125" cy="333375"/>
          </a:xfrm>
          <a:prstGeom prst="rect">
            <a:avLst/>
          </a:prstGeom>
          <a:noFill/>
          <a:ln w="0">
            <a:noFill/>
          </a:ln>
        </p:spPr>
        <p:txBody>
          <a:bodyPr anchor="ctr">
            <a:noAutofit/>
          </a:bodyPr>
          <a:lstStyle/>
          <a:p>
            <a:pPr>
              <a:defRPr sz="1200" b="0">
                <a:solidFill>
                  <a:srgbClr val="56636C"/>
                </a:solidFill>
                <a:latin typeface="Arial" panose="020B0704020202020204"/>
                <a:ea typeface="Arial" panose="020B0704020202020204"/>
                <a:cs typeface="Arial" panose="020B0704020202020204"/>
              </a:defRPr>
            </a:pPr>
            <a:r>
              <a:rPr sz="1200" b="0">
                <a:solidFill>
                  <a:srgbClr val="56636C"/>
                </a:solidFill>
                <a:latin typeface="Arial" panose="020B0704020202020204"/>
                <a:ea typeface="Arial" panose="020B0704020202020204"/>
                <a:cs typeface="Arial" panose="020B0704020202020204"/>
              </a:rPr>
              <a:t>B3</a:t>
            </a:r>
            <a:endParaRPr sz="1200" b="0">
              <a:solidFill>
                <a:srgbClr val="56636C"/>
              </a:solidFill>
              <a:latin typeface="Arial" panose="020B0704020202020204"/>
              <a:ea typeface="Arial" panose="020B0704020202020204"/>
              <a:cs typeface="Arial" panose="020B0704020202020204"/>
            </a:endParaRPr>
          </a:p>
        </p:txBody>
      </p:sp>
      <p:sp>
        <p:nvSpPr>
          <p:cNvPr id="4" name="BACKUP · OPTIONAL"/>
          <p:cNvSpPr>
            <a:spLocks noGrp="1"/>
          </p:cNvSpPr>
          <p:nvPr/>
        </p:nvSpPr>
        <p:spPr>
          <a:xfrm>
            <a:off x="609600" y="133350"/>
            <a:ext cx="3810000" cy="219075"/>
          </a:xfrm>
          <a:prstGeom prst="rect">
            <a:avLst/>
          </a:prstGeom>
          <a:noFill/>
          <a:ln w="0">
            <a:noFill/>
          </a:ln>
        </p:spPr>
        <p:txBody>
          <a:bodyPr anchor="ctr">
            <a:noAutofit/>
          </a:bodyPr>
          <a:lstStyle/>
          <a:p>
            <a:pPr>
              <a:defRPr sz="1050" b="1">
                <a:solidFill>
                  <a:srgbClr val="EC633D"/>
                </a:solidFill>
                <a:latin typeface="Arial" panose="020B0704020202020204"/>
                <a:ea typeface="Arial" panose="020B0704020202020204"/>
                <a:cs typeface="Arial" panose="020B0704020202020204"/>
              </a:defRPr>
            </a:pPr>
            <a:r>
              <a:rPr sz="1050" b="1">
                <a:solidFill>
                  <a:srgbClr val="EC633D"/>
                </a:solidFill>
                <a:latin typeface="Arial" panose="020B0704020202020204"/>
                <a:ea typeface="Arial" panose="020B0704020202020204"/>
                <a:cs typeface="Arial" panose="020B0704020202020204"/>
              </a:rPr>
              <a:t>BACKUP · OPTIONAL</a:t>
            </a:r>
            <a:endParaRPr sz="1050" b="1">
              <a:solidFill>
                <a:srgbClr val="EC633D"/>
              </a:solidFill>
              <a:latin typeface="Arial" panose="020B0704020202020204"/>
              <a:ea typeface="Arial" panose="020B0704020202020204"/>
              <a:cs typeface="Arial" panose="020B0704020202020204"/>
            </a:endParaRPr>
          </a:p>
        </p:txBody>
      </p:sp>
      <p:pic>
        <p:nvPicPr>
          <p:cNvPr id="15" name="Picture 14" descr="Figure 1 workflow comparison. Standard workflow models counterfactual cells before analysis. Rhaister analyzes observed cells first, then models summary statistics."/>
          <p:cNvPicPr>
            <a:picLocks noChangeAspect="1"/>
          </p:cNvPicPr>
          <p:nvPr/>
        </p:nvPicPr>
        <p:blipFill>
          <a:blip r:embed="rId1"/>
          <a:stretch>
            <a:fillRect/>
          </a:stretch>
        </p:blipFill>
        <p:spPr>
          <a:xfrm>
            <a:off x="600075" y="2097497"/>
            <a:ext cx="6800850" cy="2929705"/>
          </a:xfrm>
          <a:prstGeom prst="rect">
            <a:avLst/>
          </a:prstGeom>
        </p:spPr>
      </p:pic>
      <p:sp>
        <p:nvSpPr>
          <p:cNvPr id="6" name="Additive fallback"/>
          <p:cNvSpPr>
            <a:spLocks noGrp="1"/>
          </p:cNvSpPr>
          <p:nvPr/>
        </p:nvSpPr>
        <p:spPr>
          <a:xfrm>
            <a:off x="7858125" y="1771650"/>
            <a:ext cx="3686175" cy="457200"/>
          </a:xfrm>
          <a:prstGeom prst="rect">
            <a:avLst/>
          </a:prstGeom>
          <a:noFill/>
          <a:ln w="0">
            <a:noFill/>
          </a:ln>
        </p:spPr>
        <p:txBody>
          <a:bodyPr anchor="ctr">
            <a:noAutofit/>
          </a:bodyPr>
          <a:lstStyle/>
          <a:p>
            <a:pPr>
              <a:defRPr sz="2175" b="1">
                <a:solidFill>
                  <a:srgbClr val="EC633D"/>
                </a:solidFill>
                <a:latin typeface="Arial" panose="020B0704020202020204"/>
                <a:ea typeface="Arial" panose="020B0704020202020204"/>
                <a:cs typeface="Arial" panose="020B0704020202020204"/>
              </a:defRPr>
            </a:pPr>
            <a:r>
              <a:rPr sz="2175" b="1">
                <a:solidFill>
                  <a:srgbClr val="EC633D"/>
                </a:solidFill>
                <a:latin typeface="Arial" panose="020B0704020202020204"/>
                <a:ea typeface="Arial" panose="020B0704020202020204"/>
                <a:cs typeface="Arial" panose="020B0704020202020204"/>
              </a:rPr>
              <a:t>Additive fallback</a:t>
            </a:r>
            <a:endParaRPr sz="2175" b="1">
              <a:solidFill>
                <a:srgbClr val="EC633D"/>
              </a:solidFill>
              <a:latin typeface="Arial" panose="020B0704020202020204"/>
              <a:ea typeface="Arial" panose="020B0704020202020204"/>
              <a:cs typeface="Arial" panose="020B0704020202020204"/>
            </a:endParaRPr>
          </a:p>
        </p:txBody>
      </p:sp>
      <p:sp>
        <p:nvSpPr>
          <p:cNvPr id="7" name="Used when reference coverage&#10;is insufficient"/>
          <p:cNvSpPr>
            <a:spLocks noGrp="1"/>
          </p:cNvSpPr>
          <p:nvPr/>
        </p:nvSpPr>
        <p:spPr>
          <a:xfrm>
            <a:off x="7858125" y="2333625"/>
            <a:ext cx="3714750" cy="857250"/>
          </a:xfrm>
          <a:prstGeom prst="rect">
            <a:avLst/>
          </a:prstGeom>
          <a:noFill/>
          <a:ln w="0">
            <a:noFill/>
          </a:ln>
        </p:spPr>
        <p:txBody>
          <a:bodyPr anchor="ctr">
            <a:noAutofit/>
          </a:bodyPr>
          <a:lstStyle/>
          <a:p>
            <a:pPr>
              <a:defRPr sz="1950" b="0">
                <a:solidFill>
                  <a:srgbClr val="102D43"/>
                </a:solidFill>
                <a:latin typeface="Arial" panose="020B0704020202020204"/>
                <a:ea typeface="Arial" panose="020B0704020202020204"/>
                <a:cs typeface="Arial" panose="020B0704020202020204"/>
              </a:defRPr>
            </a:pPr>
            <a:r>
              <a:rPr sz="1950" b="0">
                <a:solidFill>
                  <a:srgbClr val="102D43"/>
                </a:solidFill>
                <a:latin typeface="Arial" panose="020B0704020202020204"/>
                <a:ea typeface="Arial" panose="020B0704020202020204"/>
                <a:cs typeface="Arial" panose="020B0704020202020204"/>
              </a:rPr>
              <a:t>Used when reference coverage</a:t>
            </a:r>
            <a:endParaRPr sz="1950" b="0">
              <a:solidFill>
                <a:srgbClr val="102D43"/>
              </a:solidFill>
              <a:latin typeface="Arial" panose="020B0704020202020204"/>
              <a:ea typeface="Arial" panose="020B0704020202020204"/>
              <a:cs typeface="Arial" panose="020B0704020202020204"/>
            </a:endParaRPr>
          </a:p>
          <a:p>
            <a:pPr>
              <a:defRPr sz="1950" b="0">
                <a:solidFill>
                  <a:srgbClr val="102D43"/>
                </a:solidFill>
                <a:latin typeface="Arial" panose="020B0704020202020204"/>
                <a:ea typeface="Arial" panose="020B0704020202020204"/>
                <a:cs typeface="Arial" panose="020B0704020202020204"/>
              </a:defRPr>
            </a:pPr>
            <a:r>
              <a:rPr sz="1950" b="0">
                <a:solidFill>
                  <a:srgbClr val="102D43"/>
                </a:solidFill>
                <a:latin typeface="Arial" panose="020B0704020202020204"/>
                <a:ea typeface="Arial" panose="020B0704020202020204"/>
                <a:cs typeface="Arial" panose="020B0704020202020204"/>
              </a:rPr>
              <a:t>is insufficient</a:t>
            </a:r>
            <a:endParaRPr sz="1950" b="0">
              <a:solidFill>
                <a:srgbClr val="102D43"/>
              </a:solidFill>
              <a:latin typeface="Arial" panose="020B0704020202020204"/>
              <a:ea typeface="Arial" panose="020B0704020202020204"/>
              <a:cs typeface="Arial" panose="020B0704020202020204"/>
            </a:endParaRPr>
          </a:p>
        </p:txBody>
      </p:sp>
      <p:sp>
        <p:nvSpPr>
          <p:cNvPr id="8" name="MWU calibration"/>
          <p:cNvSpPr>
            <a:spLocks noGrp="1"/>
          </p:cNvSpPr>
          <p:nvPr/>
        </p:nvSpPr>
        <p:spPr>
          <a:xfrm>
            <a:off x="7858125" y="3676650"/>
            <a:ext cx="3686175" cy="457200"/>
          </a:xfrm>
          <a:prstGeom prst="rect">
            <a:avLst/>
          </a:prstGeom>
          <a:noFill/>
          <a:ln w="0">
            <a:noFill/>
          </a:ln>
        </p:spPr>
        <p:txBody>
          <a:bodyPr anchor="ctr">
            <a:noAutofit/>
          </a:bodyPr>
          <a:lstStyle/>
          <a:p>
            <a:pPr>
              <a:defRPr sz="2175" b="1">
                <a:solidFill>
                  <a:srgbClr val="EC633D"/>
                </a:solidFill>
                <a:latin typeface="Arial" panose="020B0704020202020204"/>
                <a:ea typeface="Arial" panose="020B0704020202020204"/>
                <a:cs typeface="Arial" panose="020B0704020202020204"/>
              </a:defRPr>
            </a:pPr>
            <a:r>
              <a:rPr sz="2175" b="1">
                <a:solidFill>
                  <a:srgbClr val="EC633D"/>
                </a:solidFill>
                <a:latin typeface="Arial" panose="020B0704020202020204"/>
                <a:ea typeface="Arial" panose="020B0704020202020204"/>
                <a:cs typeface="Arial" panose="020B0704020202020204"/>
              </a:rPr>
              <a:t>MWU calibration</a:t>
            </a:r>
            <a:endParaRPr sz="2175" b="1">
              <a:solidFill>
                <a:srgbClr val="EC633D"/>
              </a:solidFill>
              <a:latin typeface="Arial" panose="020B0704020202020204"/>
              <a:ea typeface="Arial" panose="020B0704020202020204"/>
              <a:cs typeface="Arial" panose="020B0704020202020204"/>
            </a:endParaRPr>
          </a:p>
        </p:txBody>
      </p:sp>
      <p:sp>
        <p:nvSpPr>
          <p:cNvPr id="9" name="Small MLP, then an equal blend&#10;with the ridge prediction"/>
          <p:cNvSpPr>
            <a:spLocks noGrp="1"/>
          </p:cNvSpPr>
          <p:nvPr/>
        </p:nvSpPr>
        <p:spPr>
          <a:xfrm>
            <a:off x="7858125" y="4238625"/>
            <a:ext cx="3714750" cy="1019175"/>
          </a:xfrm>
          <a:prstGeom prst="rect">
            <a:avLst/>
          </a:prstGeom>
          <a:noFill/>
          <a:ln w="0">
            <a:noFill/>
          </a:ln>
        </p:spPr>
        <p:txBody>
          <a:bodyPr anchor="ctr">
            <a:noAutofit/>
          </a:bodyPr>
          <a:lstStyle/>
          <a:p>
            <a:pPr>
              <a:defRPr sz="1950" b="0">
                <a:solidFill>
                  <a:srgbClr val="102D43"/>
                </a:solidFill>
                <a:latin typeface="Arial" panose="020B0704020202020204"/>
                <a:ea typeface="Arial" panose="020B0704020202020204"/>
                <a:cs typeface="Arial" panose="020B0704020202020204"/>
              </a:defRPr>
            </a:pPr>
            <a:r>
              <a:rPr sz="1950" b="0">
                <a:solidFill>
                  <a:srgbClr val="102D43"/>
                </a:solidFill>
                <a:latin typeface="Arial" panose="020B0704020202020204"/>
                <a:ea typeface="Arial" panose="020B0704020202020204"/>
                <a:cs typeface="Arial" panose="020B0704020202020204"/>
              </a:rPr>
              <a:t>Small MLP, then an equal blend</a:t>
            </a:r>
            <a:endParaRPr sz="1950" b="0">
              <a:solidFill>
                <a:srgbClr val="102D43"/>
              </a:solidFill>
              <a:latin typeface="Arial" panose="020B0704020202020204"/>
              <a:ea typeface="Arial" panose="020B0704020202020204"/>
              <a:cs typeface="Arial" panose="020B0704020202020204"/>
            </a:endParaRPr>
          </a:p>
          <a:p>
            <a:pPr>
              <a:defRPr sz="1950" b="0">
                <a:solidFill>
                  <a:srgbClr val="102D43"/>
                </a:solidFill>
                <a:latin typeface="Arial" panose="020B0704020202020204"/>
                <a:ea typeface="Arial" panose="020B0704020202020204"/>
                <a:cs typeface="Arial" panose="020B0704020202020204"/>
              </a:defRPr>
            </a:pPr>
            <a:r>
              <a:rPr sz="1950" b="0">
                <a:solidFill>
                  <a:srgbClr val="102D43"/>
                </a:solidFill>
                <a:latin typeface="Arial" panose="020B0704020202020204"/>
                <a:ea typeface="Arial" panose="020B0704020202020204"/>
                <a:cs typeface="Arial" panose="020B0704020202020204"/>
              </a:rPr>
              <a:t>with the ridge prediction</a:t>
            </a:r>
            <a:endParaRPr sz="1950" b="0">
              <a:solidFill>
                <a:srgbClr val="102D43"/>
              </a:solidFill>
              <a:latin typeface="Arial" panose="020B0704020202020204"/>
              <a:ea typeface="Arial" panose="020B0704020202020204"/>
              <a:cs typeface="Arial" panose="020B0704020202020204"/>
            </a:endParaRPr>
          </a:p>
        </p:txBody>
      </p:sp>
      <p:sp>
        <p:nvSpPr>
          <p:cNvPr id="10" name="Predicted significance statistics do not quantify uncertaint"/>
          <p:cNvSpPr>
            <a:spLocks noGrp="1"/>
          </p:cNvSpPr>
          <p:nvPr/>
        </p:nvSpPr>
        <p:spPr>
          <a:xfrm>
            <a:off x="619125" y="5676900"/>
            <a:ext cx="10953750" cy="504825"/>
          </a:xfrm>
          <a:prstGeom prst="rect">
            <a:avLst/>
          </a:prstGeom>
          <a:noFill/>
          <a:ln w="0">
            <a:noFill/>
          </a:ln>
        </p:spPr>
        <p:txBody>
          <a:bodyPr anchor="ctr">
            <a:noAutofit/>
          </a:bodyPr>
          <a:lstStyle/>
          <a:p>
            <a:pPr>
              <a:defRPr sz="1725" b="0">
                <a:solidFill>
                  <a:srgbClr val="56636C"/>
                </a:solidFill>
                <a:latin typeface="Arial" panose="020B0704020202020204"/>
                <a:ea typeface="Arial" panose="020B0704020202020204"/>
                <a:cs typeface="Arial" panose="020B0704020202020204"/>
              </a:defRPr>
            </a:pPr>
            <a:r>
              <a:rPr sz="1725" b="0">
                <a:solidFill>
                  <a:srgbClr val="56636C"/>
                </a:solidFill>
                <a:latin typeface="Arial" panose="020B0704020202020204"/>
                <a:ea typeface="Arial" panose="020B0704020202020204"/>
                <a:cs typeface="Arial" panose="020B0704020202020204"/>
              </a:rPr>
              <a:t>Predicted significance statistics do not quantify uncertainty in the model prediction.</a:t>
            </a:r>
            <a:endParaRPr sz="1725" b="0">
              <a:solidFill>
                <a:srgbClr val="56636C"/>
              </a:solidFill>
              <a:latin typeface="Arial" panose="020B0704020202020204"/>
              <a:ea typeface="Arial" panose="020B0704020202020204"/>
              <a:cs typeface="Arial" panose="020B0704020202020204"/>
            </a:endParaRPr>
          </a:p>
        </p:txBody>
      </p:sp>
      <p:sp>
        <p:nvSpPr>
          <p:cNvPr id="5" name="Text Box 4"/>
          <p:cNvSpPr txBox="1"/>
          <p:nvPr/>
        </p:nvSpPr>
        <p:spPr>
          <a:xfrm>
            <a:off x="10056495" y="0"/>
            <a:ext cx="4064000" cy="368300"/>
          </a:xfrm>
          <a:prstGeom prst="rect">
            <a:avLst/>
          </a:prstGeom>
          <a:noFill/>
        </p:spPr>
        <p:txBody>
          <a:bodyPr wrap="square" rtlCol="0">
            <a:spAutoFit/>
          </a:bodyPr>
          <a:p>
            <a:r>
              <a:rPr lang="en-US"/>
              <a:t>ID: 200010263</a:t>
            </a:r>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8" name="Metric definitions and source"/>
          <p:cNvSpPr>
            <a:spLocks noGrp="1"/>
          </p:cNvSpPr>
          <p:nvPr/>
        </p:nvSpPr>
        <p:spPr>
          <a:xfrm>
            <a:off x="609600" y="409575"/>
            <a:ext cx="10972800" cy="962025"/>
          </a:xfrm>
          <a:prstGeom prst="rect">
            <a:avLst/>
          </a:prstGeom>
          <a:noFill/>
          <a:ln w="0">
            <a:noFill/>
          </a:ln>
        </p:spPr>
        <p:txBody>
          <a:bodyPr anchor="ctr">
            <a:noAutofit/>
          </a:bodyPr>
          <a:lstStyle/>
          <a:p>
            <a:pPr>
              <a:defRPr sz="3150" b="1">
                <a:solidFill>
                  <a:srgbClr val="102D43"/>
                </a:solidFill>
                <a:latin typeface="Arial" panose="020B0704020202020204"/>
                <a:ea typeface="Arial" panose="020B0704020202020204"/>
                <a:cs typeface="Arial" panose="020B0704020202020204"/>
              </a:defRPr>
            </a:pPr>
            <a:r>
              <a:rPr sz="3150" b="1">
                <a:solidFill>
                  <a:srgbClr val="102D43"/>
                </a:solidFill>
                <a:latin typeface="Arial" panose="020B0704020202020204"/>
                <a:ea typeface="Arial" panose="020B0704020202020204"/>
                <a:cs typeface="Arial" panose="020B0704020202020204"/>
              </a:rPr>
              <a:t>Metric definitions and source</a:t>
            </a:r>
            <a:endParaRPr sz="3150" b="1">
              <a:solidFill>
                <a:srgbClr val="102D43"/>
              </a:solidFill>
              <a:latin typeface="Arial" panose="020B0704020202020204"/>
              <a:ea typeface="Arial" panose="020B0704020202020204"/>
              <a:cs typeface="Arial" panose="020B0704020202020204"/>
            </a:endParaRPr>
          </a:p>
        </p:txBody>
      </p:sp>
      <p:sp>
        <p:nvSpPr>
          <p:cNvPr id="2" name="Primary source: Svensson et al., bioRxiv, 2026. doi:10.64898"/>
          <p:cNvSpPr>
            <a:spLocks noGrp="1"/>
          </p:cNvSpPr>
          <p:nvPr/>
        </p:nvSpPr>
        <p:spPr>
          <a:xfrm>
            <a:off x="609600" y="6305550"/>
            <a:ext cx="10382250" cy="333375"/>
          </a:xfrm>
          <a:prstGeom prst="rect">
            <a:avLst/>
          </a:prstGeom>
          <a:noFill/>
          <a:ln w="0">
            <a:noFill/>
          </a:ln>
        </p:spPr>
        <p:txBody>
          <a:bodyPr anchor="ctr">
            <a:noAutofit/>
          </a:bodyPr>
          <a:lstStyle/>
          <a:p>
            <a:pPr>
              <a:defRPr sz="1125" b="0">
                <a:solidFill>
                  <a:srgbClr val="56636C"/>
                </a:solidFill>
                <a:latin typeface="Arial" panose="020B0704020202020204"/>
                <a:ea typeface="Arial" panose="020B0704020202020204"/>
                <a:cs typeface="Arial" panose="020B0704020202020204"/>
              </a:defRPr>
            </a:pPr>
            <a:r>
              <a:rPr sz="1125" b="0">
                <a:solidFill>
                  <a:srgbClr val="56636C"/>
                </a:solidFill>
                <a:latin typeface="Arial" panose="020B0704020202020204"/>
                <a:ea typeface="Arial" panose="020B0704020202020204"/>
                <a:cs typeface="Arial" panose="020B0704020202020204"/>
              </a:rPr>
              <a:t>Primary source: Svensson et al., bioRxiv, 2026. doi:10.64898/2026.06.09.731197</a:t>
            </a:r>
            <a:endParaRPr sz="1125" b="0">
              <a:solidFill>
                <a:srgbClr val="56636C"/>
              </a:solidFill>
              <a:latin typeface="Arial" panose="020B0704020202020204"/>
              <a:ea typeface="Arial" panose="020B0704020202020204"/>
              <a:cs typeface="Arial" panose="020B0704020202020204"/>
            </a:endParaRPr>
          </a:p>
        </p:txBody>
      </p:sp>
      <p:sp>
        <p:nvSpPr>
          <p:cNvPr id="3" name="B4"/>
          <p:cNvSpPr>
            <a:spLocks noGrp="1"/>
          </p:cNvSpPr>
          <p:nvPr/>
        </p:nvSpPr>
        <p:spPr>
          <a:xfrm>
            <a:off x="11049000" y="6305550"/>
            <a:ext cx="619125" cy="333375"/>
          </a:xfrm>
          <a:prstGeom prst="rect">
            <a:avLst/>
          </a:prstGeom>
          <a:noFill/>
          <a:ln w="0">
            <a:noFill/>
          </a:ln>
        </p:spPr>
        <p:txBody>
          <a:bodyPr anchor="ctr">
            <a:noAutofit/>
          </a:bodyPr>
          <a:lstStyle/>
          <a:p>
            <a:pPr>
              <a:defRPr sz="1200" b="0">
                <a:solidFill>
                  <a:srgbClr val="56636C"/>
                </a:solidFill>
                <a:latin typeface="Arial" panose="020B0704020202020204"/>
                <a:ea typeface="Arial" panose="020B0704020202020204"/>
                <a:cs typeface="Arial" panose="020B0704020202020204"/>
              </a:defRPr>
            </a:pPr>
            <a:r>
              <a:rPr sz="1200" b="0">
                <a:solidFill>
                  <a:srgbClr val="56636C"/>
                </a:solidFill>
                <a:latin typeface="Arial" panose="020B0704020202020204"/>
                <a:ea typeface="Arial" panose="020B0704020202020204"/>
                <a:cs typeface="Arial" panose="020B0704020202020204"/>
              </a:rPr>
              <a:t>B4</a:t>
            </a:r>
            <a:endParaRPr sz="1200" b="0">
              <a:solidFill>
                <a:srgbClr val="56636C"/>
              </a:solidFill>
              <a:latin typeface="Arial" panose="020B0704020202020204"/>
              <a:ea typeface="Arial" panose="020B0704020202020204"/>
              <a:cs typeface="Arial" panose="020B0704020202020204"/>
            </a:endParaRPr>
          </a:p>
        </p:txBody>
      </p:sp>
      <p:sp>
        <p:nvSpPr>
          <p:cNvPr id="4" name="BACKUP · OPTIONAL"/>
          <p:cNvSpPr>
            <a:spLocks noGrp="1"/>
          </p:cNvSpPr>
          <p:nvPr/>
        </p:nvSpPr>
        <p:spPr>
          <a:xfrm>
            <a:off x="609600" y="133350"/>
            <a:ext cx="3810000" cy="219075"/>
          </a:xfrm>
          <a:prstGeom prst="rect">
            <a:avLst/>
          </a:prstGeom>
          <a:noFill/>
          <a:ln w="0">
            <a:noFill/>
          </a:ln>
        </p:spPr>
        <p:txBody>
          <a:bodyPr anchor="ctr">
            <a:noAutofit/>
          </a:bodyPr>
          <a:lstStyle/>
          <a:p>
            <a:pPr>
              <a:defRPr sz="1050" b="1">
                <a:solidFill>
                  <a:srgbClr val="EC633D"/>
                </a:solidFill>
                <a:latin typeface="Arial" panose="020B0704020202020204"/>
                <a:ea typeface="Arial" panose="020B0704020202020204"/>
                <a:cs typeface="Arial" panose="020B0704020202020204"/>
              </a:defRPr>
            </a:pPr>
            <a:r>
              <a:rPr sz="1050" b="1">
                <a:solidFill>
                  <a:srgbClr val="EC633D"/>
                </a:solidFill>
                <a:latin typeface="Arial" panose="020B0704020202020204"/>
                <a:ea typeface="Arial" panose="020B0704020202020204"/>
                <a:cs typeface="Arial" panose="020B0704020202020204"/>
              </a:rPr>
              <a:t>BACKUP · OPTIONAL</a:t>
            </a:r>
            <a:endParaRPr sz="1050" b="1">
              <a:solidFill>
                <a:srgbClr val="EC633D"/>
              </a:solidFill>
              <a:latin typeface="Arial" panose="020B0704020202020204"/>
              <a:ea typeface="Arial" panose="020B0704020202020204"/>
              <a:cs typeface="Arial" panose="020B0704020202020204"/>
            </a:endParaRPr>
          </a:p>
        </p:txBody>
      </p:sp>
      <p:graphicFrame>
        <p:nvGraphicFramePr>
          <p:cNvPr id="12" name="Table 11"/>
          <p:cNvGraphicFramePr/>
          <p:nvPr/>
        </p:nvGraphicFramePr>
        <p:xfrm>
          <a:off x="619125" y="1676400"/>
          <a:ext cx="10953750" cy="3048000"/>
        </p:xfrm>
        <a:graphic>
          <a:graphicData uri="http://schemas.openxmlformats.org/drawingml/2006/table">
            <a:tbl>
              <a:tblPr/>
              <a:tblGrid>
                <a:gridCol w="2952750"/>
                <a:gridCol w="8001000"/>
              </a:tblGrid>
              <a:tr h="508000">
                <a:tc>
                  <a:txBody>
                    <a:bodyPr>
                      <a:spAutoFit/>
                    </a:bodyPr>
                    <a:lstStyle/>
                    <a:p>
                      <a:pPr algn="l"/>
                      <a:r>
                        <a:rPr sz="1575" b="1">
                          <a:solidFill>
                            <a:srgbClr val="FFFFFF"/>
                          </a:solidFill>
                          <a:latin typeface="Arial" panose="020B0704020202020204"/>
                          <a:ea typeface="Arial" panose="020B0704020202020204"/>
                          <a:cs typeface="Arial" panose="020B0704020202020204"/>
                        </a:rPr>
                        <a:t>Metric</a:t>
                      </a:r>
                      <a:endParaRPr sz="1575" b="1">
                        <a:solidFill>
                          <a:srgbClr val="FFFFFF"/>
                        </a:solidFill>
                        <a:latin typeface="Arial" panose="020B0704020202020204"/>
                        <a:ea typeface="Arial" panose="020B0704020202020204"/>
                        <a:cs typeface="Arial" panose="020B0704020202020204"/>
                      </a:endParaRPr>
                    </a:p>
                  </a:txBody>
                  <a:tcPr anchor="ctr">
                    <a:solidFill>
                      <a:srgbClr val="102D43"/>
                    </a:solidFill>
                  </a:tcPr>
                </a:tc>
                <a:tc>
                  <a:txBody>
                    <a:bodyPr>
                      <a:spAutoFit/>
                    </a:bodyPr>
                    <a:lstStyle/>
                    <a:p>
                      <a:pPr algn="ctr"/>
                      <a:r>
                        <a:rPr sz="1575" b="1">
                          <a:solidFill>
                            <a:srgbClr val="FFFFFF"/>
                          </a:solidFill>
                          <a:latin typeface="Arial" panose="020B0704020202020204"/>
                          <a:ea typeface="Arial" panose="020B0704020202020204"/>
                          <a:cs typeface="Arial" panose="020B0704020202020204"/>
                        </a:rPr>
                        <a:t>What it evaluates</a:t>
                      </a:r>
                      <a:endParaRPr sz="1575" b="1">
                        <a:solidFill>
                          <a:srgbClr val="FFFFFF"/>
                        </a:solidFill>
                        <a:latin typeface="Arial" panose="020B0704020202020204"/>
                        <a:ea typeface="Arial" panose="020B0704020202020204"/>
                        <a:cs typeface="Arial" panose="020B0704020202020204"/>
                      </a:endParaRPr>
                    </a:p>
                  </a:txBody>
                  <a:tcPr anchor="ctr">
                    <a:solidFill>
                      <a:srgbClr val="102D43"/>
                    </a:solidFill>
                  </a:tcPr>
                </a:tc>
              </a:tr>
              <a:tr h="508000">
                <a:tc>
                  <a:txBody>
                    <a:bodyPr>
                      <a:spAutoFit/>
                    </a:bodyPr>
                    <a:lstStyle/>
                    <a:p>
                      <a:pPr algn="l"/>
                      <a:r>
                        <a:rPr sz="1725" b="0">
                          <a:solidFill>
                            <a:srgbClr val="102D43"/>
                          </a:solidFill>
                          <a:latin typeface="Arial" panose="020B0704020202020204"/>
                          <a:ea typeface="Arial" panose="020B0704020202020204"/>
                          <a:cs typeface="Arial" panose="020B0704020202020204"/>
                        </a:rPr>
                        <a:t>Discrimination</a:t>
                      </a:r>
                      <a:endParaRPr sz="1725" b="0">
                        <a:solidFill>
                          <a:srgbClr val="102D43"/>
                        </a:solidFill>
                        <a:latin typeface="Arial" panose="020B0704020202020204"/>
                        <a:ea typeface="Arial" panose="020B0704020202020204"/>
                        <a:cs typeface="Arial" panose="020B0704020202020204"/>
                      </a:endParaRPr>
                    </a:p>
                  </a:txBody>
                  <a:tcPr anchor="ctr">
                    <a:solidFill>
                      <a:srgbClr val="FFFFFF"/>
                    </a:solidFill>
                  </a:tcPr>
                </a:tc>
                <a:tc>
                  <a:txBody>
                    <a:bodyPr>
                      <a:spAutoFit/>
                    </a:bodyPr>
                    <a:lstStyle/>
                    <a:p>
                      <a:pPr algn="ctr"/>
                      <a:r>
                        <a:rPr sz="1725" b="0">
                          <a:solidFill>
                            <a:srgbClr val="102D43"/>
                          </a:solidFill>
                          <a:latin typeface="Arial" panose="020B0704020202020204"/>
                          <a:ea typeface="Arial" panose="020B0704020202020204"/>
                          <a:cs typeface="Arial" panose="020B0704020202020204"/>
                        </a:rPr>
                        <a:t>Rank of the correct perturbation among alternatives</a:t>
                      </a:r>
                      <a:endParaRPr sz="1725" b="0">
                        <a:solidFill>
                          <a:srgbClr val="102D43"/>
                        </a:solidFill>
                        <a:latin typeface="Arial" panose="020B0704020202020204"/>
                        <a:ea typeface="Arial" panose="020B0704020202020204"/>
                        <a:cs typeface="Arial" panose="020B0704020202020204"/>
                      </a:endParaRPr>
                    </a:p>
                  </a:txBody>
                  <a:tcPr anchor="ctr">
                    <a:solidFill>
                      <a:srgbClr val="FFFFFF"/>
                    </a:solidFill>
                  </a:tcPr>
                </a:tc>
              </a:tr>
              <a:tr h="508000">
                <a:tc>
                  <a:txBody>
                    <a:bodyPr>
                      <a:spAutoFit/>
                    </a:bodyPr>
                    <a:lstStyle/>
                    <a:p>
                      <a:pPr algn="l"/>
                      <a:r>
                        <a:rPr sz="1725" b="0">
                          <a:solidFill>
                            <a:srgbClr val="102D43"/>
                          </a:solidFill>
                          <a:latin typeface="Arial" panose="020B0704020202020204"/>
                          <a:ea typeface="Arial" panose="020B0704020202020204"/>
                          <a:cs typeface="Arial" panose="020B0704020202020204"/>
                        </a:rPr>
                        <a:t>Pearson Δ</a:t>
                      </a:r>
                      <a:endParaRPr sz="1725" b="0">
                        <a:solidFill>
                          <a:srgbClr val="102D43"/>
                        </a:solidFill>
                        <a:latin typeface="Arial" panose="020B0704020202020204"/>
                        <a:ea typeface="Arial" panose="020B0704020202020204"/>
                        <a:cs typeface="Arial" panose="020B0704020202020204"/>
                      </a:endParaRPr>
                    </a:p>
                  </a:txBody>
                  <a:tcPr anchor="ctr">
                    <a:solidFill>
                      <a:srgbClr val="FFFFFF"/>
                    </a:solidFill>
                  </a:tcPr>
                </a:tc>
                <a:tc>
                  <a:txBody>
                    <a:bodyPr>
                      <a:spAutoFit/>
                    </a:bodyPr>
                    <a:lstStyle/>
                    <a:p>
                      <a:pPr algn="ctr"/>
                      <a:r>
                        <a:rPr sz="1725" b="0">
                          <a:solidFill>
                            <a:srgbClr val="102D43"/>
                          </a:solidFill>
                          <a:latin typeface="Arial" panose="020B0704020202020204"/>
                          <a:ea typeface="Arial" panose="020B0704020202020204"/>
                          <a:cs typeface="Arial" panose="020B0704020202020204"/>
                        </a:rPr>
                        <a:t>Agreement of expression-change magnitudes across genes</a:t>
                      </a:r>
                      <a:endParaRPr sz="1725" b="0">
                        <a:solidFill>
                          <a:srgbClr val="102D43"/>
                        </a:solidFill>
                        <a:latin typeface="Arial" panose="020B0704020202020204"/>
                        <a:ea typeface="Arial" panose="020B0704020202020204"/>
                        <a:cs typeface="Arial" panose="020B0704020202020204"/>
                      </a:endParaRPr>
                    </a:p>
                  </a:txBody>
                  <a:tcPr anchor="ctr">
                    <a:solidFill>
                      <a:srgbClr val="FFFFFF"/>
                    </a:solidFill>
                  </a:tcPr>
                </a:tc>
              </a:tr>
              <a:tr h="508000">
                <a:tc>
                  <a:txBody>
                    <a:bodyPr>
                      <a:spAutoFit/>
                    </a:bodyPr>
                    <a:lstStyle/>
                    <a:p>
                      <a:pPr algn="l"/>
                      <a:r>
                        <a:rPr sz="1725" b="0">
                          <a:solidFill>
                            <a:srgbClr val="102D43"/>
                          </a:solidFill>
                          <a:latin typeface="Arial" panose="020B0704020202020204"/>
                          <a:ea typeface="Arial" panose="020B0704020202020204"/>
                          <a:cs typeface="Arial" panose="020B0704020202020204"/>
                        </a:rPr>
                        <a:t>PR-AUC / DE overlap</a:t>
                      </a:r>
                      <a:endParaRPr sz="1725" b="0">
                        <a:solidFill>
                          <a:srgbClr val="102D43"/>
                        </a:solidFill>
                        <a:latin typeface="Arial" panose="020B0704020202020204"/>
                        <a:ea typeface="Arial" panose="020B0704020202020204"/>
                        <a:cs typeface="Arial" panose="020B0704020202020204"/>
                      </a:endParaRPr>
                    </a:p>
                  </a:txBody>
                  <a:tcPr anchor="ctr">
                    <a:solidFill>
                      <a:srgbClr val="FFFFFF"/>
                    </a:solidFill>
                  </a:tcPr>
                </a:tc>
                <a:tc>
                  <a:txBody>
                    <a:bodyPr>
                      <a:spAutoFit/>
                    </a:bodyPr>
                    <a:lstStyle/>
                    <a:p>
                      <a:pPr algn="ctr"/>
                      <a:r>
                        <a:rPr sz="1725" b="0">
                          <a:solidFill>
                            <a:srgbClr val="102D43"/>
                          </a:solidFill>
                          <a:latin typeface="Arial" panose="020B0704020202020204"/>
                          <a:ea typeface="Arial" panose="020B0704020202020204"/>
                          <a:cs typeface="Arial" panose="020B0704020202020204"/>
                        </a:rPr>
                        <a:t>Differential-expression classification / gene-set agreement</a:t>
                      </a:r>
                      <a:endParaRPr sz="1725" b="0">
                        <a:solidFill>
                          <a:srgbClr val="102D43"/>
                        </a:solidFill>
                        <a:latin typeface="Arial" panose="020B0704020202020204"/>
                        <a:ea typeface="Arial" panose="020B0704020202020204"/>
                        <a:cs typeface="Arial" panose="020B0704020202020204"/>
                      </a:endParaRPr>
                    </a:p>
                  </a:txBody>
                  <a:tcPr anchor="ctr">
                    <a:solidFill>
                      <a:srgbClr val="FFFFFF"/>
                    </a:solidFill>
                  </a:tcPr>
                </a:tc>
              </a:tr>
              <a:tr h="508000">
                <a:tc>
                  <a:txBody>
                    <a:bodyPr>
                      <a:spAutoFit/>
                    </a:bodyPr>
                    <a:lstStyle/>
                    <a:p>
                      <a:pPr algn="l"/>
                      <a:r>
                        <a:rPr sz="1725" b="0">
                          <a:solidFill>
                            <a:srgbClr val="102D43"/>
                          </a:solidFill>
                          <a:latin typeface="Arial" panose="020B0704020202020204"/>
                          <a:ea typeface="Arial" panose="020B0704020202020204"/>
                          <a:cs typeface="Arial" panose="020B0704020202020204"/>
                        </a:rPr>
                        <a:t>Spearman LFC</a:t>
                      </a:r>
                      <a:endParaRPr sz="1725" b="0">
                        <a:solidFill>
                          <a:srgbClr val="102D43"/>
                        </a:solidFill>
                        <a:latin typeface="Arial" panose="020B0704020202020204"/>
                        <a:ea typeface="Arial" panose="020B0704020202020204"/>
                        <a:cs typeface="Arial" panose="020B0704020202020204"/>
                      </a:endParaRPr>
                    </a:p>
                  </a:txBody>
                  <a:tcPr anchor="ctr">
                    <a:solidFill>
                      <a:srgbClr val="FFFFFF"/>
                    </a:solidFill>
                  </a:tcPr>
                </a:tc>
                <a:tc>
                  <a:txBody>
                    <a:bodyPr>
                      <a:spAutoFit/>
                    </a:bodyPr>
                    <a:lstStyle/>
                    <a:p>
                      <a:pPr algn="ctr"/>
                      <a:r>
                        <a:rPr sz="1725" b="0">
                          <a:solidFill>
                            <a:srgbClr val="102D43"/>
                          </a:solidFill>
                          <a:latin typeface="Arial" panose="020B0704020202020204"/>
                          <a:ea typeface="Arial" panose="020B0704020202020204"/>
                          <a:cs typeface="Arial" panose="020B0704020202020204"/>
                        </a:rPr>
                        <a:t>Rank agreement of fold changes in significant genes</a:t>
                      </a:r>
                      <a:endParaRPr sz="1725" b="0">
                        <a:solidFill>
                          <a:srgbClr val="102D43"/>
                        </a:solidFill>
                        <a:latin typeface="Arial" panose="020B0704020202020204"/>
                        <a:ea typeface="Arial" panose="020B0704020202020204"/>
                        <a:cs typeface="Arial" panose="020B0704020202020204"/>
                      </a:endParaRPr>
                    </a:p>
                  </a:txBody>
                  <a:tcPr anchor="ctr">
                    <a:solidFill>
                      <a:srgbClr val="FFFFFF"/>
                    </a:solidFill>
                  </a:tcPr>
                </a:tc>
              </a:tr>
              <a:tr h="508000">
                <a:tc>
                  <a:txBody>
                    <a:bodyPr>
                      <a:spAutoFit/>
                    </a:bodyPr>
                    <a:lstStyle/>
                    <a:p>
                      <a:pPr algn="l"/>
                      <a:r>
                        <a:rPr sz="1725" b="0">
                          <a:solidFill>
                            <a:srgbClr val="102D43"/>
                          </a:solidFill>
                          <a:latin typeface="Arial" panose="020B0704020202020204"/>
                          <a:ea typeface="Arial" panose="020B0704020202020204"/>
                          <a:cs typeface="Arial" panose="020B0704020202020204"/>
                        </a:rPr>
                        <a:t>Spearman ES</a:t>
                      </a:r>
                      <a:endParaRPr sz="1725" b="0">
                        <a:solidFill>
                          <a:srgbClr val="102D43"/>
                        </a:solidFill>
                        <a:latin typeface="Arial" panose="020B0704020202020204"/>
                        <a:ea typeface="Arial" panose="020B0704020202020204"/>
                        <a:cs typeface="Arial" panose="020B0704020202020204"/>
                      </a:endParaRPr>
                    </a:p>
                  </a:txBody>
                  <a:tcPr anchor="ctr">
                    <a:solidFill>
                      <a:srgbClr val="FFFFFF"/>
                    </a:solidFill>
                  </a:tcPr>
                </a:tc>
                <a:tc>
                  <a:txBody>
                    <a:bodyPr>
                      <a:spAutoFit/>
                    </a:bodyPr>
                    <a:lstStyle/>
                    <a:p>
                      <a:pPr algn="ctr"/>
                      <a:r>
                        <a:rPr sz="1725" b="0">
                          <a:solidFill>
                            <a:srgbClr val="102D43"/>
                          </a:solidFill>
                          <a:latin typeface="Arial" panose="020B0704020202020204"/>
                          <a:ea typeface="Arial" panose="020B0704020202020204"/>
                          <a:cs typeface="Arial" panose="020B0704020202020204"/>
                        </a:rPr>
                        <a:t>Rank of the number of significant genes across perturbations</a:t>
                      </a:r>
                      <a:endParaRPr sz="1725" b="0">
                        <a:solidFill>
                          <a:srgbClr val="102D43"/>
                        </a:solidFill>
                        <a:latin typeface="Arial" panose="020B0704020202020204"/>
                        <a:ea typeface="Arial" panose="020B0704020202020204"/>
                        <a:cs typeface="Arial" panose="020B0704020202020204"/>
                      </a:endParaRPr>
                    </a:p>
                  </a:txBody>
                  <a:tcPr anchor="ctr">
                    <a:solidFill>
                      <a:srgbClr val="FFFFFF"/>
                    </a:solidFill>
                  </a:tcPr>
                </a:tc>
              </a:tr>
            </a:tbl>
          </a:graphicData>
        </a:graphic>
      </p:graphicFrame>
      <p:sp>
        <p:nvSpPr>
          <p:cNvPr id="6" name="Source version: supplied PDF, posted 12 June 2026 (preprint)"/>
          <p:cNvSpPr>
            <a:spLocks noGrp="1"/>
          </p:cNvSpPr>
          <p:nvPr/>
        </p:nvSpPr>
        <p:spPr>
          <a:xfrm>
            <a:off x="619125" y="5038725"/>
            <a:ext cx="10953750" cy="352425"/>
          </a:xfrm>
          <a:prstGeom prst="rect">
            <a:avLst/>
          </a:prstGeom>
          <a:noFill/>
          <a:ln w="0">
            <a:noFill/>
          </a:ln>
        </p:spPr>
        <p:txBody>
          <a:bodyPr anchor="ctr">
            <a:noAutofit/>
          </a:bodyPr>
          <a:lstStyle/>
          <a:p>
            <a:pPr>
              <a:defRPr sz="1800" b="1">
                <a:solidFill>
                  <a:srgbClr val="102D43"/>
                </a:solidFill>
                <a:latin typeface="Arial" panose="020B0704020202020204"/>
                <a:ea typeface="Arial" panose="020B0704020202020204"/>
                <a:cs typeface="Arial" panose="020B0704020202020204"/>
              </a:defRPr>
            </a:pPr>
            <a:r>
              <a:rPr sz="1800" b="1">
                <a:solidFill>
                  <a:srgbClr val="102D43"/>
                </a:solidFill>
                <a:latin typeface="Arial" panose="020B0704020202020204"/>
                <a:ea typeface="Arial" panose="020B0704020202020204"/>
                <a:cs typeface="Arial" panose="020B0704020202020204"/>
              </a:rPr>
              <a:t>Source version: supplied PDF, posted 12 June 2026 (preprint)</a:t>
            </a:r>
            <a:endParaRPr sz="1800" b="1">
              <a:solidFill>
                <a:srgbClr val="102D43"/>
              </a:solidFill>
              <a:latin typeface="Arial" panose="020B0704020202020204"/>
              <a:ea typeface="Arial" panose="020B0704020202020204"/>
              <a:cs typeface="Arial" panose="020B0704020202020204"/>
            </a:endParaRPr>
          </a:p>
        </p:txBody>
      </p:sp>
      <p:sp>
        <p:nvSpPr>
          <p:cNvPr id="7" name="Model and code: https://huggingface.co/tahoebio/Rhaister&#10;Ful"/>
          <p:cNvSpPr>
            <a:spLocks noGrp="1"/>
          </p:cNvSpPr>
          <p:nvPr/>
        </p:nvSpPr>
        <p:spPr>
          <a:xfrm>
            <a:off x="619125" y="5476875"/>
            <a:ext cx="10953750" cy="647700"/>
          </a:xfrm>
          <a:prstGeom prst="rect">
            <a:avLst/>
          </a:prstGeom>
          <a:noFill/>
          <a:ln w="0">
            <a:noFill/>
          </a:ln>
        </p:spPr>
        <p:txBody>
          <a:bodyPr anchor="ctr">
            <a:noAutofit/>
          </a:bodyPr>
          <a:lstStyle/>
          <a:p>
            <a:pPr>
              <a:defRPr sz="1650" b="0">
                <a:solidFill>
                  <a:srgbClr val="56636C"/>
                </a:solidFill>
                <a:latin typeface="Arial" panose="020B0704020202020204"/>
                <a:ea typeface="Arial" panose="020B0704020202020204"/>
                <a:cs typeface="Arial" panose="020B0704020202020204"/>
              </a:defRPr>
            </a:pPr>
            <a:r>
              <a:rPr sz="1650" b="0">
                <a:solidFill>
                  <a:srgbClr val="56636C"/>
                </a:solidFill>
                <a:latin typeface="Arial" panose="020B0704020202020204"/>
                <a:ea typeface="Arial" panose="020B0704020202020204"/>
                <a:cs typeface="Arial" panose="020B0704020202020204"/>
              </a:rPr>
              <a:t>Model and code: https://huggingface.co/tahoebio/Rhaister</a:t>
            </a:r>
            <a:endParaRPr sz="1650" b="0">
              <a:solidFill>
                <a:srgbClr val="56636C"/>
              </a:solidFill>
              <a:latin typeface="Arial" panose="020B0704020202020204"/>
              <a:ea typeface="Arial" panose="020B0704020202020204"/>
              <a:cs typeface="Arial" panose="020B0704020202020204"/>
            </a:endParaRPr>
          </a:p>
          <a:p>
            <a:pPr>
              <a:defRPr sz="1650" b="0">
                <a:solidFill>
                  <a:srgbClr val="56636C"/>
                </a:solidFill>
                <a:latin typeface="Arial" panose="020B0704020202020204"/>
                <a:ea typeface="Arial" panose="020B0704020202020204"/>
                <a:cs typeface="Arial" panose="020B0704020202020204"/>
              </a:defRPr>
            </a:pPr>
            <a:r>
              <a:rPr sz="1650" b="0">
                <a:solidFill>
                  <a:srgbClr val="56636C"/>
                </a:solidFill>
                <a:latin typeface="Arial" panose="020B0704020202020204"/>
                <a:ea typeface="Arial" panose="020B0704020202020204"/>
                <a:cs typeface="Arial" panose="020B0704020202020204"/>
              </a:rPr>
              <a:t>Full definitions: paper pp. 14–15. Source discrepancies are documented in the speaker notes.</a:t>
            </a:r>
            <a:endParaRPr sz="1650" b="0">
              <a:solidFill>
                <a:srgbClr val="56636C"/>
              </a:solidFill>
              <a:latin typeface="Arial" panose="020B0704020202020204"/>
              <a:ea typeface="Arial" panose="020B0704020202020204"/>
              <a:cs typeface="Arial" panose="020B0704020202020204"/>
            </a:endParaRPr>
          </a:p>
        </p:txBody>
      </p:sp>
      <p:sp>
        <p:nvSpPr>
          <p:cNvPr id="5" name="Text Box 4"/>
          <p:cNvSpPr txBox="1"/>
          <p:nvPr/>
        </p:nvSpPr>
        <p:spPr>
          <a:xfrm>
            <a:off x="10056495" y="0"/>
            <a:ext cx="4064000" cy="368300"/>
          </a:xfrm>
          <a:prstGeom prst="rect">
            <a:avLst/>
          </a:prstGeom>
          <a:noFill/>
        </p:spPr>
        <p:txBody>
          <a:bodyPr wrap="square" rtlCol="0">
            <a:spAutoFit/>
          </a:bodyPr>
          <a:p>
            <a:r>
              <a:rPr lang="en-US"/>
              <a:t>ID: 200010263</a:t>
            </a:r>
            <a:endParaRPr lang="en-US"/>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5681</Words>
  <Application>WPS Docs</Application>
  <PresentationFormat>Converted Presentation</PresentationFormat>
  <Paragraphs>388</Paragraphs>
  <Slides>13</Slides>
  <Notes>0</Notes>
  <HiddenSlides>0</HiddenSlides>
  <MMClips>0</MMClips>
  <ScaleCrop>false</ScaleCrop>
  <HeadingPairs>
    <vt:vector size="6" baseType="variant">
      <vt:variant>
        <vt:lpstr>已用的字体</vt:lpstr>
      </vt:variant>
      <vt:variant>
        <vt:i4>28</vt:i4>
      </vt:variant>
      <vt:variant>
        <vt:lpstr>主题</vt:lpstr>
      </vt:variant>
      <vt:variant>
        <vt:i4>1</vt:i4>
      </vt:variant>
      <vt:variant>
        <vt:lpstr>幻灯片标题</vt:lpstr>
      </vt:variant>
      <vt:variant>
        <vt:i4>13</vt:i4>
      </vt:variant>
    </vt:vector>
  </HeadingPairs>
  <TitlesOfParts>
    <vt:vector size="42" baseType="lpstr">
      <vt:lpstr>Arial</vt:lpstr>
      <vt:lpstr>SimSun</vt:lpstr>
      <vt:lpstr>Wingdings</vt:lpstr>
      <vt:lpstr>Arial</vt:lpstr>
      <vt:lpstr>Calibri</vt:lpstr>
      <vt:lpstr>Helvetica Neue</vt:lpstr>
      <vt:lpstr>Microsoft YaHei</vt:lpstr>
      <vt:lpstr>汉仪旗黑</vt:lpstr>
      <vt:lpstr>宋体-简</vt:lpstr>
      <vt:lpstr>Arial Unicode MS</vt:lpstr>
      <vt:lpstr>SimSun</vt:lpstr>
      <vt:lpstr>Arial Bold</vt:lpstr>
      <vt:lpstr>Al Bayan Plain</vt:lpstr>
      <vt:lpstr>Al Nile Regular</vt:lpstr>
      <vt:lpstr>Apple SD Gothic Neo Regular</vt:lpstr>
      <vt:lpstr>Arial Regular</vt:lpstr>
      <vt:lpstr>Arial Hebrew Regular</vt:lpstr>
      <vt:lpstr>Arial Hebrew Scholar Regular</vt:lpstr>
      <vt:lpstr>Arial Narrow Regular</vt:lpstr>
      <vt:lpstr>Avenir Book</vt:lpstr>
      <vt:lpstr>Avenir Next Regular</vt:lpstr>
      <vt:lpstr>Avenir Next Condensed Regular</vt:lpstr>
      <vt:lpstr>Bangla MN Regular</vt:lpstr>
      <vt:lpstr>Bangla Sangam MN Regular</vt:lpstr>
      <vt:lpstr>Baskerville Regular</vt:lpstr>
      <vt:lpstr>Bodoni 72 Book</vt:lpstr>
      <vt:lpstr>Bodoni 72 Oldstyle Book</vt:lpstr>
      <vt:lpstr>Big Caslon</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YuqiLei</cp:lastModifiedBy>
  <cp:revision>2</cp:revision>
  <dcterms:created xsi:type="dcterms:W3CDTF">2026-09-23T22:43:45Z</dcterms:created>
  <dcterms:modified xsi:type="dcterms:W3CDTF">2026-09-23T22:43:45Z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2821C63B0B6D8FEF2B4DB46A5AFF2BAF_42</vt:lpwstr>
  </property>
  <property fmtid="{D5CDD505-2E9C-101B-9397-08002B2CF9AE}" pid="3" name="KSOProductBuildVer">
    <vt:lpwstr>1033-12.1.26050.26050</vt:lpwstr>
  </property>
</Properties>
</file>